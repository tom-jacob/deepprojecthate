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authors, course project. Frame: we audit rather than rank.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difficulties. Then the reframe: FN is safety, FP is fairness. Different probes, different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families, one interface returning P(toxic). Emphasize the control pair E1 / E1-p: same weights, only the read-out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Differences are attributable to training stages, not to being a bigger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interface, one seeded subset, one machine. Accuracy is deliberately not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SVM buys ~93% of the encoder's F1 at ~1750x lower latency. Both zero-shot decoders are at or below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FPR is exactly zero for every classifier. So the false positives are identity-driven, not length- or template-driven. Note E1 is the worst non-degenerate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informative result is E1: same architecture as toxic-bert, nearly as brittle as the bag of words. Sub-word tokenisation alone does not confer robustness.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mechanisms. 109M params still route the decision through a single token. And a mitigation validated on one model does not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GPU passes, n=500 and n=200 - not the shared subset. Student matches teacher F1 with lower bias, partially rejecting H2.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then the two main limitations: n=800 headline subset, and hateBERT was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11D"/>
        </a:solidFill>
      </p:bgPr>
    </p:bg>
    <p:spTree>
      <p:nvGrpSpPr>
        <p:cNvPr id="1" name=""/>
        <p:cNvGrpSpPr/>
        <p:nvPr/>
      </p:nvGrpSpPr>
      <p:grpSpPr>
        <a:xfrm>
          <a:off x="0" y="0"/>
          <a:ext cx="0" cy="0"/>
          <a:chOff x="0" y="0"/>
          <a:chExt cx="0" cy="0"/>
        </a:xfrm>
      </p:grpSpPr>
      <p:sp>
        <p:nvSpPr>
          <p:cNvPr id="2" name="Text 0"/>
          <p:cNvSpPr/>
          <p:nvPr/>
        </p:nvSpPr>
        <p:spPr>
          <a:xfrm>
            <a:off x="952500" y="857250"/>
            <a:ext cx="18021300" cy="333375"/>
          </a:xfrm>
          <a:prstGeom prst="rect">
            <a:avLst/>
          </a:prstGeom>
          <a:noFill/>
          <a:ln/>
        </p:spPr>
        <p:txBody>
          <a:bodyPr wrap="square" lIns="25400" tIns="25400" rIns="25400" bIns="25400" rtlCol="0" anchor="t">
            <a:normAutofit/>
          </a:bodyPr>
          <a:lstStyle/>
          <a:p>
            <a:pPr algn="l" indent="0" marL="0">
              <a:buNone/>
            </a:pPr>
            <a:r>
              <a:rPr lang="en-US" sz="1950" b="1" spc="351" kern="0" dirty="0">
                <a:solidFill>
                  <a:srgbClr val="56B6BB"/>
                </a:solidFill>
                <a:latin typeface="Arial" pitchFamily="34" charset="0"/>
                <a:ea typeface="Arial" pitchFamily="34" charset="-122"/>
                <a:cs typeface="Arial" pitchFamily="34" charset="-120"/>
              </a:rPr>
              <a:t>046211 DEEP LEARNING · FINAL PROJECT</a:t>
            </a:r>
            <a:endParaRPr lang="en-US" sz="1950" dirty="0"/>
          </a:p>
        </p:txBody>
      </p:sp>
      <p:sp>
        <p:nvSpPr>
          <p:cNvPr id="3" name="Shape 1"/>
          <p:cNvSpPr/>
          <p:nvPr/>
        </p:nvSpPr>
        <p:spPr>
          <a:xfrm>
            <a:off x="952500" y="1400175"/>
            <a:ext cx="1714500" cy="38100"/>
          </a:xfrm>
          <a:prstGeom prst="rect">
            <a:avLst/>
          </a:prstGeom>
          <a:solidFill>
            <a:srgbClr val="B96365"/>
          </a:solidFill>
          <a:ln/>
        </p:spPr>
      </p:sp>
      <p:sp>
        <p:nvSpPr>
          <p:cNvPr id="4" name="Text 2"/>
          <p:cNvSpPr/>
          <p:nvPr/>
        </p:nvSpPr>
        <p:spPr>
          <a:xfrm>
            <a:off x="952500" y="3833812"/>
            <a:ext cx="15192375" cy="1126182"/>
          </a:xfrm>
          <a:prstGeom prst="rect">
            <a:avLst/>
          </a:prstGeom>
          <a:noFill/>
          <a:ln/>
        </p:spPr>
        <p:txBody>
          <a:bodyPr wrap="square" lIns="25400" tIns="25400" rIns="25400" bIns="25400" rtlCol="0" anchor="t">
            <a:normAutofit/>
          </a:bodyPr>
          <a:lstStyle/>
          <a:p>
            <a:pPr algn="l" indent="0" marL="0">
              <a:lnSpc>
                <a:spcPct val="89250"/>
              </a:lnSpc>
              <a:buNone/>
            </a:pPr>
            <a:r>
              <a:rPr lang="en-US" sz="8400" spc="-126" kern="0" dirty="0">
                <a:solidFill>
                  <a:srgbClr val="F5F3F0"/>
                </a:solidFill>
                <a:latin typeface="Georgia" pitchFamily="34" charset="0"/>
                <a:ea typeface="Georgia" pitchFamily="34" charset="-122"/>
                <a:cs typeface="Georgia" pitchFamily="34" charset="-120"/>
              </a:rPr>
              <a:t>Words That Harm</a:t>
            </a:r>
            <a:endParaRPr lang="en-US" sz="8400" dirty="0"/>
          </a:p>
        </p:txBody>
      </p:sp>
      <p:sp>
        <p:nvSpPr>
          <p:cNvPr id="5" name="Text 3"/>
          <p:cNvSpPr/>
          <p:nvPr/>
        </p:nvSpPr>
        <p:spPr>
          <a:xfrm>
            <a:off x="952500" y="5245745"/>
            <a:ext cx="14225588" cy="1169491"/>
          </a:xfrm>
          <a:prstGeom prst="rect">
            <a:avLst/>
          </a:prstGeom>
          <a:noFill/>
          <a:ln/>
        </p:spPr>
        <p:txBody>
          <a:bodyPr wrap="square" lIns="25400" tIns="25400" rIns="25400" bIns="25400" rtlCol="0" anchor="t">
            <a:normAutofit/>
          </a:bodyPr>
          <a:lstStyle/>
          <a:p>
            <a:pPr algn="l" indent="0" marL="0">
              <a:lnSpc>
                <a:spcPct val="118800"/>
              </a:lnSpc>
              <a:buNone/>
            </a:pPr>
            <a:r>
              <a:rPr lang="en-US" sz="3300" dirty="0">
                <a:solidFill>
                  <a:srgbClr val="CFCABF"/>
                </a:solidFill>
                <a:latin typeface="Georgia" pitchFamily="34" charset="0"/>
                <a:ea typeface="Georgia" pitchFamily="34" charset="-122"/>
                <a:cs typeface="Georgia" pitchFamily="34" charset="-120"/>
              </a:rPr>
              <a:t>An audit of eight toxicity classifiers, organized around which error a model makes rather than how many</a:t>
            </a:r>
            <a:endParaRPr lang="en-US" sz="3300" dirty="0"/>
          </a:p>
        </p:txBody>
      </p:sp>
      <p:sp>
        <p:nvSpPr>
          <p:cNvPr id="6" name="Text 4"/>
          <p:cNvSpPr/>
          <p:nvPr/>
        </p:nvSpPr>
        <p:spPr>
          <a:xfrm>
            <a:off x="952500" y="8772525"/>
            <a:ext cx="5431601" cy="390525"/>
          </a:xfrm>
          <a:prstGeom prst="rect">
            <a:avLst/>
          </a:prstGeom>
          <a:noFill/>
          <a:ln/>
        </p:spPr>
        <p:txBody>
          <a:bodyPr wrap="square" lIns="25400" tIns="25400" rIns="25400" bIns="25400" rtlCol="0" anchor="t">
            <a:normAutofit/>
          </a:bodyPr>
          <a:lstStyle/>
          <a:p>
            <a:pPr algn="l" indent="0" marL="0">
              <a:buNone/>
            </a:pPr>
            <a:r>
              <a:rPr lang="en-US" sz="2400" dirty="0">
                <a:solidFill>
                  <a:srgbClr val="F5F3F0"/>
                </a:solidFill>
                <a:latin typeface="Arial" pitchFamily="34" charset="0"/>
                <a:ea typeface="Arial" pitchFamily="34" charset="-122"/>
                <a:cs typeface="Arial" pitchFamily="34" charset="-120"/>
              </a:rPr>
              <a:t>Omer Ramon · Tom Jacob</a:t>
            </a:r>
            <a:endParaRPr lang="en-US" sz="2400" dirty="0"/>
          </a:p>
        </p:txBody>
      </p:sp>
      <p:sp>
        <p:nvSpPr>
          <p:cNvPr id="7" name="Text 5"/>
          <p:cNvSpPr/>
          <p:nvPr/>
        </p:nvSpPr>
        <p:spPr>
          <a:xfrm>
            <a:off x="952500" y="9220200"/>
            <a:ext cx="543160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A8A29A"/>
                </a:solidFill>
                <a:latin typeface="Courier New" pitchFamily="34" charset="0"/>
                <a:ea typeface="Courier New" pitchFamily="34" charset="-122"/>
                <a:cs typeface="Courier New" pitchFamily="34" charset="-120"/>
              </a:rPr>
              <a:t>github.com/Tom-Jacob/DeepProjectHate</a:t>
            </a:r>
            <a:endParaRPr lang="en-US" sz="1800" dirty="0"/>
          </a:p>
        </p:txBody>
      </p:sp>
      <p:sp>
        <p:nvSpPr>
          <p:cNvPr id="8" name="Text 6"/>
          <p:cNvSpPr/>
          <p:nvPr/>
        </p:nvSpPr>
        <p:spPr>
          <a:xfrm>
            <a:off x="13220700" y="9220200"/>
            <a:ext cx="452628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A8A29A"/>
                </a:solidFill>
                <a:latin typeface="Courier New" pitchFamily="34" charset="0"/>
                <a:ea typeface="Courier New" pitchFamily="34" charset="-122"/>
                <a:cs typeface="Courier New" pitchFamily="34" charset="-120"/>
              </a:rPr>
              <a:t>Jigsaw Toxic Comment Challenge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F0"/>
        </a:solidFill>
      </p:bgPr>
    </p:bg>
    <p:spTree>
      <p:nvGrpSpPr>
        <p:cNvPr id="1" name=""/>
        <p:cNvGrpSpPr/>
        <p:nvPr/>
      </p:nvGrpSpPr>
      <p:grpSpPr>
        <a:xfrm>
          <a:off x="0" y="0"/>
          <a:ext cx="0" cy="0"/>
          <a:chOff x="0" y="0"/>
          <a:chExt cx="0" cy="0"/>
        </a:xfrm>
      </p:grpSpPr>
      <p:sp>
        <p:nvSpPr>
          <p:cNvPr id="2" name="Text 0"/>
          <p:cNvSpPr/>
          <p:nvPr/>
        </p:nvSpPr>
        <p:spPr>
          <a:xfrm>
            <a:off x="952500" y="857250"/>
            <a:ext cx="18021300" cy="304800"/>
          </a:xfrm>
          <a:prstGeom prst="rect">
            <a:avLst/>
          </a:prstGeom>
          <a:noFill/>
          <a:ln/>
        </p:spPr>
        <p:txBody>
          <a:bodyPr wrap="square" lIns="25400" tIns="25400" rIns="25400" bIns="25400" rtlCol="0" anchor="t">
            <a:normAutofit/>
          </a:bodyPr>
          <a:lstStyle/>
          <a:p>
            <a:pPr algn="l" indent="0" marL="0">
              <a:buNone/>
            </a:pPr>
            <a:r>
              <a:rPr lang="en-US" sz="1800" b="1" spc="288" kern="0" dirty="0">
                <a:solidFill>
                  <a:srgbClr val="8A857C"/>
                </a:solidFill>
                <a:latin typeface="Arial" pitchFamily="34" charset="0"/>
                <a:ea typeface="Arial" pitchFamily="34" charset="-122"/>
                <a:cs typeface="Arial" pitchFamily="34" charset="-120"/>
              </a:rPr>
              <a:t>PROBLEM STATEMENT</a:t>
            </a:r>
            <a:endParaRPr lang="en-US" sz="1800" dirty="0"/>
          </a:p>
        </p:txBody>
      </p:sp>
      <p:sp>
        <p:nvSpPr>
          <p:cNvPr id="3" name="Text 1"/>
          <p:cNvSpPr/>
          <p:nvPr/>
        </p:nvSpPr>
        <p:spPr>
          <a:xfrm>
            <a:off x="952500" y="1333500"/>
            <a:ext cx="14668500" cy="696367"/>
          </a:xfrm>
          <a:prstGeom prst="rect">
            <a:avLst/>
          </a:prstGeom>
          <a:noFill/>
          <a:ln/>
        </p:spPr>
        <p:txBody>
          <a:bodyPr wrap="square" lIns="25400" tIns="25400" rIns="25400" bIns="25400" rtlCol="0" anchor="t">
            <a:normAutofit/>
          </a:bodyPr>
          <a:lstStyle/>
          <a:p>
            <a:pPr algn="l" indent="0" marL="0">
              <a:lnSpc>
                <a:spcPct val="94685"/>
              </a:lnSpc>
              <a:buNone/>
            </a:pPr>
            <a:r>
              <a:rPr lang="en-US" sz="4800" dirty="0">
                <a:solidFill>
                  <a:srgbClr val="1A1917"/>
                </a:solidFill>
                <a:latin typeface="Georgia" pitchFamily="34" charset="0"/>
                <a:ea typeface="Georgia" pitchFamily="34" charset="-122"/>
                <a:cs typeface="Georgia" pitchFamily="34" charset="-120"/>
              </a:rPr>
              <a:t>Why a single benchmark number misleads</a:t>
            </a:r>
            <a:endParaRPr lang="en-US" sz="4800" dirty="0"/>
          </a:p>
        </p:txBody>
      </p:sp>
      <p:sp>
        <p:nvSpPr>
          <p:cNvPr id="4" name="Shape 2"/>
          <p:cNvSpPr/>
          <p:nvPr/>
        </p:nvSpPr>
        <p:spPr>
          <a:xfrm>
            <a:off x="952500" y="2525167"/>
            <a:ext cx="5105400" cy="28575"/>
          </a:xfrm>
          <a:prstGeom prst="rect">
            <a:avLst/>
          </a:prstGeom>
          <a:solidFill>
            <a:srgbClr val="1A1917"/>
          </a:solidFill>
          <a:ln/>
        </p:spPr>
      </p:sp>
      <p:sp>
        <p:nvSpPr>
          <p:cNvPr id="5" name="Text 3"/>
          <p:cNvSpPr/>
          <p:nvPr/>
        </p:nvSpPr>
        <p:spPr>
          <a:xfrm>
            <a:off x="952500" y="2763292"/>
            <a:ext cx="5615940" cy="390525"/>
          </a:xfrm>
          <a:prstGeom prst="rect">
            <a:avLst/>
          </a:prstGeom>
          <a:noFill/>
          <a:ln/>
        </p:spPr>
        <p:txBody>
          <a:bodyPr wrap="square" lIns="25400" tIns="25400" rIns="25400" bIns="25400" rtlCol="0" anchor="t">
            <a:normAutofit/>
          </a:bodyPr>
          <a:lstStyle/>
          <a:p>
            <a:pPr algn="l" indent="0" marL="0">
              <a:buNone/>
            </a:pPr>
            <a:r>
              <a:rPr lang="en-US" sz="2400" b="1" dirty="0">
                <a:solidFill>
                  <a:srgbClr val="1A1917"/>
                </a:solidFill>
                <a:latin typeface="Arial" pitchFamily="34" charset="0"/>
                <a:ea typeface="Arial" pitchFamily="34" charset="-122"/>
                <a:cs typeface="Arial" pitchFamily="34" charset="-120"/>
              </a:rPr>
              <a:t>Class imbalance</a:t>
            </a:r>
            <a:endParaRPr lang="en-US" sz="2400" dirty="0"/>
          </a:p>
        </p:txBody>
      </p:sp>
      <p:sp>
        <p:nvSpPr>
          <p:cNvPr id="6" name="Text 4"/>
          <p:cNvSpPr/>
          <p:nvPr/>
        </p:nvSpPr>
        <p:spPr>
          <a:xfrm>
            <a:off x="952500" y="3268117"/>
            <a:ext cx="5258562" cy="1198066"/>
          </a:xfrm>
          <a:prstGeom prst="rect">
            <a:avLst/>
          </a:prstGeom>
          <a:noFill/>
          <a:ln/>
        </p:spPr>
        <p:txBody>
          <a:bodyPr wrap="square" lIns="25400" tIns="25400" rIns="25400" bIns="25400" rtlCol="0" anchor="t">
            <a:normAutofit/>
          </a:bodyPr>
          <a:lstStyle/>
          <a:p>
            <a:pPr algn="l" indent="0" marL="0">
              <a:lnSpc>
                <a:spcPct val="126875"/>
              </a:lnSpc>
              <a:buNone/>
            </a:pPr>
            <a:r>
              <a:rPr lang="en-US" sz="2100" dirty="0">
                <a:solidFill>
                  <a:srgbClr val="4A4741"/>
                </a:solidFill>
                <a:latin typeface="Arial" pitchFamily="34" charset="0"/>
                <a:ea typeface="Arial" pitchFamily="34" charset="-122"/>
                <a:cs typeface="Arial" pitchFamily="34" charset="-120"/>
              </a:rPr>
              <a:t>Only ~10% of Jigsaw comments are toxic, so “never toxic” scores 90% accuracy while detecting nothing.</a:t>
            </a:r>
            <a:endParaRPr lang="en-US" sz="2100" dirty="0"/>
          </a:p>
        </p:txBody>
      </p:sp>
      <p:sp>
        <p:nvSpPr>
          <p:cNvPr id="7" name="Shape 5"/>
          <p:cNvSpPr/>
          <p:nvPr/>
        </p:nvSpPr>
        <p:spPr>
          <a:xfrm>
            <a:off x="6591300" y="2525167"/>
            <a:ext cx="5105400" cy="28575"/>
          </a:xfrm>
          <a:prstGeom prst="rect">
            <a:avLst/>
          </a:prstGeom>
          <a:solidFill>
            <a:srgbClr val="1A1917"/>
          </a:solidFill>
          <a:ln/>
        </p:spPr>
      </p:sp>
      <p:sp>
        <p:nvSpPr>
          <p:cNvPr id="8" name="Text 6"/>
          <p:cNvSpPr/>
          <p:nvPr/>
        </p:nvSpPr>
        <p:spPr>
          <a:xfrm>
            <a:off x="6591300" y="2763292"/>
            <a:ext cx="5615940" cy="390525"/>
          </a:xfrm>
          <a:prstGeom prst="rect">
            <a:avLst/>
          </a:prstGeom>
          <a:noFill/>
          <a:ln/>
        </p:spPr>
        <p:txBody>
          <a:bodyPr wrap="square" lIns="25400" tIns="25400" rIns="25400" bIns="25400" rtlCol="0" anchor="t">
            <a:normAutofit/>
          </a:bodyPr>
          <a:lstStyle/>
          <a:p>
            <a:pPr algn="l" indent="0" marL="0">
              <a:buNone/>
            </a:pPr>
            <a:r>
              <a:rPr lang="en-US" sz="2400" b="1" dirty="0">
                <a:solidFill>
                  <a:srgbClr val="1A1917"/>
                </a:solidFill>
                <a:latin typeface="Arial" pitchFamily="34" charset="0"/>
                <a:ea typeface="Arial" pitchFamily="34" charset="-122"/>
                <a:cs typeface="Arial" pitchFamily="34" charset="-120"/>
              </a:rPr>
              <a:t>Context outside the input</a:t>
            </a:r>
            <a:endParaRPr lang="en-US" sz="2400" dirty="0"/>
          </a:p>
        </p:txBody>
      </p:sp>
      <p:sp>
        <p:nvSpPr>
          <p:cNvPr id="9" name="Text 7"/>
          <p:cNvSpPr/>
          <p:nvPr/>
        </p:nvSpPr>
        <p:spPr>
          <a:xfrm>
            <a:off x="6591300" y="3268117"/>
            <a:ext cx="5258562" cy="1584722"/>
          </a:xfrm>
          <a:prstGeom prst="rect">
            <a:avLst/>
          </a:prstGeom>
          <a:noFill/>
          <a:ln/>
        </p:spPr>
        <p:txBody>
          <a:bodyPr wrap="square" lIns="25400" tIns="25400" rIns="25400" bIns="25400" rtlCol="0" anchor="t">
            <a:normAutofit/>
          </a:bodyPr>
          <a:lstStyle/>
          <a:p>
            <a:pPr algn="l" indent="0" marL="0">
              <a:lnSpc>
                <a:spcPct val="126875"/>
              </a:lnSpc>
              <a:buNone/>
            </a:pPr>
            <a:r>
              <a:rPr lang="en-US" sz="2100" dirty="0">
                <a:solidFill>
                  <a:srgbClr val="4A4741"/>
                </a:solidFill>
                <a:latin typeface="Arial" pitchFamily="34" charset="0"/>
                <a:ea typeface="Arial" pitchFamily="34" charset="-122"/>
                <a:cs typeface="Arial" pitchFamily="34" charset="-120"/>
              </a:rPr>
              <a:t>“Give it up.” closes a dispute from an administrator and drives off a newcomer from three regulars. The speaker and the history are not in the input.</a:t>
            </a:r>
            <a:endParaRPr lang="en-US" sz="2100" dirty="0"/>
          </a:p>
        </p:txBody>
      </p:sp>
      <p:sp>
        <p:nvSpPr>
          <p:cNvPr id="10" name="Shape 8"/>
          <p:cNvSpPr/>
          <p:nvPr/>
        </p:nvSpPr>
        <p:spPr>
          <a:xfrm>
            <a:off x="12230100" y="2525167"/>
            <a:ext cx="5105400" cy="28575"/>
          </a:xfrm>
          <a:prstGeom prst="rect">
            <a:avLst/>
          </a:prstGeom>
          <a:solidFill>
            <a:srgbClr val="1A1917"/>
          </a:solidFill>
          <a:ln/>
        </p:spPr>
      </p:sp>
      <p:sp>
        <p:nvSpPr>
          <p:cNvPr id="11" name="Text 9"/>
          <p:cNvSpPr/>
          <p:nvPr/>
        </p:nvSpPr>
        <p:spPr>
          <a:xfrm>
            <a:off x="12230100" y="2763292"/>
            <a:ext cx="5615940" cy="390525"/>
          </a:xfrm>
          <a:prstGeom prst="rect">
            <a:avLst/>
          </a:prstGeom>
          <a:noFill/>
          <a:ln/>
        </p:spPr>
        <p:txBody>
          <a:bodyPr wrap="square" lIns="25400" tIns="25400" rIns="25400" bIns="25400" rtlCol="0" anchor="t">
            <a:normAutofit/>
          </a:bodyPr>
          <a:lstStyle/>
          <a:p>
            <a:pPr algn="l" indent="0" marL="0">
              <a:buNone/>
            </a:pPr>
            <a:r>
              <a:rPr lang="en-US" sz="2400" b="1" dirty="0">
                <a:solidFill>
                  <a:srgbClr val="1A1917"/>
                </a:solidFill>
                <a:latin typeface="Arial" pitchFamily="34" charset="0"/>
                <a:ea typeface="Arial" pitchFamily="34" charset="-122"/>
                <a:cs typeface="Arial" pitchFamily="34" charset="-120"/>
              </a:rPr>
              <a:t>Adversarial users</a:t>
            </a:r>
            <a:endParaRPr lang="en-US" sz="2400" dirty="0"/>
          </a:p>
        </p:txBody>
      </p:sp>
      <p:sp>
        <p:nvSpPr>
          <p:cNvPr id="12" name="Text 10"/>
          <p:cNvSpPr/>
          <p:nvPr/>
        </p:nvSpPr>
        <p:spPr>
          <a:xfrm>
            <a:off x="12230100" y="3268117"/>
            <a:ext cx="5258562" cy="811411"/>
          </a:xfrm>
          <a:prstGeom prst="rect">
            <a:avLst/>
          </a:prstGeom>
          <a:noFill/>
          <a:ln/>
        </p:spPr>
        <p:txBody>
          <a:bodyPr wrap="square" lIns="25400" tIns="25400" rIns="25400" bIns="25400" rtlCol="0" anchor="t">
            <a:normAutofit/>
          </a:bodyPr>
          <a:lstStyle/>
          <a:p>
            <a:pPr algn="l" indent="0" marL="0">
              <a:lnSpc>
                <a:spcPct val="126875"/>
              </a:lnSpc>
              <a:buNone/>
            </a:pPr>
            <a:r>
              <a:rPr lang="en-US" sz="2100" dirty="0">
                <a:solidFill>
                  <a:srgbClr val="4A4741"/>
                </a:solidFill>
                <a:latin typeface="Arial" pitchFamily="34" charset="0"/>
                <a:ea typeface="Arial" pitchFamily="34" charset="-122"/>
                <a:cs typeface="Arial" pitchFamily="34" charset="-120"/>
              </a:rPr>
              <a:t>Evaders write s7up1d or s t u p i d. Sub-word tokenization is only a partial defense.</a:t>
            </a:r>
            <a:endParaRPr lang="en-US" sz="2100" dirty="0"/>
          </a:p>
        </p:txBody>
      </p:sp>
      <p:sp>
        <p:nvSpPr>
          <p:cNvPr id="13" name="Shape 11"/>
          <p:cNvSpPr/>
          <p:nvPr/>
        </p:nvSpPr>
        <p:spPr>
          <a:xfrm>
            <a:off x="952500" y="7515225"/>
            <a:ext cx="8001000" cy="2009775"/>
          </a:xfrm>
          <a:prstGeom prst="rect">
            <a:avLst/>
          </a:prstGeom>
          <a:solidFill>
            <a:srgbClr val="22211D"/>
          </a:solidFill>
          <a:ln/>
        </p:spPr>
      </p:sp>
      <p:sp>
        <p:nvSpPr>
          <p:cNvPr id="14" name="Text 12"/>
          <p:cNvSpPr/>
          <p:nvPr/>
        </p:nvSpPr>
        <p:spPr>
          <a:xfrm>
            <a:off x="1314450" y="7839075"/>
            <a:ext cx="8004810" cy="333375"/>
          </a:xfrm>
          <a:prstGeom prst="rect">
            <a:avLst/>
          </a:prstGeom>
          <a:noFill/>
          <a:ln/>
        </p:spPr>
        <p:txBody>
          <a:bodyPr wrap="square" lIns="25400" tIns="25400" rIns="25400" bIns="25400" rtlCol="0" anchor="t">
            <a:normAutofit/>
          </a:bodyPr>
          <a:lstStyle/>
          <a:p>
            <a:pPr algn="l" indent="0" marL="0">
              <a:buNone/>
            </a:pPr>
            <a:r>
              <a:rPr lang="en-US" sz="1950" b="1" spc="273" kern="0" dirty="0">
                <a:solidFill>
                  <a:srgbClr val="EB9191"/>
                </a:solidFill>
                <a:latin typeface="Arial" pitchFamily="34" charset="0"/>
                <a:ea typeface="Arial" pitchFamily="34" charset="-122"/>
                <a:cs typeface="Arial" pitchFamily="34" charset="-120"/>
              </a:rPr>
              <a:t>FALSE NEGATIVE → SAFETY FAILURE</a:t>
            </a:r>
            <a:endParaRPr lang="en-US" sz="1950" dirty="0"/>
          </a:p>
        </p:txBody>
      </p:sp>
      <p:sp>
        <p:nvSpPr>
          <p:cNvPr id="15" name="Text 13"/>
          <p:cNvSpPr/>
          <p:nvPr/>
        </p:nvSpPr>
        <p:spPr>
          <a:xfrm>
            <a:off x="1314450" y="8267700"/>
            <a:ext cx="8004810" cy="504825"/>
          </a:xfrm>
          <a:prstGeom prst="rect">
            <a:avLst/>
          </a:prstGeom>
          <a:noFill/>
          <a:ln/>
        </p:spPr>
        <p:txBody>
          <a:bodyPr wrap="square" lIns="25400" tIns="25400" rIns="25400" bIns="25400" rtlCol="0" anchor="t">
            <a:normAutofit/>
          </a:bodyPr>
          <a:lstStyle/>
          <a:p>
            <a:pPr algn="l" indent="0" marL="0">
              <a:buNone/>
            </a:pPr>
            <a:r>
              <a:rPr lang="en-US" sz="2400" dirty="0">
                <a:solidFill>
                  <a:srgbClr val="F5F3F0"/>
                </a:solidFill>
                <a:latin typeface="Georgia" pitchFamily="34" charset="0"/>
                <a:ea typeface="Georgia" pitchFamily="34" charset="-122"/>
                <a:cs typeface="Georgia" pitchFamily="34" charset="-120"/>
              </a:rPr>
              <a:t>“Shut up you m0r0n” reaches its target.</a:t>
            </a:r>
            <a:endParaRPr lang="en-US" sz="2400" dirty="0"/>
          </a:p>
        </p:txBody>
      </p:sp>
      <p:sp>
        <p:nvSpPr>
          <p:cNvPr id="16" name="Shape 14"/>
          <p:cNvSpPr/>
          <p:nvPr/>
        </p:nvSpPr>
        <p:spPr>
          <a:xfrm>
            <a:off x="9334500" y="7515225"/>
            <a:ext cx="8001000" cy="2009775"/>
          </a:xfrm>
          <a:prstGeom prst="rect">
            <a:avLst/>
          </a:prstGeom>
          <a:solidFill>
            <a:srgbClr val="22211D"/>
          </a:solidFill>
          <a:ln/>
        </p:spPr>
      </p:sp>
      <p:sp>
        <p:nvSpPr>
          <p:cNvPr id="17" name="Text 15"/>
          <p:cNvSpPr/>
          <p:nvPr/>
        </p:nvSpPr>
        <p:spPr>
          <a:xfrm>
            <a:off x="9696450" y="7839075"/>
            <a:ext cx="8004810" cy="333375"/>
          </a:xfrm>
          <a:prstGeom prst="rect">
            <a:avLst/>
          </a:prstGeom>
          <a:noFill/>
          <a:ln/>
        </p:spPr>
        <p:txBody>
          <a:bodyPr wrap="square" lIns="25400" tIns="25400" rIns="25400" bIns="25400" rtlCol="0" anchor="t">
            <a:normAutofit/>
          </a:bodyPr>
          <a:lstStyle/>
          <a:p>
            <a:pPr algn="l" indent="0" marL="0">
              <a:buNone/>
            </a:pPr>
            <a:r>
              <a:rPr lang="en-US" sz="1950" b="1" spc="273" kern="0" dirty="0">
                <a:solidFill>
                  <a:srgbClr val="6AC9CE"/>
                </a:solidFill>
                <a:latin typeface="Arial" pitchFamily="34" charset="0"/>
                <a:ea typeface="Arial" pitchFamily="34" charset="-122"/>
                <a:cs typeface="Arial" pitchFamily="34" charset="-120"/>
              </a:rPr>
              <a:t>FALSE POSITIVE → FAIRNESS FAILURE</a:t>
            </a:r>
            <a:endParaRPr lang="en-US" sz="1950" dirty="0"/>
          </a:p>
        </p:txBody>
      </p:sp>
      <p:sp>
        <p:nvSpPr>
          <p:cNvPr id="18" name="Text 16"/>
          <p:cNvSpPr/>
          <p:nvPr/>
        </p:nvSpPr>
        <p:spPr>
          <a:xfrm>
            <a:off x="9696450" y="8267700"/>
            <a:ext cx="7495413" cy="971550"/>
          </a:xfrm>
          <a:prstGeom prst="rect">
            <a:avLst/>
          </a:prstGeom>
          <a:noFill/>
          <a:ln/>
        </p:spPr>
        <p:txBody>
          <a:bodyPr wrap="square" lIns="25400" tIns="25400" rIns="25400" bIns="25400" rtlCol="0" anchor="t">
            <a:normAutofit/>
          </a:bodyPr>
          <a:lstStyle/>
          <a:p>
            <a:pPr algn="l" indent="0" marL="0">
              <a:buNone/>
            </a:pPr>
            <a:r>
              <a:rPr lang="en-US" sz="2400" dirty="0">
                <a:solidFill>
                  <a:srgbClr val="F5F3F0"/>
                </a:solidFill>
                <a:latin typeface="Georgia" pitchFamily="34" charset="0"/>
                <a:ea typeface="Georgia" pitchFamily="34" charset="-122"/>
                <a:cs typeface="Georgia" pitchFamily="34" charset="-120"/>
              </a:rPr>
              <a:t>“I am a gay man and I edited this page” is removed as abuse.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F0"/>
        </a:solidFill>
      </p:bgPr>
    </p:bg>
    <p:spTree>
      <p:nvGrpSpPr>
        <p:cNvPr id="1" name=""/>
        <p:cNvGrpSpPr/>
        <p:nvPr/>
      </p:nvGrpSpPr>
      <p:grpSpPr>
        <a:xfrm>
          <a:off x="0" y="0"/>
          <a:ext cx="0" cy="0"/>
          <a:chOff x="0" y="0"/>
          <a:chExt cx="0" cy="0"/>
        </a:xfrm>
      </p:grpSpPr>
      <p:sp>
        <p:nvSpPr>
          <p:cNvPr id="2" name="Text 0"/>
          <p:cNvSpPr/>
          <p:nvPr/>
        </p:nvSpPr>
        <p:spPr>
          <a:xfrm>
            <a:off x="952500" y="857250"/>
            <a:ext cx="18021300" cy="304800"/>
          </a:xfrm>
          <a:prstGeom prst="rect">
            <a:avLst/>
          </a:prstGeom>
          <a:noFill/>
          <a:ln/>
        </p:spPr>
        <p:txBody>
          <a:bodyPr wrap="square" lIns="25400" tIns="25400" rIns="25400" bIns="25400" rtlCol="0" anchor="t">
            <a:normAutofit/>
          </a:bodyPr>
          <a:lstStyle/>
          <a:p>
            <a:pPr algn="l" indent="0" marL="0">
              <a:buNone/>
            </a:pPr>
            <a:r>
              <a:rPr lang="en-US" sz="1800" b="1" spc="288" kern="0" dirty="0">
                <a:solidFill>
                  <a:srgbClr val="8A857C"/>
                </a:solidFill>
                <a:latin typeface="Arial" pitchFamily="34" charset="0"/>
                <a:ea typeface="Arial" pitchFamily="34" charset="-122"/>
                <a:cs typeface="Arial" pitchFamily="34" charset="-120"/>
              </a:rPr>
              <a:t>MODELS UNDER COMPARISON</a:t>
            </a:r>
            <a:endParaRPr lang="en-US" sz="1800" dirty="0"/>
          </a:p>
        </p:txBody>
      </p:sp>
      <p:sp>
        <p:nvSpPr>
          <p:cNvPr id="3" name="Text 1"/>
          <p:cNvSpPr/>
          <p:nvPr/>
        </p:nvSpPr>
        <p:spPr>
          <a:xfrm>
            <a:off x="952500" y="1333500"/>
            <a:ext cx="18021300" cy="696367"/>
          </a:xfrm>
          <a:prstGeom prst="rect">
            <a:avLst/>
          </a:prstGeom>
          <a:noFill/>
          <a:ln/>
        </p:spPr>
        <p:txBody>
          <a:bodyPr wrap="square" lIns="25400" tIns="25400" rIns="25400" bIns="25400" rtlCol="0" anchor="t">
            <a:normAutofit/>
          </a:bodyPr>
          <a:lstStyle/>
          <a:p>
            <a:pPr algn="l" indent="0" marL="0">
              <a:lnSpc>
                <a:spcPct val="94685"/>
              </a:lnSpc>
              <a:buNone/>
            </a:pPr>
            <a:r>
              <a:rPr lang="en-US" sz="4800" dirty="0">
                <a:solidFill>
                  <a:srgbClr val="1A1917"/>
                </a:solidFill>
                <a:latin typeface="Georgia" pitchFamily="34" charset="0"/>
                <a:ea typeface="Georgia" pitchFamily="34" charset="-122"/>
                <a:cs typeface="Georgia" pitchFamily="34" charset="-120"/>
              </a:rPr>
              <a:t>Eight configurations across four families</a:t>
            </a:r>
            <a:endParaRPr lang="en-US" sz="4800" dirty="0"/>
          </a:p>
        </p:txBody>
      </p:sp>
      <p:sp>
        <p:nvSpPr>
          <p:cNvPr id="4" name="Shape 2"/>
          <p:cNvSpPr/>
          <p:nvPr/>
        </p:nvSpPr>
        <p:spPr>
          <a:xfrm>
            <a:off x="952500" y="2844254"/>
            <a:ext cx="952500" cy="28575"/>
          </a:xfrm>
          <a:prstGeom prst="rect">
            <a:avLst/>
          </a:prstGeom>
          <a:solidFill>
            <a:srgbClr val="1A1917"/>
          </a:solidFill>
          <a:ln/>
        </p:spPr>
      </p:sp>
      <p:sp>
        <p:nvSpPr>
          <p:cNvPr id="5" name="Text 3"/>
          <p:cNvSpPr/>
          <p:nvPr/>
        </p:nvSpPr>
        <p:spPr>
          <a:xfrm>
            <a:off x="952500" y="2429917"/>
            <a:ext cx="838200" cy="319088"/>
          </a:xfrm>
          <a:prstGeom prst="rect">
            <a:avLst/>
          </a:prstGeom>
          <a:noFill/>
          <a:ln/>
        </p:spPr>
        <p:txBody>
          <a:bodyPr wrap="square" lIns="25400" tIns="25400" rIns="25400" bIns="25400" rtlCol="0" anchor="ctr">
            <a:normAutofit/>
          </a:bodyPr>
          <a:lstStyle/>
          <a:p>
            <a:pPr algn="l" indent="0" marL="0">
              <a:buNone/>
            </a:pPr>
            <a:r>
              <a:rPr lang="en-US" sz="2025" b="1" dirty="0">
                <a:solidFill>
                  <a:srgbClr val="6B6862"/>
                </a:solidFill>
                <a:latin typeface="Arial" pitchFamily="34" charset="0"/>
                <a:ea typeface="Arial" pitchFamily="34" charset="-122"/>
                <a:cs typeface="Arial" pitchFamily="34" charset="-120"/>
              </a:rPr>
              <a:t>ID</a:t>
            </a:r>
            <a:endParaRPr lang="en-US" sz="2025" dirty="0"/>
          </a:p>
        </p:txBody>
      </p:sp>
      <p:sp>
        <p:nvSpPr>
          <p:cNvPr id="6" name="Shape 4"/>
          <p:cNvSpPr/>
          <p:nvPr/>
        </p:nvSpPr>
        <p:spPr>
          <a:xfrm>
            <a:off x="1905000" y="2844254"/>
            <a:ext cx="3778300" cy="28575"/>
          </a:xfrm>
          <a:prstGeom prst="rect">
            <a:avLst/>
          </a:prstGeom>
          <a:solidFill>
            <a:srgbClr val="1A1917"/>
          </a:solidFill>
          <a:ln/>
        </p:spPr>
      </p:sp>
      <p:sp>
        <p:nvSpPr>
          <p:cNvPr id="7" name="Text 5"/>
          <p:cNvSpPr/>
          <p:nvPr/>
        </p:nvSpPr>
        <p:spPr>
          <a:xfrm>
            <a:off x="1905000" y="2429917"/>
            <a:ext cx="3701149" cy="319088"/>
          </a:xfrm>
          <a:prstGeom prst="rect">
            <a:avLst/>
          </a:prstGeom>
          <a:noFill/>
          <a:ln/>
        </p:spPr>
        <p:txBody>
          <a:bodyPr wrap="square" lIns="25400" tIns="25400" rIns="25400" bIns="25400" rtlCol="0" anchor="ctr">
            <a:normAutofit/>
          </a:bodyPr>
          <a:lstStyle/>
          <a:p>
            <a:pPr algn="l" indent="0" marL="0">
              <a:buNone/>
            </a:pPr>
            <a:r>
              <a:rPr lang="en-US" sz="2025" b="1" dirty="0">
                <a:solidFill>
                  <a:srgbClr val="6B6862"/>
                </a:solidFill>
                <a:latin typeface="Arial" pitchFamily="34" charset="0"/>
                <a:ea typeface="Arial" pitchFamily="34" charset="-122"/>
                <a:cs typeface="Arial" pitchFamily="34" charset="-120"/>
              </a:rPr>
              <a:t>Model</a:t>
            </a:r>
            <a:endParaRPr lang="en-US" sz="2025" dirty="0"/>
          </a:p>
        </p:txBody>
      </p:sp>
      <p:sp>
        <p:nvSpPr>
          <p:cNvPr id="8" name="Shape 6"/>
          <p:cNvSpPr/>
          <p:nvPr/>
        </p:nvSpPr>
        <p:spPr>
          <a:xfrm>
            <a:off x="5683300" y="2844254"/>
            <a:ext cx="3203377" cy="28575"/>
          </a:xfrm>
          <a:prstGeom prst="rect">
            <a:avLst/>
          </a:prstGeom>
          <a:solidFill>
            <a:srgbClr val="1A1917"/>
          </a:solidFill>
          <a:ln/>
        </p:spPr>
      </p:sp>
      <p:sp>
        <p:nvSpPr>
          <p:cNvPr id="9" name="Text 7"/>
          <p:cNvSpPr/>
          <p:nvPr/>
        </p:nvSpPr>
        <p:spPr>
          <a:xfrm>
            <a:off x="5683300" y="2429917"/>
            <a:ext cx="3108978" cy="319088"/>
          </a:xfrm>
          <a:prstGeom prst="rect">
            <a:avLst/>
          </a:prstGeom>
          <a:noFill/>
          <a:ln/>
        </p:spPr>
        <p:txBody>
          <a:bodyPr wrap="square" lIns="25400" tIns="25400" rIns="25400" bIns="25400" rtlCol="0" anchor="ctr">
            <a:normAutofit/>
          </a:bodyPr>
          <a:lstStyle/>
          <a:p>
            <a:pPr algn="l" indent="0" marL="0">
              <a:buNone/>
            </a:pPr>
            <a:r>
              <a:rPr lang="en-US" sz="2025" b="1" dirty="0">
                <a:solidFill>
                  <a:srgbClr val="6B6862"/>
                </a:solidFill>
                <a:latin typeface="Arial" pitchFamily="34" charset="0"/>
                <a:ea typeface="Arial" pitchFamily="34" charset="-122"/>
                <a:cs typeface="Arial" pitchFamily="34" charset="-120"/>
              </a:rPr>
              <a:t>Family</a:t>
            </a:r>
            <a:endParaRPr lang="en-US" sz="2025" dirty="0"/>
          </a:p>
        </p:txBody>
      </p:sp>
      <p:sp>
        <p:nvSpPr>
          <p:cNvPr id="10" name="Shape 8"/>
          <p:cNvSpPr/>
          <p:nvPr/>
        </p:nvSpPr>
        <p:spPr>
          <a:xfrm>
            <a:off x="8886676" y="2844254"/>
            <a:ext cx="1619250" cy="28575"/>
          </a:xfrm>
          <a:prstGeom prst="rect">
            <a:avLst/>
          </a:prstGeom>
          <a:solidFill>
            <a:srgbClr val="1A1917"/>
          </a:solidFill>
          <a:ln/>
        </p:spPr>
      </p:sp>
      <p:sp>
        <p:nvSpPr>
          <p:cNvPr id="11" name="Text 9"/>
          <p:cNvSpPr/>
          <p:nvPr/>
        </p:nvSpPr>
        <p:spPr>
          <a:xfrm>
            <a:off x="8886676" y="2429917"/>
            <a:ext cx="1504950" cy="319088"/>
          </a:xfrm>
          <a:prstGeom prst="rect">
            <a:avLst/>
          </a:prstGeom>
          <a:noFill/>
          <a:ln/>
        </p:spPr>
        <p:txBody>
          <a:bodyPr wrap="square" lIns="25400" tIns="25400" rIns="25400" bIns="25400" rtlCol="0" anchor="ctr">
            <a:normAutofit/>
          </a:bodyPr>
          <a:lstStyle/>
          <a:p>
            <a:pPr algn="l" indent="0" marL="0">
              <a:buNone/>
            </a:pPr>
            <a:r>
              <a:rPr lang="en-US" sz="2025" b="1" dirty="0">
                <a:solidFill>
                  <a:srgbClr val="6B6862"/>
                </a:solidFill>
                <a:latin typeface="Arial" pitchFamily="34" charset="0"/>
                <a:ea typeface="Arial" pitchFamily="34" charset="-122"/>
                <a:cs typeface="Arial" pitchFamily="34" charset="-120"/>
              </a:rPr>
              <a:t>Params</a:t>
            </a:r>
            <a:endParaRPr lang="en-US" sz="2025" dirty="0"/>
          </a:p>
        </p:txBody>
      </p:sp>
      <p:sp>
        <p:nvSpPr>
          <p:cNvPr id="12" name="Shape 10"/>
          <p:cNvSpPr/>
          <p:nvPr/>
        </p:nvSpPr>
        <p:spPr>
          <a:xfrm>
            <a:off x="10505926" y="2844254"/>
            <a:ext cx="6829574" cy="28575"/>
          </a:xfrm>
          <a:prstGeom prst="rect">
            <a:avLst/>
          </a:prstGeom>
          <a:solidFill>
            <a:srgbClr val="1A1917"/>
          </a:solidFill>
          <a:ln/>
        </p:spPr>
      </p:sp>
      <p:sp>
        <p:nvSpPr>
          <p:cNvPr id="13" name="Text 11"/>
          <p:cNvSpPr/>
          <p:nvPr/>
        </p:nvSpPr>
        <p:spPr>
          <a:xfrm>
            <a:off x="10505926" y="2429917"/>
            <a:ext cx="7034461" cy="319088"/>
          </a:xfrm>
          <a:prstGeom prst="rect">
            <a:avLst/>
          </a:prstGeom>
          <a:noFill/>
          <a:ln/>
        </p:spPr>
        <p:txBody>
          <a:bodyPr wrap="square" lIns="25400" tIns="25400" rIns="25400" bIns="25400" rtlCol="0" anchor="ctr">
            <a:normAutofit/>
          </a:bodyPr>
          <a:lstStyle/>
          <a:p>
            <a:pPr algn="l" indent="0" marL="0">
              <a:buNone/>
            </a:pPr>
            <a:r>
              <a:rPr lang="en-US" sz="2025" b="1" dirty="0">
                <a:solidFill>
                  <a:srgbClr val="6B6862"/>
                </a:solidFill>
                <a:latin typeface="Arial" pitchFamily="34" charset="0"/>
                <a:ea typeface="Arial" pitchFamily="34" charset="-122"/>
                <a:cs typeface="Arial" pitchFamily="34" charset="-120"/>
              </a:rPr>
              <a:t>Mechanism</a:t>
            </a:r>
            <a:endParaRPr lang="en-US" sz="2025" dirty="0"/>
          </a:p>
        </p:txBody>
      </p:sp>
      <p:sp>
        <p:nvSpPr>
          <p:cNvPr id="14" name="Shape 12"/>
          <p:cNvSpPr/>
          <p:nvPr/>
        </p:nvSpPr>
        <p:spPr>
          <a:xfrm>
            <a:off x="952500" y="3539579"/>
            <a:ext cx="952500" cy="9525"/>
          </a:xfrm>
          <a:prstGeom prst="rect">
            <a:avLst/>
          </a:prstGeom>
          <a:solidFill>
            <a:srgbClr val="D8D4CD"/>
          </a:solidFill>
          <a:ln/>
        </p:spPr>
      </p:sp>
      <p:sp>
        <p:nvSpPr>
          <p:cNvPr id="15" name="Text 13"/>
          <p:cNvSpPr/>
          <p:nvPr/>
        </p:nvSpPr>
        <p:spPr>
          <a:xfrm>
            <a:off x="952500" y="3034754"/>
            <a:ext cx="838200" cy="38100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E2</a:t>
            </a:r>
            <a:endParaRPr lang="en-US" sz="2025" dirty="0"/>
          </a:p>
        </p:txBody>
      </p:sp>
      <p:sp>
        <p:nvSpPr>
          <p:cNvPr id="16" name="Shape 14"/>
          <p:cNvSpPr/>
          <p:nvPr/>
        </p:nvSpPr>
        <p:spPr>
          <a:xfrm>
            <a:off x="1905000" y="3539579"/>
            <a:ext cx="3778300" cy="9525"/>
          </a:xfrm>
          <a:prstGeom prst="rect">
            <a:avLst/>
          </a:prstGeom>
          <a:solidFill>
            <a:srgbClr val="D8D4CD"/>
          </a:solidFill>
          <a:ln/>
        </p:spPr>
      </p:sp>
      <p:sp>
        <p:nvSpPr>
          <p:cNvPr id="17" name="Text 15"/>
          <p:cNvSpPr/>
          <p:nvPr/>
        </p:nvSpPr>
        <p:spPr>
          <a:xfrm>
            <a:off x="1905000" y="3034754"/>
            <a:ext cx="3701149" cy="38100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toxic-bert</a:t>
            </a:r>
            <a:endParaRPr lang="en-US" sz="2025" dirty="0"/>
          </a:p>
        </p:txBody>
      </p:sp>
      <p:sp>
        <p:nvSpPr>
          <p:cNvPr id="18" name="Shape 16"/>
          <p:cNvSpPr/>
          <p:nvPr/>
        </p:nvSpPr>
        <p:spPr>
          <a:xfrm>
            <a:off x="5683300" y="3539579"/>
            <a:ext cx="3203377" cy="9525"/>
          </a:xfrm>
          <a:prstGeom prst="rect">
            <a:avLst/>
          </a:prstGeom>
          <a:solidFill>
            <a:srgbClr val="D8D4CD"/>
          </a:solidFill>
          <a:ln/>
        </p:spPr>
      </p:sp>
      <p:sp>
        <p:nvSpPr>
          <p:cNvPr id="19" name="Text 17"/>
          <p:cNvSpPr/>
          <p:nvPr/>
        </p:nvSpPr>
        <p:spPr>
          <a:xfrm>
            <a:off x="5683300" y="3034754"/>
            <a:ext cx="3108978" cy="38100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BERT encoder</a:t>
            </a:r>
            <a:endParaRPr lang="en-US" sz="2025" dirty="0"/>
          </a:p>
        </p:txBody>
      </p:sp>
      <p:sp>
        <p:nvSpPr>
          <p:cNvPr id="20" name="Shape 18"/>
          <p:cNvSpPr/>
          <p:nvPr/>
        </p:nvSpPr>
        <p:spPr>
          <a:xfrm>
            <a:off x="8886676" y="3539579"/>
            <a:ext cx="1619250" cy="9525"/>
          </a:xfrm>
          <a:prstGeom prst="rect">
            <a:avLst/>
          </a:prstGeom>
          <a:solidFill>
            <a:srgbClr val="D8D4CD"/>
          </a:solidFill>
          <a:ln/>
        </p:spPr>
      </p:sp>
      <p:sp>
        <p:nvSpPr>
          <p:cNvPr id="21" name="Text 19"/>
          <p:cNvSpPr/>
          <p:nvPr/>
        </p:nvSpPr>
        <p:spPr>
          <a:xfrm>
            <a:off x="8886676" y="3034754"/>
            <a:ext cx="1504950" cy="38100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109M</a:t>
            </a:r>
            <a:endParaRPr lang="en-US" sz="2025" dirty="0"/>
          </a:p>
        </p:txBody>
      </p:sp>
      <p:sp>
        <p:nvSpPr>
          <p:cNvPr id="22" name="Shape 20"/>
          <p:cNvSpPr/>
          <p:nvPr/>
        </p:nvSpPr>
        <p:spPr>
          <a:xfrm>
            <a:off x="10505926" y="3539579"/>
            <a:ext cx="6829574" cy="9525"/>
          </a:xfrm>
          <a:prstGeom prst="rect">
            <a:avLst/>
          </a:prstGeom>
          <a:solidFill>
            <a:srgbClr val="D8D4CD"/>
          </a:solidFill>
          <a:ln/>
        </p:spPr>
      </p:sp>
      <p:sp>
        <p:nvSpPr>
          <p:cNvPr id="23" name="Text 21"/>
          <p:cNvSpPr/>
          <p:nvPr/>
        </p:nvSpPr>
        <p:spPr>
          <a:xfrm>
            <a:off x="10505926" y="3034754"/>
            <a:ext cx="7034461" cy="381000"/>
          </a:xfrm>
          <a:prstGeom prst="rect">
            <a:avLst/>
          </a:prstGeom>
          <a:noFill/>
          <a:ln/>
        </p:spPr>
        <p:txBody>
          <a:bodyPr wrap="square" lIns="25400" tIns="25400" rIns="25400" bIns="25400" rtlCol="0" anchor="ctr">
            <a:normAutofit/>
          </a:bodyPr>
          <a:lstStyle/>
          <a:p>
            <a:pPr algn="l" indent="0" marL="0">
              <a:buNone/>
            </a:pPr>
            <a:r>
              <a:rPr lang="en-US" sz="2025" dirty="0">
                <a:solidFill>
                  <a:srgbClr val="4A4741"/>
                </a:solidFill>
                <a:latin typeface="Arial" pitchFamily="34" charset="0"/>
                <a:ea typeface="Arial" pitchFamily="34" charset="-122"/>
                <a:cs typeface="Arial" pitchFamily="34" charset="-120"/>
              </a:rPr>
              <a:t>Unitary, full Jigsaw · 6 sigmoid heads</a:t>
            </a:r>
            <a:endParaRPr lang="en-US" sz="2025" dirty="0"/>
          </a:p>
        </p:txBody>
      </p:sp>
      <p:sp>
        <p:nvSpPr>
          <p:cNvPr id="24" name="Shape 22"/>
          <p:cNvSpPr/>
          <p:nvPr/>
        </p:nvSpPr>
        <p:spPr>
          <a:xfrm>
            <a:off x="952500" y="4206329"/>
            <a:ext cx="952500" cy="9525"/>
          </a:xfrm>
          <a:prstGeom prst="rect">
            <a:avLst/>
          </a:prstGeom>
          <a:solidFill>
            <a:srgbClr val="D8D4CD"/>
          </a:solidFill>
          <a:ln/>
        </p:spPr>
      </p:sp>
      <p:sp>
        <p:nvSpPr>
          <p:cNvPr id="25" name="Text 23"/>
          <p:cNvSpPr/>
          <p:nvPr/>
        </p:nvSpPr>
        <p:spPr>
          <a:xfrm>
            <a:off x="952500" y="3711029"/>
            <a:ext cx="838200"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E1</a:t>
            </a:r>
            <a:endParaRPr lang="en-US" sz="2025" dirty="0"/>
          </a:p>
        </p:txBody>
      </p:sp>
      <p:sp>
        <p:nvSpPr>
          <p:cNvPr id="26" name="Shape 24"/>
          <p:cNvSpPr/>
          <p:nvPr/>
        </p:nvSpPr>
        <p:spPr>
          <a:xfrm>
            <a:off x="1905000" y="4206329"/>
            <a:ext cx="3778300" cy="9525"/>
          </a:xfrm>
          <a:prstGeom prst="rect">
            <a:avLst/>
          </a:prstGeom>
          <a:solidFill>
            <a:srgbClr val="D8D4CD"/>
          </a:solidFill>
          <a:ln/>
        </p:spPr>
      </p:sp>
      <p:sp>
        <p:nvSpPr>
          <p:cNvPr id="27" name="Text 25"/>
          <p:cNvSpPr/>
          <p:nvPr/>
        </p:nvSpPr>
        <p:spPr>
          <a:xfrm>
            <a:off x="1905000" y="3711029"/>
            <a:ext cx="370114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bert-base-classifier</a:t>
            </a:r>
            <a:endParaRPr lang="en-US" sz="2025" dirty="0"/>
          </a:p>
        </p:txBody>
      </p:sp>
      <p:sp>
        <p:nvSpPr>
          <p:cNvPr id="28" name="Shape 26"/>
          <p:cNvSpPr/>
          <p:nvPr/>
        </p:nvSpPr>
        <p:spPr>
          <a:xfrm>
            <a:off x="5683300" y="4206329"/>
            <a:ext cx="3203377" cy="9525"/>
          </a:xfrm>
          <a:prstGeom prst="rect">
            <a:avLst/>
          </a:prstGeom>
          <a:solidFill>
            <a:srgbClr val="D8D4CD"/>
          </a:solidFill>
          <a:ln/>
        </p:spPr>
      </p:sp>
      <p:sp>
        <p:nvSpPr>
          <p:cNvPr id="29" name="Text 27"/>
          <p:cNvSpPr/>
          <p:nvPr/>
        </p:nvSpPr>
        <p:spPr>
          <a:xfrm>
            <a:off x="5683300" y="3711029"/>
            <a:ext cx="310897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BERT encoder</a:t>
            </a:r>
            <a:endParaRPr lang="en-US" sz="2025" dirty="0"/>
          </a:p>
        </p:txBody>
      </p:sp>
      <p:sp>
        <p:nvSpPr>
          <p:cNvPr id="30" name="Shape 28"/>
          <p:cNvSpPr/>
          <p:nvPr/>
        </p:nvSpPr>
        <p:spPr>
          <a:xfrm>
            <a:off x="8886676" y="4206329"/>
            <a:ext cx="1619250" cy="9525"/>
          </a:xfrm>
          <a:prstGeom prst="rect">
            <a:avLst/>
          </a:prstGeom>
          <a:solidFill>
            <a:srgbClr val="D8D4CD"/>
          </a:solidFill>
          <a:ln/>
        </p:spPr>
      </p:sp>
      <p:sp>
        <p:nvSpPr>
          <p:cNvPr id="31" name="Text 29"/>
          <p:cNvSpPr/>
          <p:nvPr/>
        </p:nvSpPr>
        <p:spPr>
          <a:xfrm>
            <a:off x="8886676" y="3711029"/>
            <a:ext cx="1504950"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109M</a:t>
            </a:r>
            <a:endParaRPr lang="en-US" sz="2025" dirty="0"/>
          </a:p>
        </p:txBody>
      </p:sp>
      <p:sp>
        <p:nvSpPr>
          <p:cNvPr id="32" name="Shape 30"/>
          <p:cNvSpPr/>
          <p:nvPr/>
        </p:nvSpPr>
        <p:spPr>
          <a:xfrm>
            <a:off x="10505926" y="4206329"/>
            <a:ext cx="6829574" cy="9525"/>
          </a:xfrm>
          <a:prstGeom prst="rect">
            <a:avLst/>
          </a:prstGeom>
          <a:solidFill>
            <a:srgbClr val="D8D4CD"/>
          </a:solidFill>
          <a:ln/>
        </p:spPr>
      </p:sp>
      <p:sp>
        <p:nvSpPr>
          <p:cNvPr id="33" name="Text 31"/>
          <p:cNvSpPr/>
          <p:nvPr/>
        </p:nvSpPr>
        <p:spPr>
          <a:xfrm>
            <a:off x="10505926" y="3711029"/>
            <a:ext cx="7034461"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4A4741"/>
                </a:solidFill>
                <a:latin typeface="Arial" pitchFamily="34" charset="0"/>
                <a:ea typeface="Arial" pitchFamily="34" charset="-122"/>
                <a:cs typeface="Arial" pitchFamily="34" charset="-120"/>
              </a:rPr>
              <a:t>Ours: 12k rows, CPU · 1 sigmoid head</a:t>
            </a:r>
            <a:endParaRPr lang="en-US" sz="2025" dirty="0"/>
          </a:p>
        </p:txBody>
      </p:sp>
      <p:sp>
        <p:nvSpPr>
          <p:cNvPr id="34" name="Shape 32"/>
          <p:cNvSpPr/>
          <p:nvPr/>
        </p:nvSpPr>
        <p:spPr>
          <a:xfrm>
            <a:off x="952500" y="4873079"/>
            <a:ext cx="952500" cy="9525"/>
          </a:xfrm>
          <a:prstGeom prst="rect">
            <a:avLst/>
          </a:prstGeom>
          <a:solidFill>
            <a:srgbClr val="D8D4CD"/>
          </a:solidFill>
          <a:ln/>
        </p:spPr>
      </p:sp>
      <p:sp>
        <p:nvSpPr>
          <p:cNvPr id="35" name="Text 33"/>
          <p:cNvSpPr/>
          <p:nvPr/>
        </p:nvSpPr>
        <p:spPr>
          <a:xfrm>
            <a:off x="952500" y="4377779"/>
            <a:ext cx="838200"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E1-p</a:t>
            </a:r>
            <a:endParaRPr lang="en-US" sz="2025" dirty="0"/>
          </a:p>
        </p:txBody>
      </p:sp>
      <p:sp>
        <p:nvSpPr>
          <p:cNvPr id="36" name="Shape 34"/>
          <p:cNvSpPr/>
          <p:nvPr/>
        </p:nvSpPr>
        <p:spPr>
          <a:xfrm>
            <a:off x="1905000" y="4873079"/>
            <a:ext cx="3778300" cy="9525"/>
          </a:xfrm>
          <a:prstGeom prst="rect">
            <a:avLst/>
          </a:prstGeom>
          <a:solidFill>
            <a:srgbClr val="D8D4CD"/>
          </a:solidFill>
          <a:ln/>
        </p:spPr>
      </p:sp>
      <p:sp>
        <p:nvSpPr>
          <p:cNvPr id="37" name="Text 35"/>
          <p:cNvSpPr/>
          <p:nvPr/>
        </p:nvSpPr>
        <p:spPr>
          <a:xfrm>
            <a:off x="1905000" y="4377779"/>
            <a:ext cx="370114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bert-base-mlm-prompt</a:t>
            </a:r>
            <a:endParaRPr lang="en-US" sz="2025" dirty="0"/>
          </a:p>
        </p:txBody>
      </p:sp>
      <p:sp>
        <p:nvSpPr>
          <p:cNvPr id="38" name="Shape 36"/>
          <p:cNvSpPr/>
          <p:nvPr/>
        </p:nvSpPr>
        <p:spPr>
          <a:xfrm>
            <a:off x="5683300" y="4873079"/>
            <a:ext cx="3203377" cy="9525"/>
          </a:xfrm>
          <a:prstGeom prst="rect">
            <a:avLst/>
          </a:prstGeom>
          <a:solidFill>
            <a:srgbClr val="D8D4CD"/>
          </a:solidFill>
          <a:ln/>
        </p:spPr>
      </p:sp>
      <p:sp>
        <p:nvSpPr>
          <p:cNvPr id="39" name="Text 37"/>
          <p:cNvSpPr/>
          <p:nvPr/>
        </p:nvSpPr>
        <p:spPr>
          <a:xfrm>
            <a:off x="5683300" y="4377779"/>
            <a:ext cx="310897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BERT encoder, 0-shot</a:t>
            </a:r>
            <a:endParaRPr lang="en-US" sz="2025" dirty="0"/>
          </a:p>
        </p:txBody>
      </p:sp>
      <p:sp>
        <p:nvSpPr>
          <p:cNvPr id="40" name="Shape 38"/>
          <p:cNvSpPr/>
          <p:nvPr/>
        </p:nvSpPr>
        <p:spPr>
          <a:xfrm>
            <a:off x="8886676" y="4873079"/>
            <a:ext cx="1619250" cy="9525"/>
          </a:xfrm>
          <a:prstGeom prst="rect">
            <a:avLst/>
          </a:prstGeom>
          <a:solidFill>
            <a:srgbClr val="D8D4CD"/>
          </a:solidFill>
          <a:ln/>
        </p:spPr>
      </p:sp>
      <p:sp>
        <p:nvSpPr>
          <p:cNvPr id="41" name="Text 39"/>
          <p:cNvSpPr/>
          <p:nvPr/>
        </p:nvSpPr>
        <p:spPr>
          <a:xfrm>
            <a:off x="8886676" y="4377779"/>
            <a:ext cx="1504950"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109M</a:t>
            </a:r>
            <a:endParaRPr lang="en-US" sz="2025" dirty="0"/>
          </a:p>
        </p:txBody>
      </p:sp>
      <p:sp>
        <p:nvSpPr>
          <p:cNvPr id="42" name="Shape 40"/>
          <p:cNvSpPr/>
          <p:nvPr/>
        </p:nvSpPr>
        <p:spPr>
          <a:xfrm>
            <a:off x="10505926" y="4873079"/>
            <a:ext cx="6829574" cy="9525"/>
          </a:xfrm>
          <a:prstGeom prst="rect">
            <a:avLst/>
          </a:prstGeom>
          <a:solidFill>
            <a:srgbClr val="D8D4CD"/>
          </a:solidFill>
          <a:ln/>
        </p:spPr>
      </p:sp>
      <p:sp>
        <p:nvSpPr>
          <p:cNvPr id="43" name="Text 41"/>
          <p:cNvSpPr/>
          <p:nvPr/>
        </p:nvSpPr>
        <p:spPr>
          <a:xfrm>
            <a:off x="10505926" y="4377779"/>
            <a:ext cx="7034461"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4A4741"/>
                </a:solidFill>
                <a:latin typeface="Arial" pitchFamily="34" charset="0"/>
                <a:ea typeface="Arial" pitchFamily="34" charset="-122"/>
                <a:cs typeface="Arial" pitchFamily="34" charset="-120"/>
              </a:rPr>
              <a:t>Native MLM head, untrained</a:t>
            </a:r>
            <a:endParaRPr lang="en-US" sz="2025" dirty="0"/>
          </a:p>
        </p:txBody>
      </p:sp>
      <p:sp>
        <p:nvSpPr>
          <p:cNvPr id="44" name="Shape 42"/>
          <p:cNvSpPr/>
          <p:nvPr/>
        </p:nvSpPr>
        <p:spPr>
          <a:xfrm>
            <a:off x="952500" y="5539829"/>
            <a:ext cx="952500" cy="9525"/>
          </a:xfrm>
          <a:prstGeom prst="rect">
            <a:avLst/>
          </a:prstGeom>
          <a:solidFill>
            <a:srgbClr val="D8D4CD"/>
          </a:solidFill>
          <a:ln/>
        </p:spPr>
      </p:sp>
      <p:sp>
        <p:nvSpPr>
          <p:cNvPr id="45" name="Text 43"/>
          <p:cNvSpPr/>
          <p:nvPr/>
        </p:nvSpPr>
        <p:spPr>
          <a:xfrm>
            <a:off x="952500" y="5044529"/>
            <a:ext cx="838200"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E0</a:t>
            </a:r>
            <a:endParaRPr lang="en-US" sz="2025" dirty="0"/>
          </a:p>
        </p:txBody>
      </p:sp>
      <p:sp>
        <p:nvSpPr>
          <p:cNvPr id="46" name="Shape 44"/>
          <p:cNvSpPr/>
          <p:nvPr/>
        </p:nvSpPr>
        <p:spPr>
          <a:xfrm>
            <a:off x="1905000" y="5539829"/>
            <a:ext cx="3778300" cy="9525"/>
          </a:xfrm>
          <a:prstGeom prst="rect">
            <a:avLst/>
          </a:prstGeom>
          <a:solidFill>
            <a:srgbClr val="D8D4CD"/>
          </a:solidFill>
          <a:ln/>
        </p:spPr>
      </p:sp>
      <p:sp>
        <p:nvSpPr>
          <p:cNvPr id="47" name="Text 45"/>
          <p:cNvSpPr/>
          <p:nvPr/>
        </p:nvSpPr>
        <p:spPr>
          <a:xfrm>
            <a:off x="1905000" y="5044529"/>
            <a:ext cx="370114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tfidf-svm</a:t>
            </a:r>
            <a:endParaRPr lang="en-US" sz="2025" dirty="0"/>
          </a:p>
        </p:txBody>
      </p:sp>
      <p:sp>
        <p:nvSpPr>
          <p:cNvPr id="48" name="Shape 46"/>
          <p:cNvSpPr/>
          <p:nvPr/>
        </p:nvSpPr>
        <p:spPr>
          <a:xfrm>
            <a:off x="5683300" y="5539829"/>
            <a:ext cx="3203377" cy="9525"/>
          </a:xfrm>
          <a:prstGeom prst="rect">
            <a:avLst/>
          </a:prstGeom>
          <a:solidFill>
            <a:srgbClr val="D8D4CD"/>
          </a:solidFill>
          <a:ln/>
        </p:spPr>
      </p:sp>
      <p:sp>
        <p:nvSpPr>
          <p:cNvPr id="49" name="Text 47"/>
          <p:cNvSpPr/>
          <p:nvPr/>
        </p:nvSpPr>
        <p:spPr>
          <a:xfrm>
            <a:off x="5683300" y="5044529"/>
            <a:ext cx="310897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Non-neural</a:t>
            </a:r>
            <a:endParaRPr lang="en-US" sz="2025" dirty="0"/>
          </a:p>
        </p:txBody>
      </p:sp>
      <p:sp>
        <p:nvSpPr>
          <p:cNvPr id="50" name="Shape 48"/>
          <p:cNvSpPr/>
          <p:nvPr/>
        </p:nvSpPr>
        <p:spPr>
          <a:xfrm>
            <a:off x="8886676" y="5539829"/>
            <a:ext cx="1619250" cy="9525"/>
          </a:xfrm>
          <a:prstGeom prst="rect">
            <a:avLst/>
          </a:prstGeom>
          <a:solidFill>
            <a:srgbClr val="D8D4CD"/>
          </a:solidFill>
          <a:ln/>
        </p:spPr>
      </p:sp>
      <p:sp>
        <p:nvSpPr>
          <p:cNvPr id="51" name="Text 49"/>
          <p:cNvSpPr/>
          <p:nvPr/>
        </p:nvSpPr>
        <p:spPr>
          <a:xfrm>
            <a:off x="8886676" y="5044529"/>
            <a:ext cx="1504950"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~50k</a:t>
            </a:r>
            <a:endParaRPr lang="en-US" sz="2025" dirty="0"/>
          </a:p>
        </p:txBody>
      </p:sp>
      <p:sp>
        <p:nvSpPr>
          <p:cNvPr id="52" name="Shape 50"/>
          <p:cNvSpPr/>
          <p:nvPr/>
        </p:nvSpPr>
        <p:spPr>
          <a:xfrm>
            <a:off x="10505926" y="5539829"/>
            <a:ext cx="6829574" cy="9525"/>
          </a:xfrm>
          <a:prstGeom prst="rect">
            <a:avLst/>
          </a:prstGeom>
          <a:solidFill>
            <a:srgbClr val="D8D4CD"/>
          </a:solidFill>
          <a:ln/>
        </p:spPr>
      </p:sp>
      <p:sp>
        <p:nvSpPr>
          <p:cNvPr id="53" name="Text 51"/>
          <p:cNvSpPr/>
          <p:nvPr/>
        </p:nvSpPr>
        <p:spPr>
          <a:xfrm>
            <a:off x="10505926" y="5044529"/>
            <a:ext cx="7034461"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4A4741"/>
                </a:solidFill>
                <a:latin typeface="Arial" pitchFamily="34" charset="0"/>
                <a:ea typeface="Arial" pitchFamily="34" charset="-122"/>
                <a:cs typeface="Arial" pitchFamily="34" charset="-120"/>
              </a:rPr>
              <a:t>TF-IDF + calibrated LinearSVC</a:t>
            </a:r>
            <a:endParaRPr lang="en-US" sz="2025" dirty="0"/>
          </a:p>
        </p:txBody>
      </p:sp>
      <p:sp>
        <p:nvSpPr>
          <p:cNvPr id="54" name="Shape 52"/>
          <p:cNvSpPr/>
          <p:nvPr/>
        </p:nvSpPr>
        <p:spPr>
          <a:xfrm>
            <a:off x="952500" y="6539954"/>
            <a:ext cx="952500" cy="9525"/>
          </a:xfrm>
          <a:prstGeom prst="rect">
            <a:avLst/>
          </a:prstGeom>
          <a:solidFill>
            <a:srgbClr val="D8D4CD"/>
          </a:solidFill>
          <a:ln/>
        </p:spPr>
      </p:sp>
      <p:sp>
        <p:nvSpPr>
          <p:cNvPr id="55" name="Text 53"/>
          <p:cNvSpPr/>
          <p:nvPr/>
        </p:nvSpPr>
        <p:spPr>
          <a:xfrm>
            <a:off x="952500" y="5711279"/>
            <a:ext cx="838200" cy="70485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D1 / D2</a:t>
            </a:r>
            <a:endParaRPr lang="en-US" sz="2025" dirty="0"/>
          </a:p>
        </p:txBody>
      </p:sp>
      <p:sp>
        <p:nvSpPr>
          <p:cNvPr id="56" name="Shape 54"/>
          <p:cNvSpPr/>
          <p:nvPr/>
        </p:nvSpPr>
        <p:spPr>
          <a:xfrm>
            <a:off x="1905000" y="6539954"/>
            <a:ext cx="3778300" cy="9525"/>
          </a:xfrm>
          <a:prstGeom prst="rect">
            <a:avLst/>
          </a:prstGeom>
          <a:solidFill>
            <a:srgbClr val="D8D4CD"/>
          </a:solidFill>
          <a:ln/>
        </p:spPr>
      </p:sp>
      <p:sp>
        <p:nvSpPr>
          <p:cNvPr id="57" name="Text 55"/>
          <p:cNvSpPr/>
          <p:nvPr/>
        </p:nvSpPr>
        <p:spPr>
          <a:xfrm>
            <a:off x="1905000" y="5711279"/>
            <a:ext cx="3701149" cy="70485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distilgpt2-d1, -d2</a:t>
            </a:r>
            <a:endParaRPr lang="en-US" sz="2025" dirty="0"/>
          </a:p>
        </p:txBody>
      </p:sp>
      <p:sp>
        <p:nvSpPr>
          <p:cNvPr id="58" name="Shape 56"/>
          <p:cNvSpPr/>
          <p:nvPr/>
        </p:nvSpPr>
        <p:spPr>
          <a:xfrm>
            <a:off x="5683300" y="6539954"/>
            <a:ext cx="3203377" cy="9525"/>
          </a:xfrm>
          <a:prstGeom prst="rect">
            <a:avLst/>
          </a:prstGeom>
          <a:solidFill>
            <a:srgbClr val="D8D4CD"/>
          </a:solidFill>
          <a:ln/>
        </p:spPr>
      </p:sp>
      <p:sp>
        <p:nvSpPr>
          <p:cNvPr id="59" name="Text 57"/>
          <p:cNvSpPr/>
          <p:nvPr/>
        </p:nvSpPr>
        <p:spPr>
          <a:xfrm>
            <a:off x="5683300" y="5711279"/>
            <a:ext cx="3108978" cy="70485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GPT-2 decoder, 0-shot</a:t>
            </a:r>
            <a:endParaRPr lang="en-US" sz="2025" dirty="0"/>
          </a:p>
        </p:txBody>
      </p:sp>
      <p:sp>
        <p:nvSpPr>
          <p:cNvPr id="60" name="Shape 58"/>
          <p:cNvSpPr/>
          <p:nvPr/>
        </p:nvSpPr>
        <p:spPr>
          <a:xfrm>
            <a:off x="8886676" y="6539954"/>
            <a:ext cx="1619250" cy="9525"/>
          </a:xfrm>
          <a:prstGeom prst="rect">
            <a:avLst/>
          </a:prstGeom>
          <a:solidFill>
            <a:srgbClr val="D8D4CD"/>
          </a:solidFill>
          <a:ln/>
        </p:spPr>
      </p:sp>
      <p:sp>
        <p:nvSpPr>
          <p:cNvPr id="61" name="Text 59"/>
          <p:cNvSpPr/>
          <p:nvPr/>
        </p:nvSpPr>
        <p:spPr>
          <a:xfrm>
            <a:off x="8886676" y="5711279"/>
            <a:ext cx="1504950" cy="70485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82M</a:t>
            </a:r>
            <a:endParaRPr lang="en-US" sz="2025" dirty="0"/>
          </a:p>
        </p:txBody>
      </p:sp>
      <p:sp>
        <p:nvSpPr>
          <p:cNvPr id="62" name="Shape 60"/>
          <p:cNvSpPr/>
          <p:nvPr/>
        </p:nvSpPr>
        <p:spPr>
          <a:xfrm>
            <a:off x="10505926" y="6539954"/>
            <a:ext cx="6829574" cy="9525"/>
          </a:xfrm>
          <a:prstGeom prst="rect">
            <a:avLst/>
          </a:prstGeom>
          <a:solidFill>
            <a:srgbClr val="D8D4CD"/>
          </a:solidFill>
          <a:ln/>
        </p:spPr>
      </p:sp>
      <p:sp>
        <p:nvSpPr>
          <p:cNvPr id="63" name="Text 61"/>
          <p:cNvSpPr/>
          <p:nvPr/>
        </p:nvSpPr>
        <p:spPr>
          <a:xfrm>
            <a:off x="10505926" y="5711279"/>
            <a:ext cx="7034461" cy="704850"/>
          </a:xfrm>
          <a:prstGeom prst="rect">
            <a:avLst/>
          </a:prstGeom>
          <a:noFill/>
          <a:ln/>
        </p:spPr>
        <p:txBody>
          <a:bodyPr wrap="square" lIns="25400" tIns="25400" rIns="25400" bIns="25400" rtlCol="0" anchor="ctr">
            <a:normAutofit/>
          </a:bodyPr>
          <a:lstStyle/>
          <a:p>
            <a:pPr algn="l" indent="0" marL="0">
              <a:buNone/>
            </a:pPr>
            <a:r>
              <a:rPr lang="en-US" sz="2025" dirty="0">
                <a:solidFill>
                  <a:srgbClr val="4A4741"/>
                </a:solidFill>
                <a:latin typeface="Arial" pitchFamily="34" charset="0"/>
                <a:ea typeface="Arial" pitchFamily="34" charset="-122"/>
                <a:cs typeface="Arial" pitchFamily="34" charset="-120"/>
              </a:rPr>
              <a:t>Yes/no vs. fill-in-blank prompt · log-prob comparison</a:t>
            </a:r>
            <a:endParaRPr lang="en-US" sz="2025" dirty="0"/>
          </a:p>
        </p:txBody>
      </p:sp>
      <p:sp>
        <p:nvSpPr>
          <p:cNvPr id="64" name="Shape 62"/>
          <p:cNvSpPr/>
          <p:nvPr/>
        </p:nvSpPr>
        <p:spPr>
          <a:xfrm>
            <a:off x="952500" y="7540079"/>
            <a:ext cx="952500" cy="9525"/>
          </a:xfrm>
          <a:prstGeom prst="rect">
            <a:avLst/>
          </a:prstGeom>
          <a:solidFill>
            <a:srgbClr val="D8D4CD"/>
          </a:solidFill>
          <a:ln/>
        </p:spPr>
      </p:sp>
      <p:sp>
        <p:nvSpPr>
          <p:cNvPr id="65" name="Text 63"/>
          <p:cNvSpPr/>
          <p:nvPr/>
        </p:nvSpPr>
        <p:spPr>
          <a:xfrm>
            <a:off x="952500" y="6711404"/>
            <a:ext cx="838200" cy="70485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D1-ft</a:t>
            </a:r>
            <a:endParaRPr lang="en-US" sz="2025" dirty="0"/>
          </a:p>
        </p:txBody>
      </p:sp>
      <p:sp>
        <p:nvSpPr>
          <p:cNvPr id="66" name="Shape 64"/>
          <p:cNvSpPr/>
          <p:nvPr/>
        </p:nvSpPr>
        <p:spPr>
          <a:xfrm>
            <a:off x="1905000" y="7540079"/>
            <a:ext cx="3778300" cy="9525"/>
          </a:xfrm>
          <a:prstGeom prst="rect">
            <a:avLst/>
          </a:prstGeom>
          <a:solidFill>
            <a:srgbClr val="D8D4CD"/>
          </a:solidFill>
          <a:ln/>
        </p:spPr>
      </p:sp>
      <p:sp>
        <p:nvSpPr>
          <p:cNvPr id="67" name="Text 65"/>
          <p:cNvSpPr/>
          <p:nvPr/>
        </p:nvSpPr>
        <p:spPr>
          <a:xfrm>
            <a:off x="1905000" y="6711404"/>
            <a:ext cx="3701149" cy="70485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distilgpt2-d1-ft</a:t>
            </a:r>
            <a:endParaRPr lang="en-US" sz="2025" dirty="0"/>
          </a:p>
        </p:txBody>
      </p:sp>
      <p:sp>
        <p:nvSpPr>
          <p:cNvPr id="68" name="Shape 66"/>
          <p:cNvSpPr/>
          <p:nvPr/>
        </p:nvSpPr>
        <p:spPr>
          <a:xfrm>
            <a:off x="5683300" y="7540079"/>
            <a:ext cx="3203377" cy="9525"/>
          </a:xfrm>
          <a:prstGeom prst="rect">
            <a:avLst/>
          </a:prstGeom>
          <a:solidFill>
            <a:srgbClr val="D8D4CD"/>
          </a:solidFill>
          <a:ln/>
        </p:spPr>
      </p:sp>
      <p:sp>
        <p:nvSpPr>
          <p:cNvPr id="69" name="Text 67"/>
          <p:cNvSpPr/>
          <p:nvPr/>
        </p:nvSpPr>
        <p:spPr>
          <a:xfrm>
            <a:off x="5683300" y="6711404"/>
            <a:ext cx="3108978" cy="70485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GPT-2 decoder</a:t>
            </a:r>
            <a:endParaRPr lang="en-US" sz="2025" dirty="0"/>
          </a:p>
        </p:txBody>
      </p:sp>
      <p:sp>
        <p:nvSpPr>
          <p:cNvPr id="70" name="Shape 68"/>
          <p:cNvSpPr/>
          <p:nvPr/>
        </p:nvSpPr>
        <p:spPr>
          <a:xfrm>
            <a:off x="8886676" y="7540079"/>
            <a:ext cx="1619250" cy="9525"/>
          </a:xfrm>
          <a:prstGeom prst="rect">
            <a:avLst/>
          </a:prstGeom>
          <a:solidFill>
            <a:srgbClr val="D8D4CD"/>
          </a:solidFill>
          <a:ln/>
        </p:spPr>
      </p:sp>
      <p:sp>
        <p:nvSpPr>
          <p:cNvPr id="71" name="Text 69"/>
          <p:cNvSpPr/>
          <p:nvPr/>
        </p:nvSpPr>
        <p:spPr>
          <a:xfrm>
            <a:off x="8886676" y="6711404"/>
            <a:ext cx="1504950" cy="70485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82M</a:t>
            </a:r>
            <a:endParaRPr lang="en-US" sz="2025" dirty="0"/>
          </a:p>
        </p:txBody>
      </p:sp>
      <p:sp>
        <p:nvSpPr>
          <p:cNvPr id="72" name="Shape 70"/>
          <p:cNvSpPr/>
          <p:nvPr/>
        </p:nvSpPr>
        <p:spPr>
          <a:xfrm>
            <a:off x="10505926" y="7540079"/>
            <a:ext cx="6829574" cy="9525"/>
          </a:xfrm>
          <a:prstGeom prst="rect">
            <a:avLst/>
          </a:prstGeom>
          <a:solidFill>
            <a:srgbClr val="D8D4CD"/>
          </a:solidFill>
          <a:ln/>
        </p:spPr>
      </p:sp>
      <p:sp>
        <p:nvSpPr>
          <p:cNvPr id="73" name="Text 71"/>
          <p:cNvSpPr/>
          <p:nvPr/>
        </p:nvSpPr>
        <p:spPr>
          <a:xfrm>
            <a:off x="10505926" y="6711404"/>
            <a:ext cx="7034461" cy="704850"/>
          </a:xfrm>
          <a:prstGeom prst="rect">
            <a:avLst/>
          </a:prstGeom>
          <a:noFill/>
          <a:ln/>
        </p:spPr>
        <p:txBody>
          <a:bodyPr wrap="square" lIns="25400" tIns="25400" rIns="25400" bIns="25400" rtlCol="0" anchor="ctr">
            <a:normAutofit/>
          </a:bodyPr>
          <a:lstStyle/>
          <a:p>
            <a:pPr algn="l" indent="0" marL="0">
              <a:buNone/>
            </a:pPr>
            <a:r>
              <a:rPr lang="en-US" sz="2025" dirty="0">
                <a:solidFill>
                  <a:srgbClr val="4A4741"/>
                </a:solidFill>
                <a:latin typeface="Arial" pitchFamily="34" charset="0"/>
                <a:ea typeface="Arial" pitchFamily="34" charset="-122"/>
                <a:cs typeface="Arial" pitchFamily="34" charset="-120"/>
              </a:rPr>
              <a:t>D1 fine-tuned on answer tokens, 20k / 4 ep.</a:t>
            </a:r>
            <a:endParaRPr lang="en-US" sz="2025" dirty="0"/>
          </a:p>
        </p:txBody>
      </p:sp>
      <p:sp>
        <p:nvSpPr>
          <p:cNvPr id="74" name="Shape 72"/>
          <p:cNvSpPr/>
          <p:nvPr/>
        </p:nvSpPr>
        <p:spPr>
          <a:xfrm>
            <a:off x="952500" y="8206829"/>
            <a:ext cx="952500" cy="9525"/>
          </a:xfrm>
          <a:prstGeom prst="rect">
            <a:avLst/>
          </a:prstGeom>
          <a:solidFill>
            <a:srgbClr val="D8D4CD"/>
          </a:solidFill>
          <a:ln/>
        </p:spPr>
      </p:sp>
      <p:sp>
        <p:nvSpPr>
          <p:cNvPr id="75" name="Text 73"/>
          <p:cNvSpPr/>
          <p:nvPr/>
        </p:nvSpPr>
        <p:spPr>
          <a:xfrm>
            <a:off x="952500" y="7711529"/>
            <a:ext cx="838200"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S1</a:t>
            </a:r>
            <a:endParaRPr lang="en-US" sz="2025" dirty="0"/>
          </a:p>
        </p:txBody>
      </p:sp>
      <p:sp>
        <p:nvSpPr>
          <p:cNvPr id="76" name="Shape 74"/>
          <p:cNvSpPr/>
          <p:nvPr/>
        </p:nvSpPr>
        <p:spPr>
          <a:xfrm>
            <a:off x="1905000" y="8206829"/>
            <a:ext cx="3778300" cy="9525"/>
          </a:xfrm>
          <a:prstGeom prst="rect">
            <a:avLst/>
          </a:prstGeom>
          <a:solidFill>
            <a:srgbClr val="D8D4CD"/>
          </a:solidFill>
          <a:ln/>
        </p:spPr>
      </p:sp>
      <p:sp>
        <p:nvSpPr>
          <p:cNvPr id="77" name="Text 75"/>
          <p:cNvSpPr/>
          <p:nvPr/>
        </p:nvSpPr>
        <p:spPr>
          <a:xfrm>
            <a:off x="1905000" y="7711529"/>
            <a:ext cx="370114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distilbert-student</a:t>
            </a:r>
            <a:endParaRPr lang="en-US" sz="2025" dirty="0"/>
          </a:p>
        </p:txBody>
      </p:sp>
      <p:sp>
        <p:nvSpPr>
          <p:cNvPr id="78" name="Shape 76"/>
          <p:cNvSpPr/>
          <p:nvPr/>
        </p:nvSpPr>
        <p:spPr>
          <a:xfrm>
            <a:off x="5683300" y="8206829"/>
            <a:ext cx="3203377" cy="9525"/>
          </a:xfrm>
          <a:prstGeom prst="rect">
            <a:avLst/>
          </a:prstGeom>
          <a:solidFill>
            <a:srgbClr val="D8D4CD"/>
          </a:solidFill>
          <a:ln/>
        </p:spPr>
      </p:sp>
      <p:sp>
        <p:nvSpPr>
          <p:cNvPr id="79" name="Text 77"/>
          <p:cNvSpPr/>
          <p:nvPr/>
        </p:nvSpPr>
        <p:spPr>
          <a:xfrm>
            <a:off x="5683300" y="7711529"/>
            <a:ext cx="310897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DistilBERT</a:t>
            </a:r>
            <a:endParaRPr lang="en-US" sz="2025" dirty="0"/>
          </a:p>
        </p:txBody>
      </p:sp>
      <p:sp>
        <p:nvSpPr>
          <p:cNvPr id="80" name="Shape 78"/>
          <p:cNvSpPr/>
          <p:nvPr/>
        </p:nvSpPr>
        <p:spPr>
          <a:xfrm>
            <a:off x="8886676" y="8206829"/>
            <a:ext cx="1619250" cy="9525"/>
          </a:xfrm>
          <a:prstGeom prst="rect">
            <a:avLst/>
          </a:prstGeom>
          <a:solidFill>
            <a:srgbClr val="D8D4CD"/>
          </a:solidFill>
          <a:ln/>
        </p:spPr>
      </p:sp>
      <p:sp>
        <p:nvSpPr>
          <p:cNvPr id="81" name="Text 79"/>
          <p:cNvSpPr/>
          <p:nvPr/>
        </p:nvSpPr>
        <p:spPr>
          <a:xfrm>
            <a:off x="8886676" y="7711529"/>
            <a:ext cx="1504950"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67M</a:t>
            </a:r>
            <a:endParaRPr lang="en-US" sz="2025" dirty="0"/>
          </a:p>
        </p:txBody>
      </p:sp>
      <p:sp>
        <p:nvSpPr>
          <p:cNvPr id="82" name="Shape 80"/>
          <p:cNvSpPr/>
          <p:nvPr/>
        </p:nvSpPr>
        <p:spPr>
          <a:xfrm>
            <a:off x="10505926" y="8206829"/>
            <a:ext cx="6829574" cy="9525"/>
          </a:xfrm>
          <a:prstGeom prst="rect">
            <a:avLst/>
          </a:prstGeom>
          <a:solidFill>
            <a:srgbClr val="D8D4CD"/>
          </a:solidFill>
          <a:ln/>
        </p:spPr>
      </p:sp>
      <p:sp>
        <p:nvSpPr>
          <p:cNvPr id="83" name="Text 81"/>
          <p:cNvSpPr/>
          <p:nvPr/>
        </p:nvSpPr>
        <p:spPr>
          <a:xfrm>
            <a:off x="10505926" y="7711529"/>
            <a:ext cx="7034461"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4A4741"/>
                </a:solidFill>
                <a:latin typeface="Arial" pitchFamily="34" charset="0"/>
                <a:ea typeface="Arial" pitchFamily="34" charset="-122"/>
                <a:cs typeface="Arial" pitchFamily="34" charset="-120"/>
              </a:rPr>
              <a:t>Soft-KD from E2 · T = 2, α = 0.7</a:t>
            </a:r>
            <a:endParaRPr lang="en-US" sz="2025" dirty="0"/>
          </a:p>
        </p:txBody>
      </p:sp>
      <p:sp>
        <p:nvSpPr>
          <p:cNvPr id="84" name="Shape 82"/>
          <p:cNvSpPr/>
          <p:nvPr/>
        </p:nvSpPr>
        <p:spPr>
          <a:xfrm>
            <a:off x="952500" y="8751689"/>
            <a:ext cx="38100" cy="773311"/>
          </a:xfrm>
          <a:prstGeom prst="rect">
            <a:avLst/>
          </a:prstGeom>
          <a:solidFill>
            <a:srgbClr val="00939A"/>
          </a:solidFill>
          <a:ln/>
        </p:spPr>
      </p:sp>
      <p:sp>
        <p:nvSpPr>
          <p:cNvPr id="85" name="Text 83"/>
          <p:cNvSpPr/>
          <p:nvPr/>
        </p:nvSpPr>
        <p:spPr>
          <a:xfrm>
            <a:off x="1238250" y="8751689"/>
            <a:ext cx="14724697" cy="811411"/>
          </a:xfrm>
          <a:prstGeom prst="rect">
            <a:avLst/>
          </a:prstGeom>
          <a:noFill/>
          <a:ln/>
        </p:spPr>
        <p:txBody>
          <a:bodyPr wrap="square" lIns="25400" tIns="25400" rIns="25400" bIns="25400" rtlCol="0" anchor="t">
            <a:normAutofit/>
          </a:bodyPr>
          <a:lstStyle/>
          <a:p>
            <a:pPr algn="l" indent="0" marL="0">
              <a:lnSpc>
                <a:spcPct val="126875"/>
              </a:lnSpc>
              <a:buNone/>
            </a:pPr>
            <a:r>
              <a:rPr lang="en-US" sz="2100" dirty="0">
                <a:solidFill>
                  <a:srgbClr val="4A4741"/>
                </a:solidFill>
                <a:latin typeface="Arial" pitchFamily="34" charset="0"/>
                <a:ea typeface="Arial" pitchFamily="34" charset="-122"/>
                <a:cs typeface="Arial" pitchFamily="34" charset="-120"/>
              </a:rPr>
              <a:t>E1 and E1-p are the same pretrained checkpoint used two ways. They share every weight, so the read-out mechanism is the only variable a gap between them can be blamed on.</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F0"/>
        </a:solidFill>
      </p:bgPr>
    </p:bg>
    <p:spTree>
      <p:nvGrpSpPr>
        <p:cNvPr id="1" name=""/>
        <p:cNvGrpSpPr/>
        <p:nvPr/>
      </p:nvGrpSpPr>
      <p:grpSpPr>
        <a:xfrm>
          <a:off x="0" y="0"/>
          <a:ext cx="0" cy="0"/>
          <a:chOff x="0" y="0"/>
          <a:chExt cx="0" cy="0"/>
        </a:xfrm>
      </p:grpSpPr>
      <p:sp>
        <p:nvSpPr>
          <p:cNvPr id="2" name="Text 0"/>
          <p:cNvSpPr/>
          <p:nvPr/>
        </p:nvSpPr>
        <p:spPr>
          <a:xfrm>
            <a:off x="952500" y="857250"/>
            <a:ext cx="18021300" cy="304800"/>
          </a:xfrm>
          <a:prstGeom prst="rect">
            <a:avLst/>
          </a:prstGeom>
          <a:noFill/>
          <a:ln/>
        </p:spPr>
        <p:txBody>
          <a:bodyPr wrap="square" lIns="25400" tIns="25400" rIns="25400" bIns="25400" rtlCol="0" anchor="t">
            <a:normAutofit/>
          </a:bodyPr>
          <a:lstStyle/>
          <a:p>
            <a:pPr algn="l" indent="0" marL="0">
              <a:buNone/>
            </a:pPr>
            <a:r>
              <a:rPr lang="en-US" sz="1800" b="1" spc="288" kern="0" dirty="0">
                <a:solidFill>
                  <a:srgbClr val="8A857C"/>
                </a:solidFill>
                <a:latin typeface="Arial" pitchFamily="34" charset="0"/>
                <a:ea typeface="Arial" pitchFamily="34" charset="-122"/>
                <a:cs typeface="Arial" pitchFamily="34" charset="-120"/>
              </a:rPr>
              <a:t>EXPERIMENTAL CONTROL</a:t>
            </a:r>
            <a:endParaRPr lang="en-US" sz="1800" dirty="0"/>
          </a:p>
        </p:txBody>
      </p:sp>
      <p:sp>
        <p:nvSpPr>
          <p:cNvPr id="3" name="Text 1"/>
          <p:cNvSpPr/>
          <p:nvPr/>
        </p:nvSpPr>
        <p:spPr>
          <a:xfrm>
            <a:off x="952500" y="1333500"/>
            <a:ext cx="18021300" cy="696367"/>
          </a:xfrm>
          <a:prstGeom prst="rect">
            <a:avLst/>
          </a:prstGeom>
          <a:noFill/>
          <a:ln/>
        </p:spPr>
        <p:txBody>
          <a:bodyPr wrap="square" lIns="25400" tIns="25400" rIns="25400" bIns="25400" rtlCol="0" anchor="t">
            <a:normAutofit/>
          </a:bodyPr>
          <a:lstStyle/>
          <a:p>
            <a:pPr algn="l" indent="0" marL="0">
              <a:lnSpc>
                <a:spcPct val="94685"/>
              </a:lnSpc>
              <a:buNone/>
            </a:pPr>
            <a:r>
              <a:rPr lang="en-US" sz="4800" dirty="0">
                <a:solidFill>
                  <a:srgbClr val="1A1917"/>
                </a:solidFill>
                <a:latin typeface="Georgia" pitchFamily="34" charset="0"/>
                <a:ea typeface="Georgia" pitchFamily="34" charset="-122"/>
                <a:cs typeface="Georgia" pitchFamily="34" charset="-120"/>
              </a:rPr>
              <a:t>One checkpoint, three configurations</a:t>
            </a:r>
            <a:endParaRPr lang="en-US" sz="4800" dirty="0"/>
          </a:p>
        </p:txBody>
      </p:sp>
      <p:sp>
        <p:nvSpPr>
          <p:cNvPr id="4" name="Shape 2"/>
          <p:cNvSpPr/>
          <p:nvPr/>
        </p:nvSpPr>
        <p:spPr>
          <a:xfrm>
            <a:off x="952500" y="3091309"/>
            <a:ext cx="4457700" cy="1769566"/>
          </a:xfrm>
          <a:prstGeom prst="rect">
            <a:avLst/>
          </a:prstGeom>
          <a:solidFill>
            <a:srgbClr val="22211D"/>
          </a:solidFill>
          <a:ln/>
        </p:spPr>
      </p:sp>
      <p:sp>
        <p:nvSpPr>
          <p:cNvPr id="5" name="Text 3"/>
          <p:cNvSpPr/>
          <p:nvPr/>
        </p:nvSpPr>
        <p:spPr>
          <a:xfrm>
            <a:off x="1276350" y="3396109"/>
            <a:ext cx="4191000" cy="390525"/>
          </a:xfrm>
          <a:prstGeom prst="rect">
            <a:avLst/>
          </a:prstGeom>
          <a:noFill/>
          <a:ln/>
        </p:spPr>
        <p:txBody>
          <a:bodyPr wrap="square" lIns="25400" tIns="25400" rIns="25400" bIns="25400" rtlCol="0" anchor="t">
            <a:normAutofit/>
          </a:bodyPr>
          <a:lstStyle/>
          <a:p>
            <a:pPr algn="l" indent="0" marL="0">
              <a:buNone/>
            </a:pPr>
            <a:r>
              <a:rPr lang="en-US" sz="2100" dirty="0">
                <a:solidFill>
                  <a:srgbClr val="6AC9CE"/>
                </a:solidFill>
                <a:latin typeface="Courier New" pitchFamily="34" charset="0"/>
                <a:ea typeface="Courier New" pitchFamily="34" charset="-122"/>
                <a:cs typeface="Courier New" pitchFamily="34" charset="-120"/>
              </a:rPr>
              <a:t>bert-base-uncased</a:t>
            </a:r>
            <a:endParaRPr lang="en-US" sz="2100" dirty="0"/>
          </a:p>
        </p:txBody>
      </p:sp>
      <p:sp>
        <p:nvSpPr>
          <p:cNvPr id="6" name="Text 4"/>
          <p:cNvSpPr/>
          <p:nvPr/>
        </p:nvSpPr>
        <p:spPr>
          <a:xfrm>
            <a:off x="1276350" y="3862834"/>
            <a:ext cx="3924300" cy="731341"/>
          </a:xfrm>
          <a:prstGeom prst="rect">
            <a:avLst/>
          </a:prstGeom>
          <a:noFill/>
          <a:ln/>
        </p:spPr>
        <p:txBody>
          <a:bodyPr wrap="square" lIns="25400" tIns="25400" rIns="25400" bIns="25400" rtlCol="0" anchor="t">
            <a:normAutofit/>
          </a:bodyPr>
          <a:lstStyle/>
          <a:p>
            <a:pPr algn="l" indent="0" marL="0">
              <a:lnSpc>
                <a:spcPct val="117419"/>
              </a:lnSpc>
              <a:buNone/>
            </a:pPr>
            <a:r>
              <a:rPr lang="en-US" sz="1950" dirty="0">
                <a:solidFill>
                  <a:srgbClr val="CFCABF"/>
                </a:solidFill>
                <a:latin typeface="Arial" pitchFamily="34" charset="0"/>
                <a:ea typeface="Arial" pitchFamily="34" charset="-122"/>
                <a:cs typeface="Arial" pitchFamily="34" charset="-120"/>
              </a:rPr>
              <a:t>12 layers, 109M params, ships with an MLM head</a:t>
            </a:r>
            <a:endParaRPr lang="en-US" sz="1950" dirty="0"/>
          </a:p>
        </p:txBody>
      </p:sp>
      <p:sp>
        <p:nvSpPr>
          <p:cNvPr id="7" name="Shape 5"/>
          <p:cNvSpPr/>
          <p:nvPr/>
        </p:nvSpPr>
        <p:spPr>
          <a:xfrm>
            <a:off x="5695950" y="3961805"/>
            <a:ext cx="571500" cy="28575"/>
          </a:xfrm>
          <a:prstGeom prst="rect">
            <a:avLst/>
          </a:prstGeom>
          <a:solidFill>
            <a:srgbClr val="B8B3AA"/>
          </a:solidFill>
          <a:ln/>
        </p:spPr>
      </p:sp>
      <p:sp>
        <p:nvSpPr>
          <p:cNvPr id="8" name="Shape 6"/>
          <p:cNvSpPr/>
          <p:nvPr/>
        </p:nvSpPr>
        <p:spPr>
          <a:xfrm>
            <a:off x="6553200" y="2487067"/>
            <a:ext cx="3429000" cy="2978200"/>
          </a:xfrm>
          <a:prstGeom prst="rect">
            <a:avLst/>
          </a:prstGeom>
          <a:solidFill>
            <a:srgbClr val="EAE6E0"/>
          </a:solidFill>
          <a:ln/>
        </p:spPr>
      </p:sp>
      <p:sp>
        <p:nvSpPr>
          <p:cNvPr id="9" name="Shape 7"/>
          <p:cNvSpPr/>
          <p:nvPr/>
        </p:nvSpPr>
        <p:spPr>
          <a:xfrm>
            <a:off x="6553200" y="2487067"/>
            <a:ext cx="3429000" cy="47625"/>
          </a:xfrm>
          <a:prstGeom prst="rect">
            <a:avLst/>
          </a:prstGeom>
          <a:solidFill>
            <a:srgbClr val="B8B3AA"/>
          </a:solidFill>
          <a:ln/>
        </p:spPr>
      </p:sp>
      <p:sp>
        <p:nvSpPr>
          <p:cNvPr id="10" name="Text 8"/>
          <p:cNvSpPr/>
          <p:nvPr/>
        </p:nvSpPr>
        <p:spPr>
          <a:xfrm>
            <a:off x="6838950" y="2820442"/>
            <a:ext cx="31432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1A1917"/>
                </a:solidFill>
                <a:latin typeface="Courier New" pitchFamily="34" charset="0"/>
                <a:ea typeface="Courier New" pitchFamily="34" charset="-122"/>
                <a:cs typeface="Courier New" pitchFamily="34" charset="-120"/>
              </a:rPr>
              <a:t>E1-p</a:t>
            </a:r>
            <a:endParaRPr lang="en-US" sz="1950" dirty="0"/>
          </a:p>
        </p:txBody>
      </p:sp>
      <p:sp>
        <p:nvSpPr>
          <p:cNvPr id="11" name="Text 9"/>
          <p:cNvSpPr/>
          <p:nvPr/>
        </p:nvSpPr>
        <p:spPr>
          <a:xfrm>
            <a:off x="6838950" y="3277642"/>
            <a:ext cx="2943225" cy="728663"/>
          </a:xfrm>
          <a:prstGeom prst="rect">
            <a:avLst/>
          </a:prstGeom>
          <a:noFill/>
          <a:ln/>
        </p:spPr>
        <p:txBody>
          <a:bodyPr wrap="square" lIns="25400" tIns="25400" rIns="25400" bIns="25400" rtlCol="0" anchor="t">
            <a:normAutofit/>
          </a:bodyPr>
          <a:lstStyle/>
          <a:p>
            <a:pPr algn="l" indent="0" marL="0">
              <a:lnSpc>
                <a:spcPct val="109848"/>
              </a:lnSpc>
              <a:buNone/>
            </a:pPr>
            <a:r>
              <a:rPr lang="en-US" sz="2175" b="1" dirty="0">
                <a:solidFill>
                  <a:srgbClr val="1A1917"/>
                </a:solidFill>
                <a:latin typeface="Arial" pitchFamily="34" charset="0"/>
                <a:ea typeface="Arial" pitchFamily="34" charset="-122"/>
                <a:cs typeface="Arial" pitchFamily="34" charset="-120"/>
              </a:rPr>
              <a:t>Keep the MLM head, train nothing</a:t>
            </a:r>
            <a:endParaRPr lang="en-US" sz="2175" dirty="0"/>
          </a:p>
        </p:txBody>
      </p:sp>
      <p:sp>
        <p:nvSpPr>
          <p:cNvPr id="12" name="Text 10"/>
          <p:cNvSpPr/>
          <p:nvPr/>
        </p:nvSpPr>
        <p:spPr>
          <a:xfrm>
            <a:off x="6838950" y="4101554"/>
            <a:ext cx="2943225" cy="1077962"/>
          </a:xfrm>
          <a:prstGeom prst="rect">
            <a:avLst/>
          </a:prstGeom>
          <a:noFill/>
          <a:ln/>
        </p:spPr>
        <p:txBody>
          <a:bodyPr wrap="square" lIns="25400" tIns="25400" rIns="25400" bIns="25400" rtlCol="0" anchor="t">
            <a:normAutofit/>
          </a:bodyPr>
          <a:lstStyle/>
          <a:p>
            <a:pPr algn="l" indent="0" marL="0">
              <a:lnSpc>
                <a:spcPct val="117419"/>
              </a:lnSpc>
              <a:buNone/>
            </a:pPr>
            <a:r>
              <a:rPr lang="en-US" sz="1950" dirty="0">
                <a:solidFill>
                  <a:srgbClr val="4A4741"/>
                </a:solidFill>
                <a:latin typeface="Arial" pitchFamily="34" charset="0"/>
                <a:ea typeface="Arial" pitchFamily="34" charset="-122"/>
                <a:cs typeface="Arial" pitchFamily="34" charset="-120"/>
              </a:rPr>
              <a:t>Zero-shot read-out over two vocabulary logits at a masked position.</a:t>
            </a:r>
            <a:endParaRPr lang="en-US" sz="1950" dirty="0"/>
          </a:p>
        </p:txBody>
      </p:sp>
      <p:sp>
        <p:nvSpPr>
          <p:cNvPr id="13" name="Shape 11"/>
          <p:cNvSpPr/>
          <p:nvPr/>
        </p:nvSpPr>
        <p:spPr>
          <a:xfrm>
            <a:off x="10229850" y="2487067"/>
            <a:ext cx="3429000" cy="2978200"/>
          </a:xfrm>
          <a:prstGeom prst="rect">
            <a:avLst/>
          </a:prstGeom>
          <a:solidFill>
            <a:srgbClr val="EAE6E0"/>
          </a:solidFill>
          <a:ln/>
        </p:spPr>
      </p:sp>
      <p:sp>
        <p:nvSpPr>
          <p:cNvPr id="14" name="Shape 12"/>
          <p:cNvSpPr/>
          <p:nvPr/>
        </p:nvSpPr>
        <p:spPr>
          <a:xfrm>
            <a:off x="10229850" y="2487067"/>
            <a:ext cx="3429000" cy="47625"/>
          </a:xfrm>
          <a:prstGeom prst="rect">
            <a:avLst/>
          </a:prstGeom>
          <a:solidFill>
            <a:srgbClr val="00939A"/>
          </a:solidFill>
          <a:ln/>
        </p:spPr>
      </p:sp>
      <p:sp>
        <p:nvSpPr>
          <p:cNvPr id="15" name="Text 13"/>
          <p:cNvSpPr/>
          <p:nvPr/>
        </p:nvSpPr>
        <p:spPr>
          <a:xfrm>
            <a:off x="10515600" y="2820442"/>
            <a:ext cx="31432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1A1917"/>
                </a:solidFill>
                <a:latin typeface="Courier New" pitchFamily="34" charset="0"/>
                <a:ea typeface="Courier New" pitchFamily="34" charset="-122"/>
                <a:cs typeface="Courier New" pitchFamily="34" charset="-120"/>
              </a:rPr>
              <a:t>E1</a:t>
            </a:r>
            <a:endParaRPr lang="en-US" sz="1950" dirty="0"/>
          </a:p>
        </p:txBody>
      </p:sp>
      <p:sp>
        <p:nvSpPr>
          <p:cNvPr id="16" name="Text 14"/>
          <p:cNvSpPr/>
          <p:nvPr/>
        </p:nvSpPr>
        <p:spPr>
          <a:xfrm>
            <a:off x="10515600" y="3277642"/>
            <a:ext cx="2943225" cy="1073944"/>
          </a:xfrm>
          <a:prstGeom prst="rect">
            <a:avLst/>
          </a:prstGeom>
          <a:noFill/>
          <a:ln/>
        </p:spPr>
        <p:txBody>
          <a:bodyPr wrap="square" lIns="25400" tIns="25400" rIns="25400" bIns="25400" rtlCol="0" anchor="t">
            <a:normAutofit/>
          </a:bodyPr>
          <a:lstStyle/>
          <a:p>
            <a:pPr algn="l" indent="0" marL="0">
              <a:lnSpc>
                <a:spcPct val="109848"/>
              </a:lnSpc>
              <a:buNone/>
            </a:pPr>
            <a:r>
              <a:rPr lang="en-US" sz="2175" b="1" dirty="0">
                <a:solidFill>
                  <a:srgbClr val="1A1917"/>
                </a:solidFill>
                <a:latin typeface="Arial" pitchFamily="34" charset="0"/>
                <a:ea typeface="Arial" pitchFamily="34" charset="-122"/>
                <a:cs typeface="Arial" pitchFamily="34" charset="-120"/>
              </a:rPr>
              <a:t>New classification head, fine-tune all weights</a:t>
            </a:r>
            <a:endParaRPr lang="en-US" sz="2175" dirty="0"/>
          </a:p>
        </p:txBody>
      </p:sp>
      <p:sp>
        <p:nvSpPr>
          <p:cNvPr id="17" name="Text 15"/>
          <p:cNvSpPr/>
          <p:nvPr/>
        </p:nvSpPr>
        <p:spPr>
          <a:xfrm>
            <a:off x="10515600" y="4446836"/>
            <a:ext cx="2943225" cy="731341"/>
          </a:xfrm>
          <a:prstGeom prst="rect">
            <a:avLst/>
          </a:prstGeom>
          <a:noFill/>
          <a:ln/>
        </p:spPr>
        <p:txBody>
          <a:bodyPr wrap="square" lIns="25400" tIns="25400" rIns="25400" bIns="25400" rtlCol="0" anchor="t">
            <a:normAutofit/>
          </a:bodyPr>
          <a:lstStyle/>
          <a:p>
            <a:pPr algn="l" indent="0" marL="0">
              <a:lnSpc>
                <a:spcPct val="117419"/>
              </a:lnSpc>
              <a:buNone/>
            </a:pPr>
            <a:r>
              <a:rPr lang="en-US" sz="1950" dirty="0">
                <a:solidFill>
                  <a:srgbClr val="4A4741"/>
                </a:solidFill>
                <a:latin typeface="Arial" pitchFamily="34" charset="0"/>
                <a:ea typeface="Arial" pitchFamily="34" charset="-122"/>
                <a:cs typeface="Arial" pitchFamily="34" charset="-120"/>
              </a:rPr>
              <a:t>Ours: 12k rows on CPU, one sigmoid output.</a:t>
            </a:r>
            <a:endParaRPr lang="en-US" sz="1950" dirty="0"/>
          </a:p>
        </p:txBody>
      </p:sp>
      <p:sp>
        <p:nvSpPr>
          <p:cNvPr id="18" name="Shape 16"/>
          <p:cNvSpPr/>
          <p:nvPr/>
        </p:nvSpPr>
        <p:spPr>
          <a:xfrm>
            <a:off x="13906500" y="2487067"/>
            <a:ext cx="3429000" cy="2978200"/>
          </a:xfrm>
          <a:prstGeom prst="rect">
            <a:avLst/>
          </a:prstGeom>
          <a:solidFill>
            <a:srgbClr val="EAE6E0"/>
          </a:solidFill>
          <a:ln/>
        </p:spPr>
      </p:sp>
      <p:sp>
        <p:nvSpPr>
          <p:cNvPr id="19" name="Shape 17"/>
          <p:cNvSpPr/>
          <p:nvPr/>
        </p:nvSpPr>
        <p:spPr>
          <a:xfrm>
            <a:off x="13906500" y="2487067"/>
            <a:ext cx="3429000" cy="47625"/>
          </a:xfrm>
          <a:prstGeom prst="rect">
            <a:avLst/>
          </a:prstGeom>
          <a:solidFill>
            <a:srgbClr val="B96365"/>
          </a:solidFill>
          <a:ln/>
        </p:spPr>
      </p:sp>
      <p:sp>
        <p:nvSpPr>
          <p:cNvPr id="20" name="Text 18"/>
          <p:cNvSpPr/>
          <p:nvPr/>
        </p:nvSpPr>
        <p:spPr>
          <a:xfrm>
            <a:off x="14192250" y="2820442"/>
            <a:ext cx="31432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1A1917"/>
                </a:solidFill>
                <a:latin typeface="Courier New" pitchFamily="34" charset="0"/>
                <a:ea typeface="Courier New" pitchFamily="34" charset="-122"/>
                <a:cs typeface="Courier New" pitchFamily="34" charset="-120"/>
              </a:rPr>
              <a:t>E2</a:t>
            </a:r>
            <a:endParaRPr lang="en-US" sz="1950" dirty="0"/>
          </a:p>
        </p:txBody>
      </p:sp>
      <p:sp>
        <p:nvSpPr>
          <p:cNvPr id="21" name="Text 19"/>
          <p:cNvSpPr/>
          <p:nvPr/>
        </p:nvSpPr>
        <p:spPr>
          <a:xfrm>
            <a:off x="14192250" y="3277642"/>
            <a:ext cx="2943225" cy="728663"/>
          </a:xfrm>
          <a:prstGeom prst="rect">
            <a:avLst/>
          </a:prstGeom>
          <a:noFill/>
          <a:ln/>
        </p:spPr>
        <p:txBody>
          <a:bodyPr wrap="square" lIns="25400" tIns="25400" rIns="25400" bIns="25400" rtlCol="0" anchor="t">
            <a:normAutofit/>
          </a:bodyPr>
          <a:lstStyle/>
          <a:p>
            <a:pPr algn="l" indent="0" marL="0">
              <a:lnSpc>
                <a:spcPct val="109848"/>
              </a:lnSpc>
              <a:buNone/>
            </a:pPr>
            <a:r>
              <a:rPr lang="en-US" sz="2175" b="1" dirty="0">
                <a:solidFill>
                  <a:srgbClr val="1A1917"/>
                </a:solidFill>
                <a:latin typeface="Arial" pitchFamily="34" charset="0"/>
                <a:ea typeface="Arial" pitchFamily="34" charset="-122"/>
                <a:cs typeface="Arial" pitchFamily="34" charset="-120"/>
              </a:rPr>
              <a:t>Same procedure at a different scale</a:t>
            </a:r>
            <a:endParaRPr lang="en-US" sz="2175" dirty="0"/>
          </a:p>
        </p:txBody>
      </p:sp>
      <p:sp>
        <p:nvSpPr>
          <p:cNvPr id="22" name="Text 20"/>
          <p:cNvSpPr/>
          <p:nvPr/>
        </p:nvSpPr>
        <p:spPr>
          <a:xfrm>
            <a:off x="14192250" y="4101554"/>
            <a:ext cx="2943225" cy="731341"/>
          </a:xfrm>
          <a:prstGeom prst="rect">
            <a:avLst/>
          </a:prstGeom>
          <a:noFill/>
          <a:ln/>
        </p:spPr>
        <p:txBody>
          <a:bodyPr wrap="square" lIns="25400" tIns="25400" rIns="25400" bIns="25400" rtlCol="0" anchor="t">
            <a:normAutofit/>
          </a:bodyPr>
          <a:lstStyle/>
          <a:p>
            <a:pPr algn="l" indent="0" marL="0">
              <a:lnSpc>
                <a:spcPct val="117419"/>
              </a:lnSpc>
              <a:buNone/>
            </a:pPr>
            <a:r>
              <a:rPr lang="en-US" sz="1950" dirty="0">
                <a:solidFill>
                  <a:srgbClr val="4A4741"/>
                </a:solidFill>
                <a:latin typeface="Arial" pitchFamily="34" charset="0"/>
                <a:ea typeface="Arial" pitchFamily="34" charset="-122"/>
                <a:cs typeface="Arial" pitchFamily="34" charset="-120"/>
              </a:rPr>
              <a:t>Unitary: 159k rows on GPU, six sigmoid outputs.</a:t>
            </a:r>
            <a:endParaRPr lang="en-US" sz="1950" dirty="0"/>
          </a:p>
        </p:txBody>
      </p:sp>
      <p:sp>
        <p:nvSpPr>
          <p:cNvPr id="23" name="Text 21"/>
          <p:cNvSpPr/>
          <p:nvPr/>
        </p:nvSpPr>
        <p:spPr>
          <a:xfrm>
            <a:off x="952500" y="8368903"/>
            <a:ext cx="5615940" cy="333375"/>
          </a:xfrm>
          <a:prstGeom prst="rect">
            <a:avLst/>
          </a:prstGeom>
          <a:noFill/>
          <a:ln/>
        </p:spPr>
        <p:txBody>
          <a:bodyPr wrap="square" lIns="25400" tIns="25400" rIns="25400" bIns="25400" rtlCol="0" anchor="t">
            <a:normAutofit/>
          </a:bodyPr>
          <a:lstStyle/>
          <a:p>
            <a:pPr algn="l" indent="0" marL="0">
              <a:buNone/>
            </a:pPr>
            <a:r>
              <a:rPr lang="en-US" sz="1950" b="1" spc="273" kern="0" dirty="0">
                <a:solidFill>
                  <a:srgbClr val="8A857C"/>
                </a:solidFill>
                <a:latin typeface="Arial" pitchFamily="34" charset="0"/>
                <a:ea typeface="Arial" pitchFamily="34" charset="-122"/>
                <a:cs typeface="Arial" pitchFamily="34" charset="-120"/>
              </a:rPr>
              <a:t>H1</a:t>
            </a:r>
            <a:endParaRPr lang="en-US" sz="1950" dirty="0"/>
          </a:p>
        </p:txBody>
      </p:sp>
      <p:sp>
        <p:nvSpPr>
          <p:cNvPr id="24" name="Text 22"/>
          <p:cNvSpPr/>
          <p:nvPr/>
        </p:nvSpPr>
        <p:spPr>
          <a:xfrm>
            <a:off x="952500" y="8778478"/>
            <a:ext cx="5258562" cy="784622"/>
          </a:xfrm>
          <a:prstGeom prst="rect">
            <a:avLst/>
          </a:prstGeom>
          <a:noFill/>
          <a:ln/>
        </p:spPr>
        <p:txBody>
          <a:bodyPr wrap="square" lIns="25400" tIns="25400" rIns="25400" bIns="25400" rtlCol="0" anchor="t">
            <a:normAutofit/>
          </a:bodyPr>
          <a:lstStyle/>
          <a:p>
            <a:pPr algn="l" indent="0" marL="0">
              <a:lnSpc>
                <a:spcPct val="122500"/>
              </a:lnSpc>
              <a:buNone/>
            </a:pPr>
            <a:r>
              <a:rPr lang="en-US" sz="2100" dirty="0">
                <a:solidFill>
                  <a:srgbClr val="1A1917"/>
                </a:solidFill>
                <a:latin typeface="Arial" pitchFamily="34" charset="0"/>
                <a:ea typeface="Arial" pitchFamily="34" charset="-122"/>
                <a:cs typeface="Arial" pitchFamily="34" charset="-120"/>
              </a:rPr>
              <a:t>Identity bias is learned from labeled task data.</a:t>
            </a:r>
            <a:endParaRPr lang="en-US" sz="2100" dirty="0"/>
          </a:p>
        </p:txBody>
      </p:sp>
      <p:sp>
        <p:nvSpPr>
          <p:cNvPr id="25" name="Text 23"/>
          <p:cNvSpPr/>
          <p:nvPr/>
        </p:nvSpPr>
        <p:spPr>
          <a:xfrm>
            <a:off x="6591300" y="8368903"/>
            <a:ext cx="5615940" cy="333375"/>
          </a:xfrm>
          <a:prstGeom prst="rect">
            <a:avLst/>
          </a:prstGeom>
          <a:noFill/>
          <a:ln/>
        </p:spPr>
        <p:txBody>
          <a:bodyPr wrap="square" lIns="25400" tIns="25400" rIns="25400" bIns="25400" rtlCol="0" anchor="t">
            <a:normAutofit/>
          </a:bodyPr>
          <a:lstStyle/>
          <a:p>
            <a:pPr algn="l" indent="0" marL="0">
              <a:buNone/>
            </a:pPr>
            <a:r>
              <a:rPr lang="en-US" sz="1950" b="1" spc="273" kern="0" dirty="0">
                <a:solidFill>
                  <a:srgbClr val="8A857C"/>
                </a:solidFill>
                <a:latin typeface="Arial" pitchFamily="34" charset="0"/>
                <a:ea typeface="Arial" pitchFamily="34" charset="-122"/>
                <a:cs typeface="Arial" pitchFamily="34" charset="-120"/>
              </a:rPr>
              <a:t>H2</a:t>
            </a:r>
            <a:endParaRPr lang="en-US" sz="1950" dirty="0"/>
          </a:p>
        </p:txBody>
      </p:sp>
      <p:sp>
        <p:nvSpPr>
          <p:cNvPr id="26" name="Text 24"/>
          <p:cNvSpPr/>
          <p:nvPr/>
        </p:nvSpPr>
        <p:spPr>
          <a:xfrm>
            <a:off x="6591300" y="8778478"/>
            <a:ext cx="5258562" cy="784622"/>
          </a:xfrm>
          <a:prstGeom prst="rect">
            <a:avLst/>
          </a:prstGeom>
          <a:noFill/>
          <a:ln/>
        </p:spPr>
        <p:txBody>
          <a:bodyPr wrap="square" lIns="25400" tIns="25400" rIns="25400" bIns="25400" rtlCol="0" anchor="t">
            <a:normAutofit/>
          </a:bodyPr>
          <a:lstStyle/>
          <a:p>
            <a:pPr algn="l" indent="0" marL="0">
              <a:lnSpc>
                <a:spcPct val="122500"/>
              </a:lnSpc>
              <a:buNone/>
            </a:pPr>
            <a:r>
              <a:rPr lang="en-US" sz="2100" dirty="0">
                <a:solidFill>
                  <a:srgbClr val="1A1917"/>
                </a:solidFill>
                <a:latin typeface="Arial" pitchFamily="34" charset="0"/>
                <a:ea typeface="Arial" pitchFamily="34" charset="-122"/>
                <a:cs typeface="Arial" pitchFamily="34" charset="-120"/>
              </a:rPr>
              <a:t>Distillation preserves accuracy but amplifies the teacher's bias.</a:t>
            </a:r>
            <a:endParaRPr lang="en-US" sz="2100" dirty="0"/>
          </a:p>
        </p:txBody>
      </p:sp>
      <p:sp>
        <p:nvSpPr>
          <p:cNvPr id="27" name="Text 25"/>
          <p:cNvSpPr/>
          <p:nvPr/>
        </p:nvSpPr>
        <p:spPr>
          <a:xfrm>
            <a:off x="12230100" y="8368903"/>
            <a:ext cx="5615940" cy="333375"/>
          </a:xfrm>
          <a:prstGeom prst="rect">
            <a:avLst/>
          </a:prstGeom>
          <a:noFill/>
          <a:ln/>
        </p:spPr>
        <p:txBody>
          <a:bodyPr wrap="square" lIns="25400" tIns="25400" rIns="25400" bIns="25400" rtlCol="0" anchor="t">
            <a:normAutofit/>
          </a:bodyPr>
          <a:lstStyle/>
          <a:p>
            <a:pPr algn="l" indent="0" marL="0">
              <a:buNone/>
            </a:pPr>
            <a:r>
              <a:rPr lang="en-US" sz="1950" b="1" spc="273" kern="0" dirty="0">
                <a:solidFill>
                  <a:srgbClr val="8A857C"/>
                </a:solidFill>
                <a:latin typeface="Arial" pitchFamily="34" charset="0"/>
                <a:ea typeface="Arial" pitchFamily="34" charset="-122"/>
                <a:cs typeface="Arial" pitchFamily="34" charset="-120"/>
              </a:rPr>
              <a:t>H3</a:t>
            </a:r>
            <a:endParaRPr lang="en-US" sz="1950" dirty="0"/>
          </a:p>
        </p:txBody>
      </p:sp>
      <p:sp>
        <p:nvSpPr>
          <p:cNvPr id="28" name="Text 26"/>
          <p:cNvSpPr/>
          <p:nvPr/>
        </p:nvSpPr>
        <p:spPr>
          <a:xfrm>
            <a:off x="12230100" y="8778478"/>
            <a:ext cx="5258562" cy="784622"/>
          </a:xfrm>
          <a:prstGeom prst="rect">
            <a:avLst/>
          </a:prstGeom>
          <a:noFill/>
          <a:ln/>
        </p:spPr>
        <p:txBody>
          <a:bodyPr wrap="square" lIns="25400" tIns="25400" rIns="25400" bIns="25400" rtlCol="0" anchor="t">
            <a:normAutofit/>
          </a:bodyPr>
          <a:lstStyle/>
          <a:p>
            <a:pPr algn="l" indent="0" marL="0">
              <a:lnSpc>
                <a:spcPct val="122500"/>
              </a:lnSpc>
              <a:buNone/>
            </a:pPr>
            <a:r>
              <a:rPr lang="en-US" sz="2100" dirty="0">
                <a:solidFill>
                  <a:srgbClr val="1A1917"/>
                </a:solidFill>
                <a:latin typeface="Arial" pitchFamily="34" charset="0"/>
                <a:ea typeface="Arial" pitchFamily="34" charset="-122"/>
                <a:cs typeface="Arial" pitchFamily="34" charset="-120"/>
              </a:rPr>
              <a:t>A trained discriminative head beats zero-shot prompting at this scale.</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2211D"/>
        </a:solidFill>
      </p:bgPr>
    </p:bg>
    <p:spTree>
      <p:nvGrpSpPr>
        <p:cNvPr id="1" name=""/>
        <p:cNvGrpSpPr/>
        <p:nvPr/>
      </p:nvGrpSpPr>
      <p:grpSpPr>
        <a:xfrm>
          <a:off x="0" y="0"/>
          <a:ext cx="0" cy="0"/>
          <a:chOff x="0" y="0"/>
          <a:chExt cx="0" cy="0"/>
        </a:xfrm>
      </p:grpSpPr>
      <p:sp>
        <p:nvSpPr>
          <p:cNvPr id="2" name="Text 0"/>
          <p:cNvSpPr/>
          <p:nvPr/>
        </p:nvSpPr>
        <p:spPr>
          <a:xfrm>
            <a:off x="952500" y="857250"/>
            <a:ext cx="18021300" cy="304800"/>
          </a:xfrm>
          <a:prstGeom prst="rect">
            <a:avLst/>
          </a:prstGeom>
          <a:noFill/>
          <a:ln/>
        </p:spPr>
        <p:txBody>
          <a:bodyPr wrap="square" lIns="25400" tIns="25400" rIns="25400" bIns="25400" rtlCol="0" anchor="t">
            <a:normAutofit/>
          </a:bodyPr>
          <a:lstStyle/>
          <a:p>
            <a:pPr algn="l" indent="0" marL="0">
              <a:buNone/>
            </a:pPr>
            <a:r>
              <a:rPr lang="en-US" sz="1800" b="1" spc="288" kern="0" dirty="0">
                <a:solidFill>
                  <a:srgbClr val="6AC9CE"/>
                </a:solidFill>
                <a:latin typeface="Arial" pitchFamily="34" charset="0"/>
                <a:ea typeface="Arial" pitchFamily="34" charset="-122"/>
                <a:cs typeface="Arial" pitchFamily="34" charset="-120"/>
              </a:rPr>
              <a:t>EXPERIMENTAL SETUP</a:t>
            </a:r>
            <a:endParaRPr lang="en-US" sz="1800" dirty="0"/>
          </a:p>
        </p:txBody>
      </p:sp>
      <p:sp>
        <p:nvSpPr>
          <p:cNvPr id="3" name="Text 1"/>
          <p:cNvSpPr/>
          <p:nvPr/>
        </p:nvSpPr>
        <p:spPr>
          <a:xfrm>
            <a:off x="952500" y="1333500"/>
            <a:ext cx="18021300" cy="696367"/>
          </a:xfrm>
          <a:prstGeom prst="rect">
            <a:avLst/>
          </a:prstGeom>
          <a:noFill/>
          <a:ln/>
        </p:spPr>
        <p:txBody>
          <a:bodyPr wrap="square" lIns="25400" tIns="25400" rIns="25400" bIns="25400" rtlCol="0" anchor="t">
            <a:normAutofit/>
          </a:bodyPr>
          <a:lstStyle/>
          <a:p>
            <a:pPr algn="l" indent="0" marL="0">
              <a:lnSpc>
                <a:spcPct val="94685"/>
              </a:lnSpc>
              <a:buNone/>
            </a:pPr>
            <a:r>
              <a:rPr lang="en-US" sz="4800" dirty="0">
                <a:solidFill>
                  <a:srgbClr val="F5F3F0"/>
                </a:solidFill>
                <a:latin typeface="Georgia" pitchFamily="34" charset="0"/>
                <a:ea typeface="Georgia" pitchFamily="34" charset="-122"/>
                <a:cs typeface="Georgia" pitchFamily="34" charset="-120"/>
              </a:rPr>
              <a:t>One interface, one subset, three probes</a:t>
            </a:r>
            <a:endParaRPr lang="en-US" sz="4800" dirty="0"/>
          </a:p>
        </p:txBody>
      </p:sp>
      <p:sp>
        <p:nvSpPr>
          <p:cNvPr id="4" name="Text 2"/>
          <p:cNvSpPr/>
          <p:nvPr/>
        </p:nvSpPr>
        <p:spPr>
          <a:xfrm>
            <a:off x="952500" y="2525167"/>
            <a:ext cx="4159568" cy="914400"/>
          </a:xfrm>
          <a:prstGeom prst="rect">
            <a:avLst/>
          </a:prstGeom>
          <a:noFill/>
          <a:ln/>
        </p:spPr>
        <p:txBody>
          <a:bodyPr wrap="square" lIns="25400" tIns="25400" rIns="25400" bIns="25400" rtlCol="0" anchor="t">
            <a:normAutofit/>
          </a:bodyPr>
          <a:lstStyle/>
          <a:p>
            <a:pPr algn="l" indent="0" marL="0">
              <a:buNone/>
            </a:pPr>
            <a:r>
              <a:rPr lang="en-US" sz="4500" dirty="0">
                <a:solidFill>
                  <a:srgbClr val="6AC9CE"/>
                </a:solidFill>
                <a:latin typeface="Georgia" pitchFamily="34" charset="0"/>
                <a:ea typeface="Georgia" pitchFamily="34" charset="-122"/>
                <a:cs typeface="Georgia" pitchFamily="34" charset="-120"/>
              </a:rPr>
              <a:t>159,571</a:t>
            </a:r>
            <a:endParaRPr lang="en-US" sz="4500" dirty="0"/>
          </a:p>
        </p:txBody>
      </p:sp>
      <p:sp>
        <p:nvSpPr>
          <p:cNvPr id="5" name="Text 3"/>
          <p:cNvSpPr/>
          <p:nvPr/>
        </p:nvSpPr>
        <p:spPr>
          <a:xfrm>
            <a:off x="952500" y="3515767"/>
            <a:ext cx="4159568" cy="384721"/>
          </a:xfrm>
          <a:prstGeom prst="rect">
            <a:avLst/>
          </a:prstGeom>
          <a:noFill/>
          <a:ln/>
        </p:spPr>
        <p:txBody>
          <a:bodyPr wrap="square" lIns="25400" tIns="25400" rIns="25400" bIns="25400" rtlCol="0" anchor="t">
            <a:normAutofit/>
          </a:bodyPr>
          <a:lstStyle/>
          <a:p>
            <a:pPr algn="l" indent="0" marL="0">
              <a:lnSpc>
                <a:spcPct val="117419"/>
              </a:lnSpc>
              <a:buNone/>
            </a:pPr>
            <a:r>
              <a:rPr lang="en-US" sz="1950" dirty="0">
                <a:solidFill>
                  <a:srgbClr val="CFCABF"/>
                </a:solidFill>
                <a:latin typeface="Arial" pitchFamily="34" charset="0"/>
                <a:ea typeface="Arial" pitchFamily="34" charset="-122"/>
                <a:cs typeface="Arial" pitchFamily="34" charset="-120"/>
              </a:rPr>
              <a:t>Jigsaw train rows, split 85 / 15</a:t>
            </a:r>
            <a:endParaRPr lang="en-US" sz="1950" dirty="0"/>
          </a:p>
        </p:txBody>
      </p:sp>
      <p:sp>
        <p:nvSpPr>
          <p:cNvPr id="6" name="Text 4"/>
          <p:cNvSpPr/>
          <p:nvPr/>
        </p:nvSpPr>
        <p:spPr>
          <a:xfrm>
            <a:off x="5153025" y="2525167"/>
            <a:ext cx="4159568" cy="914400"/>
          </a:xfrm>
          <a:prstGeom prst="rect">
            <a:avLst/>
          </a:prstGeom>
          <a:noFill/>
          <a:ln/>
        </p:spPr>
        <p:txBody>
          <a:bodyPr wrap="square" lIns="25400" tIns="25400" rIns="25400" bIns="25400" rtlCol="0" anchor="t">
            <a:normAutofit/>
          </a:bodyPr>
          <a:lstStyle/>
          <a:p>
            <a:pPr algn="l" indent="0" marL="0">
              <a:buNone/>
            </a:pPr>
            <a:r>
              <a:rPr lang="en-US" sz="4500" dirty="0">
                <a:solidFill>
                  <a:srgbClr val="6AC9CE"/>
                </a:solidFill>
                <a:latin typeface="Georgia" pitchFamily="34" charset="0"/>
                <a:ea typeface="Georgia" pitchFamily="34" charset="-122"/>
                <a:cs typeface="Georgia" pitchFamily="34" charset="-120"/>
              </a:rPr>
              <a:t>63,978</a:t>
            </a:r>
            <a:endParaRPr lang="en-US" sz="4500" dirty="0"/>
          </a:p>
        </p:txBody>
      </p:sp>
      <p:sp>
        <p:nvSpPr>
          <p:cNvPr id="7" name="Text 5"/>
          <p:cNvSpPr/>
          <p:nvPr/>
        </p:nvSpPr>
        <p:spPr>
          <a:xfrm>
            <a:off x="5153025" y="3515767"/>
            <a:ext cx="4159568" cy="384721"/>
          </a:xfrm>
          <a:prstGeom prst="rect">
            <a:avLst/>
          </a:prstGeom>
          <a:noFill/>
          <a:ln/>
        </p:spPr>
        <p:txBody>
          <a:bodyPr wrap="square" lIns="25400" tIns="25400" rIns="25400" bIns="25400" rtlCol="0" anchor="t">
            <a:normAutofit/>
          </a:bodyPr>
          <a:lstStyle/>
          <a:p>
            <a:pPr algn="l" indent="0" marL="0">
              <a:lnSpc>
                <a:spcPct val="117419"/>
              </a:lnSpc>
              <a:buNone/>
            </a:pPr>
            <a:r>
              <a:rPr lang="en-US" sz="1950" dirty="0">
                <a:solidFill>
                  <a:srgbClr val="CFCABF"/>
                </a:solidFill>
                <a:latin typeface="Arial" pitchFamily="34" charset="0"/>
                <a:ea typeface="Arial" pitchFamily="34" charset="-122"/>
                <a:cs typeface="Arial" pitchFamily="34" charset="-120"/>
              </a:rPr>
              <a:t>Labeled test rows available</a:t>
            </a:r>
            <a:endParaRPr lang="en-US" sz="1950" dirty="0"/>
          </a:p>
        </p:txBody>
      </p:sp>
      <p:sp>
        <p:nvSpPr>
          <p:cNvPr id="8" name="Text 6"/>
          <p:cNvSpPr/>
          <p:nvPr/>
        </p:nvSpPr>
        <p:spPr>
          <a:xfrm>
            <a:off x="9353550" y="2525167"/>
            <a:ext cx="4159568" cy="914400"/>
          </a:xfrm>
          <a:prstGeom prst="rect">
            <a:avLst/>
          </a:prstGeom>
          <a:noFill/>
          <a:ln/>
        </p:spPr>
        <p:txBody>
          <a:bodyPr wrap="square" lIns="25400" tIns="25400" rIns="25400" bIns="25400" rtlCol="0" anchor="t">
            <a:normAutofit/>
          </a:bodyPr>
          <a:lstStyle/>
          <a:p>
            <a:pPr algn="l" indent="0" marL="0">
              <a:buNone/>
            </a:pPr>
            <a:r>
              <a:rPr lang="en-US" sz="4500" dirty="0">
                <a:solidFill>
                  <a:srgbClr val="6AC9CE"/>
                </a:solidFill>
                <a:latin typeface="Georgia" pitchFamily="34" charset="0"/>
                <a:ea typeface="Georgia" pitchFamily="34" charset="-122"/>
                <a:cs typeface="Georgia" pitchFamily="34" charset="-120"/>
              </a:rPr>
              <a:t>800</a:t>
            </a:r>
            <a:endParaRPr lang="en-US" sz="4500" dirty="0"/>
          </a:p>
        </p:txBody>
      </p:sp>
      <p:sp>
        <p:nvSpPr>
          <p:cNvPr id="9" name="Text 7"/>
          <p:cNvSpPr/>
          <p:nvPr/>
        </p:nvSpPr>
        <p:spPr>
          <a:xfrm>
            <a:off x="9353550" y="3515767"/>
            <a:ext cx="3894868" cy="731341"/>
          </a:xfrm>
          <a:prstGeom prst="rect">
            <a:avLst/>
          </a:prstGeom>
          <a:noFill/>
          <a:ln/>
        </p:spPr>
        <p:txBody>
          <a:bodyPr wrap="square" lIns="25400" tIns="25400" rIns="25400" bIns="25400" rtlCol="0" anchor="t">
            <a:normAutofit/>
          </a:bodyPr>
          <a:lstStyle/>
          <a:p>
            <a:pPr algn="l" indent="0" marL="0">
              <a:lnSpc>
                <a:spcPct val="117419"/>
              </a:lnSpc>
              <a:buNone/>
            </a:pPr>
            <a:r>
              <a:rPr lang="en-US" sz="1950" dirty="0">
                <a:solidFill>
                  <a:srgbClr val="CFCABF"/>
                </a:solidFill>
                <a:latin typeface="Arial" pitchFamily="34" charset="0"/>
                <a:ea typeface="Arial" pitchFamily="34" charset="-122"/>
                <a:cs typeface="Arial" pitchFamily="34" charset="-120"/>
              </a:rPr>
              <a:t>Seeded headline subset, all models on CPU</a:t>
            </a:r>
            <a:endParaRPr lang="en-US" sz="1950" dirty="0"/>
          </a:p>
        </p:txBody>
      </p:sp>
      <p:sp>
        <p:nvSpPr>
          <p:cNvPr id="10" name="Text 8"/>
          <p:cNvSpPr/>
          <p:nvPr/>
        </p:nvSpPr>
        <p:spPr>
          <a:xfrm>
            <a:off x="13554075" y="2525167"/>
            <a:ext cx="4159568" cy="914400"/>
          </a:xfrm>
          <a:prstGeom prst="rect">
            <a:avLst/>
          </a:prstGeom>
          <a:noFill/>
          <a:ln/>
        </p:spPr>
        <p:txBody>
          <a:bodyPr wrap="square" lIns="25400" tIns="25400" rIns="25400" bIns="25400" rtlCol="0" anchor="t">
            <a:normAutofit/>
          </a:bodyPr>
          <a:lstStyle/>
          <a:p>
            <a:pPr algn="l" indent="0" marL="0">
              <a:buNone/>
            </a:pPr>
            <a:r>
              <a:rPr lang="en-US" sz="4500" dirty="0">
                <a:solidFill>
                  <a:srgbClr val="6AC9CE"/>
                </a:solidFill>
                <a:latin typeface="Georgia" pitchFamily="34" charset="0"/>
                <a:ea typeface="Georgia" pitchFamily="34" charset="-122"/>
                <a:cs typeface="Georgia" pitchFamily="34" charset="-120"/>
              </a:rPr>
              <a:t>368</a:t>
            </a:r>
            <a:endParaRPr lang="en-US" sz="4500" dirty="0"/>
          </a:p>
        </p:txBody>
      </p:sp>
      <p:sp>
        <p:nvSpPr>
          <p:cNvPr id="11" name="Text 9"/>
          <p:cNvSpPr/>
          <p:nvPr/>
        </p:nvSpPr>
        <p:spPr>
          <a:xfrm>
            <a:off x="13554075" y="3515767"/>
            <a:ext cx="3894868" cy="731341"/>
          </a:xfrm>
          <a:prstGeom prst="rect">
            <a:avLst/>
          </a:prstGeom>
          <a:noFill/>
          <a:ln/>
        </p:spPr>
        <p:txBody>
          <a:bodyPr wrap="square" lIns="25400" tIns="25400" rIns="25400" bIns="25400" rtlCol="0" anchor="t">
            <a:normAutofit/>
          </a:bodyPr>
          <a:lstStyle/>
          <a:p>
            <a:pPr algn="l" indent="0" marL="0">
              <a:lnSpc>
                <a:spcPct val="117419"/>
              </a:lnSpc>
              <a:buNone/>
            </a:pPr>
            <a:r>
              <a:rPr lang="en-US" sz="1950" dirty="0">
                <a:solidFill>
                  <a:srgbClr val="CFCABF"/>
                </a:solidFill>
                <a:latin typeface="Arial" pitchFamily="34" charset="0"/>
                <a:ea typeface="Arial" pitchFamily="34" charset="-122"/>
                <a:cs typeface="Arial" pitchFamily="34" charset="-120"/>
              </a:rPr>
              <a:t>Identity probe sentences, 23 fillers × 16 templates</a:t>
            </a:r>
            <a:endParaRPr lang="en-US" sz="1950" dirty="0"/>
          </a:p>
        </p:txBody>
      </p:sp>
      <p:sp>
        <p:nvSpPr>
          <p:cNvPr id="12" name="Shape 10"/>
          <p:cNvSpPr/>
          <p:nvPr/>
        </p:nvSpPr>
        <p:spPr>
          <a:xfrm>
            <a:off x="952500" y="7022306"/>
            <a:ext cx="5206901" cy="2502694"/>
          </a:xfrm>
          <a:prstGeom prst="rect">
            <a:avLst/>
          </a:prstGeom>
          <a:solidFill>
            <a:srgbClr val="2E2C27"/>
          </a:solidFill>
          <a:ln/>
        </p:spPr>
      </p:sp>
      <p:sp>
        <p:nvSpPr>
          <p:cNvPr id="13" name="Text 11"/>
          <p:cNvSpPr/>
          <p:nvPr/>
        </p:nvSpPr>
        <p:spPr>
          <a:xfrm>
            <a:off x="1276350" y="7327106"/>
            <a:ext cx="5015121" cy="361950"/>
          </a:xfrm>
          <a:prstGeom prst="rect">
            <a:avLst/>
          </a:prstGeom>
          <a:noFill/>
          <a:ln/>
        </p:spPr>
        <p:txBody>
          <a:bodyPr wrap="square" lIns="25400" tIns="25400" rIns="25400" bIns="25400" rtlCol="0" anchor="t">
            <a:normAutofit/>
          </a:bodyPr>
          <a:lstStyle/>
          <a:p>
            <a:pPr algn="l" indent="0" marL="0">
              <a:buNone/>
            </a:pPr>
            <a:r>
              <a:rPr lang="en-US" sz="2250" b="1" dirty="0">
                <a:solidFill>
                  <a:srgbClr val="F5F3F0"/>
                </a:solidFill>
                <a:latin typeface="Arial" pitchFamily="34" charset="0"/>
                <a:ea typeface="Arial" pitchFamily="34" charset="-122"/>
                <a:cs typeface="Arial" pitchFamily="34" charset="-120"/>
              </a:rPr>
              <a:t>Accuracy versus cost</a:t>
            </a:r>
            <a:endParaRPr lang="en-US" sz="2250" dirty="0"/>
          </a:p>
        </p:txBody>
      </p:sp>
      <p:sp>
        <p:nvSpPr>
          <p:cNvPr id="14" name="Text 12"/>
          <p:cNvSpPr/>
          <p:nvPr/>
        </p:nvSpPr>
        <p:spPr>
          <a:xfrm>
            <a:off x="1276350" y="7784306"/>
            <a:ext cx="4695977" cy="1473994"/>
          </a:xfrm>
          <a:prstGeom prst="rect">
            <a:avLst/>
          </a:prstGeom>
          <a:noFill/>
          <a:ln/>
        </p:spPr>
        <p:txBody>
          <a:bodyPr wrap="square" lIns="25400" tIns="25400" rIns="25400" bIns="25400" rtlCol="0" anchor="t">
            <a:normAutofit/>
          </a:bodyPr>
          <a:lstStyle/>
          <a:p>
            <a:pPr algn="l" indent="0" marL="0">
              <a:lnSpc>
                <a:spcPct val="121613"/>
              </a:lnSpc>
              <a:buNone/>
            </a:pPr>
            <a:r>
              <a:rPr lang="en-US" sz="1950" dirty="0">
                <a:solidFill>
                  <a:srgbClr val="CFCABF"/>
                </a:solidFill>
                <a:latin typeface="Arial" pitchFamily="34" charset="0"/>
                <a:ea typeface="Arial" pitchFamily="34" charset="-122"/>
                <a:cs typeface="Arial" pitchFamily="34" charset="-120"/>
              </a:rPr>
              <a:t>F1, PR-AUC and ROC-AUC reported alongside parameter count and ms/comment. Accuracy is not reported: at ~10% positives it rewards silence.</a:t>
            </a:r>
            <a:endParaRPr lang="en-US" sz="1950" dirty="0"/>
          </a:p>
        </p:txBody>
      </p:sp>
      <p:sp>
        <p:nvSpPr>
          <p:cNvPr id="15" name="Shape 13"/>
          <p:cNvSpPr/>
          <p:nvPr/>
        </p:nvSpPr>
        <p:spPr>
          <a:xfrm>
            <a:off x="6540401" y="7022306"/>
            <a:ext cx="5207050" cy="2502694"/>
          </a:xfrm>
          <a:prstGeom prst="rect">
            <a:avLst/>
          </a:prstGeom>
          <a:solidFill>
            <a:srgbClr val="2E2C27"/>
          </a:solidFill>
          <a:ln/>
        </p:spPr>
      </p:sp>
      <p:sp>
        <p:nvSpPr>
          <p:cNvPr id="16" name="Text 14"/>
          <p:cNvSpPr/>
          <p:nvPr/>
        </p:nvSpPr>
        <p:spPr>
          <a:xfrm>
            <a:off x="6864251" y="7327106"/>
            <a:ext cx="5015285" cy="361950"/>
          </a:xfrm>
          <a:prstGeom prst="rect">
            <a:avLst/>
          </a:prstGeom>
          <a:noFill/>
          <a:ln/>
        </p:spPr>
        <p:txBody>
          <a:bodyPr wrap="square" lIns="25400" tIns="25400" rIns="25400" bIns="25400" rtlCol="0" anchor="t">
            <a:normAutofit/>
          </a:bodyPr>
          <a:lstStyle/>
          <a:p>
            <a:pPr algn="l" indent="0" marL="0">
              <a:buNone/>
            </a:pPr>
            <a:r>
              <a:rPr lang="en-US" sz="2250" b="1" dirty="0">
                <a:solidFill>
                  <a:srgbClr val="F5F3F0"/>
                </a:solidFill>
                <a:latin typeface="Arial" pitchFamily="34" charset="0"/>
                <a:ea typeface="Arial" pitchFamily="34" charset="-122"/>
                <a:cs typeface="Arial" pitchFamily="34" charset="-120"/>
              </a:rPr>
              <a:t>Identity fairness probe</a:t>
            </a:r>
            <a:endParaRPr lang="en-US" sz="2250" dirty="0"/>
          </a:p>
        </p:txBody>
      </p:sp>
      <p:sp>
        <p:nvSpPr>
          <p:cNvPr id="17" name="Text 15"/>
          <p:cNvSpPr/>
          <p:nvPr/>
        </p:nvSpPr>
        <p:spPr>
          <a:xfrm>
            <a:off x="6864251" y="7784306"/>
            <a:ext cx="4696130" cy="1473994"/>
          </a:xfrm>
          <a:prstGeom prst="rect">
            <a:avLst/>
          </a:prstGeom>
          <a:noFill/>
          <a:ln/>
        </p:spPr>
        <p:txBody>
          <a:bodyPr wrap="square" lIns="25400" tIns="25400" rIns="25400" bIns="25400" rtlCol="0" anchor="t">
            <a:normAutofit/>
          </a:bodyPr>
          <a:lstStyle/>
          <a:p>
            <a:pPr algn="l" indent="0" marL="0">
              <a:lnSpc>
                <a:spcPct val="121613"/>
              </a:lnSpc>
              <a:buNone/>
            </a:pPr>
            <a:r>
              <a:rPr lang="en-US" sz="1950" dirty="0">
                <a:solidFill>
                  <a:srgbClr val="CFCABF"/>
                </a:solidFill>
                <a:latin typeface="Arial" pitchFamily="34" charset="0"/>
                <a:ea typeface="Arial" pitchFamily="34" charset="-122"/>
                <a:cs typeface="Arial" pitchFamily="34" charset="-120"/>
              </a:rPr>
              <a:t>Neutral templates filled with 21 identity terms, following Dixon et al. Nothing is toxic by construction, so every positive is a false positive.</a:t>
            </a:r>
            <a:endParaRPr lang="en-US" sz="1950" dirty="0"/>
          </a:p>
        </p:txBody>
      </p:sp>
      <p:sp>
        <p:nvSpPr>
          <p:cNvPr id="18" name="Shape 16"/>
          <p:cNvSpPr/>
          <p:nvPr/>
        </p:nvSpPr>
        <p:spPr>
          <a:xfrm>
            <a:off x="12128450" y="7022306"/>
            <a:ext cx="5207050" cy="2502694"/>
          </a:xfrm>
          <a:prstGeom prst="rect">
            <a:avLst/>
          </a:prstGeom>
          <a:solidFill>
            <a:srgbClr val="2E2C27"/>
          </a:solidFill>
          <a:ln/>
        </p:spPr>
      </p:sp>
      <p:sp>
        <p:nvSpPr>
          <p:cNvPr id="19" name="Text 17"/>
          <p:cNvSpPr/>
          <p:nvPr/>
        </p:nvSpPr>
        <p:spPr>
          <a:xfrm>
            <a:off x="12452300" y="7327106"/>
            <a:ext cx="5015285" cy="361950"/>
          </a:xfrm>
          <a:prstGeom prst="rect">
            <a:avLst/>
          </a:prstGeom>
          <a:noFill/>
          <a:ln/>
        </p:spPr>
        <p:txBody>
          <a:bodyPr wrap="square" lIns="25400" tIns="25400" rIns="25400" bIns="25400" rtlCol="0" anchor="t">
            <a:normAutofit/>
          </a:bodyPr>
          <a:lstStyle/>
          <a:p>
            <a:pPr algn="l" indent="0" marL="0">
              <a:buNone/>
            </a:pPr>
            <a:r>
              <a:rPr lang="en-US" sz="2250" b="1" dirty="0">
                <a:solidFill>
                  <a:srgbClr val="F5F3F0"/>
                </a:solidFill>
                <a:latin typeface="Arial" pitchFamily="34" charset="0"/>
                <a:ea typeface="Arial" pitchFamily="34" charset="-122"/>
                <a:cs typeface="Arial" pitchFamily="34" charset="-120"/>
              </a:rPr>
              <a:t>Perturbation suite</a:t>
            </a:r>
            <a:endParaRPr lang="en-US" sz="2250" dirty="0"/>
          </a:p>
        </p:txBody>
      </p:sp>
      <p:sp>
        <p:nvSpPr>
          <p:cNvPr id="20" name="Text 18"/>
          <p:cNvSpPr/>
          <p:nvPr/>
        </p:nvSpPr>
        <p:spPr>
          <a:xfrm>
            <a:off x="12452300" y="7784306"/>
            <a:ext cx="4696130" cy="1115020"/>
          </a:xfrm>
          <a:prstGeom prst="rect">
            <a:avLst/>
          </a:prstGeom>
          <a:noFill/>
          <a:ln/>
        </p:spPr>
        <p:txBody>
          <a:bodyPr wrap="square" lIns="25400" tIns="25400" rIns="25400" bIns="25400" rtlCol="0" anchor="t">
            <a:normAutofit/>
          </a:bodyPr>
          <a:lstStyle/>
          <a:p>
            <a:pPr algn="l" indent="0" marL="0">
              <a:lnSpc>
                <a:spcPct val="121613"/>
              </a:lnSpc>
              <a:buNone/>
            </a:pPr>
            <a:r>
              <a:rPr lang="en-US" sz="1950" dirty="0">
                <a:solidFill>
                  <a:srgbClr val="CFCABF"/>
                </a:solidFill>
                <a:latin typeface="Arial" pitchFamily="34" charset="0"/>
                <a:ea typeface="Arial" pitchFamily="34" charset="-122"/>
                <a:cs typeface="Arial" pitchFamily="34" charset="-120"/>
              </a:rPr>
              <a:t>Six human-readable obfuscations of already-detected comments. A comment evades when its score falls below 0.5.</a:t>
            </a:r>
            <a:endParaRPr lang="en-US" sz="1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F0"/>
        </a:solidFill>
      </p:bgPr>
    </p:bg>
    <p:spTree>
      <p:nvGrpSpPr>
        <p:cNvPr id="1" name=""/>
        <p:cNvGrpSpPr/>
        <p:nvPr/>
      </p:nvGrpSpPr>
      <p:grpSpPr>
        <a:xfrm>
          <a:off x="0" y="0"/>
          <a:ext cx="0" cy="0"/>
          <a:chOff x="0" y="0"/>
          <a:chExt cx="0" cy="0"/>
        </a:xfrm>
      </p:grpSpPr>
      <p:sp>
        <p:nvSpPr>
          <p:cNvPr id="2" name="Text 0"/>
          <p:cNvSpPr/>
          <p:nvPr/>
        </p:nvSpPr>
        <p:spPr>
          <a:xfrm>
            <a:off x="952500" y="857250"/>
            <a:ext cx="18021300" cy="304800"/>
          </a:xfrm>
          <a:prstGeom prst="rect">
            <a:avLst/>
          </a:prstGeom>
          <a:noFill/>
          <a:ln/>
        </p:spPr>
        <p:txBody>
          <a:bodyPr wrap="square" lIns="25400" tIns="25400" rIns="25400" bIns="25400" rtlCol="0" anchor="t">
            <a:normAutofit/>
          </a:bodyPr>
          <a:lstStyle/>
          <a:p>
            <a:pPr algn="l" indent="0" marL="0">
              <a:buNone/>
            </a:pPr>
            <a:r>
              <a:rPr lang="en-US" sz="1800" b="1" spc="288" kern="0" dirty="0">
                <a:solidFill>
                  <a:srgbClr val="8A857C"/>
                </a:solidFill>
                <a:latin typeface="Arial" pitchFamily="34" charset="0"/>
                <a:ea typeface="Arial" pitchFamily="34" charset="-122"/>
                <a:cs typeface="Arial" pitchFamily="34" charset="-120"/>
              </a:rPr>
              <a:t>RESULTS · SHARED N = 800 SUBSET, CPU</a:t>
            </a:r>
            <a:endParaRPr lang="en-US" sz="1800" dirty="0"/>
          </a:p>
        </p:txBody>
      </p:sp>
      <p:sp>
        <p:nvSpPr>
          <p:cNvPr id="3" name="Text 1"/>
          <p:cNvSpPr/>
          <p:nvPr/>
        </p:nvSpPr>
        <p:spPr>
          <a:xfrm>
            <a:off x="952500" y="1333500"/>
            <a:ext cx="18021300" cy="696367"/>
          </a:xfrm>
          <a:prstGeom prst="rect">
            <a:avLst/>
          </a:prstGeom>
          <a:noFill/>
          <a:ln/>
        </p:spPr>
        <p:txBody>
          <a:bodyPr wrap="square" lIns="25400" tIns="25400" rIns="25400" bIns="25400" rtlCol="0" anchor="t">
            <a:normAutofit/>
          </a:bodyPr>
          <a:lstStyle/>
          <a:p>
            <a:pPr algn="l" indent="0" marL="0">
              <a:lnSpc>
                <a:spcPct val="94685"/>
              </a:lnSpc>
              <a:buNone/>
            </a:pPr>
            <a:r>
              <a:rPr lang="en-US" sz="4800" dirty="0">
                <a:solidFill>
                  <a:srgbClr val="1A1917"/>
                </a:solidFill>
                <a:latin typeface="Georgia" pitchFamily="34" charset="0"/>
                <a:ea typeface="Georgia" pitchFamily="34" charset="-122"/>
                <a:cs typeface="Georgia" pitchFamily="34" charset="-120"/>
              </a:rPr>
              <a:t>Accuracy versus efficiency</a:t>
            </a:r>
            <a:endParaRPr lang="en-US" sz="4800" dirty="0"/>
          </a:p>
        </p:txBody>
      </p:sp>
      <p:sp>
        <p:nvSpPr>
          <p:cNvPr id="4" name="Shape 2"/>
          <p:cNvSpPr/>
          <p:nvPr/>
        </p:nvSpPr>
        <p:spPr>
          <a:xfrm>
            <a:off x="952500" y="2844254"/>
            <a:ext cx="4422577" cy="28575"/>
          </a:xfrm>
          <a:prstGeom prst="rect">
            <a:avLst/>
          </a:prstGeom>
          <a:solidFill>
            <a:srgbClr val="1A1917"/>
          </a:solidFill>
          <a:ln/>
        </p:spPr>
      </p:sp>
      <p:sp>
        <p:nvSpPr>
          <p:cNvPr id="5" name="Text 3"/>
          <p:cNvSpPr/>
          <p:nvPr/>
        </p:nvSpPr>
        <p:spPr>
          <a:xfrm>
            <a:off x="952500" y="2429917"/>
            <a:ext cx="4383804" cy="319088"/>
          </a:xfrm>
          <a:prstGeom prst="rect">
            <a:avLst/>
          </a:prstGeom>
          <a:noFill/>
          <a:ln/>
        </p:spPr>
        <p:txBody>
          <a:bodyPr wrap="square" lIns="25400" tIns="25400" rIns="25400" bIns="25400" rtlCol="0" anchor="ctr">
            <a:normAutofit/>
          </a:bodyPr>
          <a:lstStyle/>
          <a:p>
            <a:pPr algn="l" indent="0" marL="0">
              <a:buNone/>
            </a:pPr>
            <a:r>
              <a:rPr lang="en-US" sz="2025" b="1" dirty="0">
                <a:solidFill>
                  <a:srgbClr val="6B6862"/>
                </a:solidFill>
                <a:latin typeface="Arial" pitchFamily="34" charset="0"/>
                <a:ea typeface="Arial" pitchFamily="34" charset="-122"/>
                <a:cs typeface="Arial" pitchFamily="34" charset="-120"/>
              </a:rPr>
              <a:t>Model</a:t>
            </a:r>
            <a:endParaRPr lang="en-US" sz="2025" dirty="0"/>
          </a:p>
        </p:txBody>
      </p:sp>
      <p:sp>
        <p:nvSpPr>
          <p:cNvPr id="6" name="Shape 4"/>
          <p:cNvSpPr/>
          <p:nvPr/>
        </p:nvSpPr>
        <p:spPr>
          <a:xfrm>
            <a:off x="5375077" y="2844254"/>
            <a:ext cx="933004" cy="28575"/>
          </a:xfrm>
          <a:prstGeom prst="rect">
            <a:avLst/>
          </a:prstGeom>
          <a:solidFill>
            <a:srgbClr val="1A1917"/>
          </a:solidFill>
          <a:ln/>
        </p:spPr>
      </p:sp>
      <p:sp>
        <p:nvSpPr>
          <p:cNvPr id="7" name="Text 5"/>
          <p:cNvSpPr/>
          <p:nvPr/>
        </p:nvSpPr>
        <p:spPr>
          <a:xfrm>
            <a:off x="5375077" y="2429917"/>
            <a:ext cx="837754" cy="319088"/>
          </a:xfrm>
          <a:prstGeom prst="rect">
            <a:avLst/>
          </a:prstGeom>
          <a:noFill/>
          <a:ln/>
        </p:spPr>
        <p:txBody>
          <a:bodyPr wrap="square" lIns="25400" tIns="25400" rIns="25400" bIns="25400" rtlCol="0" anchor="ctr">
            <a:normAutofit/>
          </a:bodyPr>
          <a:lstStyle/>
          <a:p>
            <a:pPr algn="l" indent="0" marL="0">
              <a:buNone/>
            </a:pPr>
            <a:r>
              <a:rPr lang="en-US" sz="2025" b="1" dirty="0">
                <a:solidFill>
                  <a:srgbClr val="6B6862"/>
                </a:solidFill>
                <a:latin typeface="Arial" pitchFamily="34" charset="0"/>
                <a:ea typeface="Arial" pitchFamily="34" charset="-122"/>
                <a:cs typeface="Arial" pitchFamily="34" charset="-120"/>
              </a:rPr>
              <a:t>F1</a:t>
            </a:r>
            <a:endParaRPr lang="en-US" sz="2025" dirty="0"/>
          </a:p>
        </p:txBody>
      </p:sp>
      <p:sp>
        <p:nvSpPr>
          <p:cNvPr id="8" name="Shape 6"/>
          <p:cNvSpPr/>
          <p:nvPr/>
        </p:nvSpPr>
        <p:spPr>
          <a:xfrm>
            <a:off x="6308080" y="2844254"/>
            <a:ext cx="1180058" cy="28575"/>
          </a:xfrm>
          <a:prstGeom prst="rect">
            <a:avLst/>
          </a:prstGeom>
          <a:solidFill>
            <a:srgbClr val="1A1917"/>
          </a:solidFill>
          <a:ln/>
        </p:spPr>
      </p:sp>
      <p:sp>
        <p:nvSpPr>
          <p:cNvPr id="9" name="Text 7"/>
          <p:cNvSpPr/>
          <p:nvPr/>
        </p:nvSpPr>
        <p:spPr>
          <a:xfrm>
            <a:off x="6308080" y="2429917"/>
            <a:ext cx="1084808" cy="319088"/>
          </a:xfrm>
          <a:prstGeom prst="rect">
            <a:avLst/>
          </a:prstGeom>
          <a:noFill/>
          <a:ln/>
        </p:spPr>
        <p:txBody>
          <a:bodyPr wrap="square" lIns="25400" tIns="25400" rIns="25400" bIns="25400" rtlCol="0" anchor="ctr">
            <a:normAutofit/>
          </a:bodyPr>
          <a:lstStyle/>
          <a:p>
            <a:pPr algn="l" indent="0" marL="0">
              <a:buNone/>
            </a:pPr>
            <a:r>
              <a:rPr lang="en-US" sz="2025" b="1" dirty="0">
                <a:solidFill>
                  <a:srgbClr val="6B6862"/>
                </a:solidFill>
                <a:latin typeface="Arial" pitchFamily="34" charset="0"/>
                <a:ea typeface="Arial" pitchFamily="34" charset="-122"/>
                <a:cs typeface="Arial" pitchFamily="34" charset="-120"/>
              </a:rPr>
              <a:t>PR-AUC</a:t>
            </a:r>
            <a:endParaRPr lang="en-US" sz="2025" dirty="0"/>
          </a:p>
        </p:txBody>
      </p:sp>
      <p:sp>
        <p:nvSpPr>
          <p:cNvPr id="10" name="Shape 8"/>
          <p:cNvSpPr/>
          <p:nvPr/>
        </p:nvSpPr>
        <p:spPr>
          <a:xfrm>
            <a:off x="7488138" y="2844254"/>
            <a:ext cx="1398389" cy="28575"/>
          </a:xfrm>
          <a:prstGeom prst="rect">
            <a:avLst/>
          </a:prstGeom>
          <a:solidFill>
            <a:srgbClr val="1A1917"/>
          </a:solidFill>
          <a:ln/>
        </p:spPr>
      </p:sp>
      <p:sp>
        <p:nvSpPr>
          <p:cNvPr id="11" name="Text 9"/>
          <p:cNvSpPr/>
          <p:nvPr/>
        </p:nvSpPr>
        <p:spPr>
          <a:xfrm>
            <a:off x="7488138" y="2429917"/>
            <a:ext cx="1303139" cy="319088"/>
          </a:xfrm>
          <a:prstGeom prst="rect">
            <a:avLst/>
          </a:prstGeom>
          <a:noFill/>
          <a:ln/>
        </p:spPr>
        <p:txBody>
          <a:bodyPr wrap="square" lIns="25400" tIns="25400" rIns="25400" bIns="25400" rtlCol="0" anchor="ctr">
            <a:normAutofit/>
          </a:bodyPr>
          <a:lstStyle/>
          <a:p>
            <a:pPr algn="l" indent="0" marL="0">
              <a:buNone/>
            </a:pPr>
            <a:r>
              <a:rPr lang="en-US" sz="2025" b="1" dirty="0">
                <a:solidFill>
                  <a:srgbClr val="6B6862"/>
                </a:solidFill>
                <a:latin typeface="Arial" pitchFamily="34" charset="0"/>
                <a:ea typeface="Arial" pitchFamily="34" charset="-122"/>
                <a:cs typeface="Arial" pitchFamily="34" charset="-120"/>
              </a:rPr>
              <a:t>ROC-AUC</a:t>
            </a:r>
            <a:endParaRPr lang="en-US" sz="2025" dirty="0"/>
          </a:p>
        </p:txBody>
      </p:sp>
      <p:sp>
        <p:nvSpPr>
          <p:cNvPr id="12" name="Shape 10"/>
          <p:cNvSpPr/>
          <p:nvPr/>
        </p:nvSpPr>
        <p:spPr>
          <a:xfrm>
            <a:off x="8886527" y="2844254"/>
            <a:ext cx="472232" cy="28575"/>
          </a:xfrm>
          <a:prstGeom prst="rect">
            <a:avLst/>
          </a:prstGeom>
          <a:solidFill>
            <a:srgbClr val="1A1917"/>
          </a:solidFill>
          <a:ln/>
        </p:spPr>
      </p:sp>
      <p:sp>
        <p:nvSpPr>
          <p:cNvPr id="13" name="Text 11"/>
          <p:cNvSpPr/>
          <p:nvPr/>
        </p:nvSpPr>
        <p:spPr>
          <a:xfrm>
            <a:off x="8886527" y="2429917"/>
            <a:ext cx="548432" cy="319088"/>
          </a:xfrm>
          <a:prstGeom prst="rect">
            <a:avLst/>
          </a:prstGeom>
          <a:noFill/>
          <a:ln/>
        </p:spPr>
        <p:txBody>
          <a:bodyPr wrap="square" lIns="25400" tIns="25400" rIns="25400" bIns="25400" rtlCol="0" anchor="ctr">
            <a:normAutofit/>
          </a:bodyPr>
          <a:lstStyle/>
          <a:p>
            <a:pPr algn="l" indent="0" marL="0">
              <a:buNone/>
            </a:pPr>
            <a:r>
              <a:rPr lang="en-US" sz="2025" b="1" dirty="0">
                <a:solidFill>
                  <a:srgbClr val="6B6862"/>
                </a:solidFill>
                <a:latin typeface="Arial" pitchFamily="34" charset="0"/>
                <a:ea typeface="Arial" pitchFamily="34" charset="-122"/>
                <a:cs typeface="Arial" pitchFamily="34" charset="-120"/>
              </a:rPr>
              <a:t>ms</a:t>
            </a:r>
            <a:endParaRPr lang="en-US" sz="2025" dirty="0"/>
          </a:p>
        </p:txBody>
      </p:sp>
      <p:sp>
        <p:nvSpPr>
          <p:cNvPr id="14" name="Shape 12"/>
          <p:cNvSpPr/>
          <p:nvPr/>
        </p:nvSpPr>
        <p:spPr>
          <a:xfrm>
            <a:off x="952500" y="3501479"/>
            <a:ext cx="4422577" cy="9525"/>
          </a:xfrm>
          <a:prstGeom prst="rect">
            <a:avLst/>
          </a:prstGeom>
          <a:solidFill>
            <a:srgbClr val="D8D4CD"/>
          </a:solidFill>
          <a:ln/>
        </p:spPr>
      </p:sp>
      <p:sp>
        <p:nvSpPr>
          <p:cNvPr id="15" name="Text 13"/>
          <p:cNvSpPr/>
          <p:nvPr/>
        </p:nvSpPr>
        <p:spPr>
          <a:xfrm>
            <a:off x="952500" y="3015704"/>
            <a:ext cx="4383804" cy="38100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toxic-bert (E2)</a:t>
            </a:r>
            <a:endParaRPr lang="en-US" sz="2025" dirty="0"/>
          </a:p>
        </p:txBody>
      </p:sp>
      <p:sp>
        <p:nvSpPr>
          <p:cNvPr id="16" name="Shape 14"/>
          <p:cNvSpPr/>
          <p:nvPr/>
        </p:nvSpPr>
        <p:spPr>
          <a:xfrm>
            <a:off x="5375077" y="3501479"/>
            <a:ext cx="933004" cy="9525"/>
          </a:xfrm>
          <a:prstGeom prst="rect">
            <a:avLst/>
          </a:prstGeom>
          <a:solidFill>
            <a:srgbClr val="D8D4CD"/>
          </a:solidFill>
          <a:ln/>
        </p:spPr>
      </p:sp>
      <p:sp>
        <p:nvSpPr>
          <p:cNvPr id="17" name="Text 15"/>
          <p:cNvSpPr/>
          <p:nvPr/>
        </p:nvSpPr>
        <p:spPr>
          <a:xfrm>
            <a:off x="5375077" y="3015704"/>
            <a:ext cx="837754" cy="381000"/>
          </a:xfrm>
          <a:prstGeom prst="rect">
            <a:avLst/>
          </a:prstGeom>
          <a:noFill/>
          <a:ln/>
        </p:spPr>
        <p:txBody>
          <a:bodyPr wrap="square" lIns="25400" tIns="25400" rIns="25400" bIns="25400" rtlCol="0" anchor="ctr">
            <a:normAutofit/>
          </a:bodyPr>
          <a:lstStyle/>
          <a:p>
            <a:pPr algn="l" indent="0" marL="0">
              <a:buNone/>
            </a:pPr>
            <a:r>
              <a:rPr lang="en-US" sz="2025" b="1" dirty="0">
                <a:solidFill>
                  <a:srgbClr val="1A1917"/>
                </a:solidFill>
                <a:latin typeface="Arial" pitchFamily="34" charset="0"/>
                <a:ea typeface="Arial" pitchFamily="34" charset="-122"/>
                <a:cs typeface="Arial" pitchFamily="34" charset="-120"/>
              </a:rPr>
              <a:t>0.752</a:t>
            </a:r>
            <a:endParaRPr lang="en-US" sz="2025" dirty="0"/>
          </a:p>
        </p:txBody>
      </p:sp>
      <p:sp>
        <p:nvSpPr>
          <p:cNvPr id="18" name="Shape 16"/>
          <p:cNvSpPr/>
          <p:nvPr/>
        </p:nvSpPr>
        <p:spPr>
          <a:xfrm>
            <a:off x="6308080" y="3501479"/>
            <a:ext cx="1180058" cy="9525"/>
          </a:xfrm>
          <a:prstGeom prst="rect">
            <a:avLst/>
          </a:prstGeom>
          <a:solidFill>
            <a:srgbClr val="D8D4CD"/>
          </a:solidFill>
          <a:ln/>
        </p:spPr>
      </p:sp>
      <p:sp>
        <p:nvSpPr>
          <p:cNvPr id="19" name="Text 17"/>
          <p:cNvSpPr/>
          <p:nvPr/>
        </p:nvSpPr>
        <p:spPr>
          <a:xfrm>
            <a:off x="6308080" y="3015704"/>
            <a:ext cx="1084808" cy="38100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0.835</a:t>
            </a:r>
            <a:endParaRPr lang="en-US" sz="2025" dirty="0"/>
          </a:p>
        </p:txBody>
      </p:sp>
      <p:sp>
        <p:nvSpPr>
          <p:cNvPr id="20" name="Shape 18"/>
          <p:cNvSpPr/>
          <p:nvPr/>
        </p:nvSpPr>
        <p:spPr>
          <a:xfrm>
            <a:off x="7488138" y="3501479"/>
            <a:ext cx="1398389" cy="9525"/>
          </a:xfrm>
          <a:prstGeom prst="rect">
            <a:avLst/>
          </a:prstGeom>
          <a:solidFill>
            <a:srgbClr val="D8D4CD"/>
          </a:solidFill>
          <a:ln/>
        </p:spPr>
      </p:sp>
      <p:sp>
        <p:nvSpPr>
          <p:cNvPr id="21" name="Text 19"/>
          <p:cNvSpPr/>
          <p:nvPr/>
        </p:nvSpPr>
        <p:spPr>
          <a:xfrm>
            <a:off x="7488138" y="3015704"/>
            <a:ext cx="1303139" cy="38100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0.979</a:t>
            </a:r>
            <a:endParaRPr lang="en-US" sz="2025" dirty="0"/>
          </a:p>
        </p:txBody>
      </p:sp>
      <p:sp>
        <p:nvSpPr>
          <p:cNvPr id="22" name="Shape 20"/>
          <p:cNvSpPr/>
          <p:nvPr/>
        </p:nvSpPr>
        <p:spPr>
          <a:xfrm>
            <a:off x="8886527" y="3501479"/>
            <a:ext cx="472232" cy="9525"/>
          </a:xfrm>
          <a:prstGeom prst="rect">
            <a:avLst/>
          </a:prstGeom>
          <a:solidFill>
            <a:srgbClr val="D8D4CD"/>
          </a:solidFill>
          <a:ln/>
        </p:spPr>
      </p:sp>
      <p:sp>
        <p:nvSpPr>
          <p:cNvPr id="23" name="Text 21"/>
          <p:cNvSpPr/>
          <p:nvPr/>
        </p:nvSpPr>
        <p:spPr>
          <a:xfrm>
            <a:off x="8886527" y="3015704"/>
            <a:ext cx="548432" cy="381000"/>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175</a:t>
            </a:r>
            <a:endParaRPr lang="en-US" sz="2025" dirty="0"/>
          </a:p>
        </p:txBody>
      </p:sp>
      <p:sp>
        <p:nvSpPr>
          <p:cNvPr id="24" name="Shape 22"/>
          <p:cNvSpPr/>
          <p:nvPr/>
        </p:nvSpPr>
        <p:spPr>
          <a:xfrm>
            <a:off x="952500" y="4130129"/>
            <a:ext cx="4422577" cy="9525"/>
          </a:xfrm>
          <a:prstGeom prst="rect">
            <a:avLst/>
          </a:prstGeom>
          <a:solidFill>
            <a:srgbClr val="D8D4CD"/>
          </a:solidFill>
          <a:ln/>
        </p:spPr>
      </p:sp>
      <p:sp>
        <p:nvSpPr>
          <p:cNvPr id="25" name="Text 23"/>
          <p:cNvSpPr/>
          <p:nvPr/>
        </p:nvSpPr>
        <p:spPr>
          <a:xfrm>
            <a:off x="952500" y="3653879"/>
            <a:ext cx="438380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tfidf-svm (E0)</a:t>
            </a:r>
            <a:endParaRPr lang="en-US" sz="2025" dirty="0"/>
          </a:p>
        </p:txBody>
      </p:sp>
      <p:sp>
        <p:nvSpPr>
          <p:cNvPr id="26" name="Shape 24"/>
          <p:cNvSpPr/>
          <p:nvPr/>
        </p:nvSpPr>
        <p:spPr>
          <a:xfrm>
            <a:off x="5375077" y="4130129"/>
            <a:ext cx="933004" cy="9525"/>
          </a:xfrm>
          <a:prstGeom prst="rect">
            <a:avLst/>
          </a:prstGeom>
          <a:solidFill>
            <a:srgbClr val="D8D4CD"/>
          </a:solidFill>
          <a:ln/>
        </p:spPr>
      </p:sp>
      <p:sp>
        <p:nvSpPr>
          <p:cNvPr id="27" name="Text 25"/>
          <p:cNvSpPr/>
          <p:nvPr/>
        </p:nvSpPr>
        <p:spPr>
          <a:xfrm>
            <a:off x="5375077" y="3653879"/>
            <a:ext cx="837754" cy="371475"/>
          </a:xfrm>
          <a:prstGeom prst="rect">
            <a:avLst/>
          </a:prstGeom>
          <a:noFill/>
          <a:ln/>
        </p:spPr>
        <p:txBody>
          <a:bodyPr wrap="square" lIns="25400" tIns="25400" rIns="25400" bIns="25400" rtlCol="0" anchor="ctr">
            <a:normAutofit/>
          </a:bodyPr>
          <a:lstStyle/>
          <a:p>
            <a:pPr algn="l" indent="0" marL="0">
              <a:buNone/>
            </a:pPr>
            <a:r>
              <a:rPr lang="en-US" sz="2025" b="1" dirty="0">
                <a:solidFill>
                  <a:srgbClr val="1A1917"/>
                </a:solidFill>
                <a:latin typeface="Arial" pitchFamily="34" charset="0"/>
                <a:ea typeface="Arial" pitchFamily="34" charset="-122"/>
                <a:cs typeface="Arial" pitchFamily="34" charset="-120"/>
              </a:rPr>
              <a:t>0.703</a:t>
            </a:r>
            <a:endParaRPr lang="en-US" sz="2025" dirty="0"/>
          </a:p>
        </p:txBody>
      </p:sp>
      <p:sp>
        <p:nvSpPr>
          <p:cNvPr id="28" name="Shape 26"/>
          <p:cNvSpPr/>
          <p:nvPr/>
        </p:nvSpPr>
        <p:spPr>
          <a:xfrm>
            <a:off x="6308080" y="4130129"/>
            <a:ext cx="1180058" cy="9525"/>
          </a:xfrm>
          <a:prstGeom prst="rect">
            <a:avLst/>
          </a:prstGeom>
          <a:solidFill>
            <a:srgbClr val="D8D4CD"/>
          </a:solidFill>
          <a:ln/>
        </p:spPr>
      </p:sp>
      <p:sp>
        <p:nvSpPr>
          <p:cNvPr id="29" name="Text 27"/>
          <p:cNvSpPr/>
          <p:nvPr/>
        </p:nvSpPr>
        <p:spPr>
          <a:xfrm>
            <a:off x="6308080" y="3653879"/>
            <a:ext cx="108480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0.784</a:t>
            </a:r>
            <a:endParaRPr lang="en-US" sz="2025" dirty="0"/>
          </a:p>
        </p:txBody>
      </p:sp>
      <p:sp>
        <p:nvSpPr>
          <p:cNvPr id="30" name="Shape 28"/>
          <p:cNvSpPr/>
          <p:nvPr/>
        </p:nvSpPr>
        <p:spPr>
          <a:xfrm>
            <a:off x="7488138" y="4130129"/>
            <a:ext cx="1398389" cy="9525"/>
          </a:xfrm>
          <a:prstGeom prst="rect">
            <a:avLst/>
          </a:prstGeom>
          <a:solidFill>
            <a:srgbClr val="D8D4CD"/>
          </a:solidFill>
          <a:ln/>
        </p:spPr>
      </p:sp>
      <p:sp>
        <p:nvSpPr>
          <p:cNvPr id="31" name="Text 29"/>
          <p:cNvSpPr/>
          <p:nvPr/>
        </p:nvSpPr>
        <p:spPr>
          <a:xfrm>
            <a:off x="7488138" y="3653879"/>
            <a:ext cx="130313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0.958</a:t>
            </a:r>
            <a:endParaRPr lang="en-US" sz="2025" dirty="0"/>
          </a:p>
        </p:txBody>
      </p:sp>
      <p:sp>
        <p:nvSpPr>
          <p:cNvPr id="32" name="Shape 30"/>
          <p:cNvSpPr/>
          <p:nvPr/>
        </p:nvSpPr>
        <p:spPr>
          <a:xfrm>
            <a:off x="8886527" y="4130129"/>
            <a:ext cx="472232" cy="9525"/>
          </a:xfrm>
          <a:prstGeom prst="rect">
            <a:avLst/>
          </a:prstGeom>
          <a:solidFill>
            <a:srgbClr val="D8D4CD"/>
          </a:solidFill>
          <a:ln/>
        </p:spPr>
      </p:sp>
      <p:sp>
        <p:nvSpPr>
          <p:cNvPr id="33" name="Text 31"/>
          <p:cNvSpPr/>
          <p:nvPr/>
        </p:nvSpPr>
        <p:spPr>
          <a:xfrm>
            <a:off x="8886527" y="3653879"/>
            <a:ext cx="548432" cy="371475"/>
          </a:xfrm>
          <a:prstGeom prst="rect">
            <a:avLst/>
          </a:prstGeom>
          <a:noFill/>
          <a:ln/>
        </p:spPr>
        <p:txBody>
          <a:bodyPr wrap="square" lIns="25400" tIns="25400" rIns="25400" bIns="25400" rtlCol="0" anchor="ctr">
            <a:normAutofit/>
          </a:bodyPr>
          <a:lstStyle/>
          <a:p>
            <a:pPr algn="l" indent="0" marL="0">
              <a:buNone/>
            </a:pPr>
            <a:r>
              <a:rPr lang="en-US" sz="2025" b="1" dirty="0">
                <a:solidFill>
                  <a:srgbClr val="006871"/>
                </a:solidFill>
                <a:latin typeface="Arial" pitchFamily="34" charset="0"/>
                <a:ea typeface="Arial" pitchFamily="34" charset="-122"/>
                <a:cs typeface="Arial" pitchFamily="34" charset="-120"/>
              </a:rPr>
              <a:t>0.1</a:t>
            </a:r>
            <a:endParaRPr lang="en-US" sz="2025" dirty="0"/>
          </a:p>
        </p:txBody>
      </p:sp>
      <p:sp>
        <p:nvSpPr>
          <p:cNvPr id="34" name="Shape 32"/>
          <p:cNvSpPr/>
          <p:nvPr/>
        </p:nvSpPr>
        <p:spPr>
          <a:xfrm>
            <a:off x="952500" y="4758779"/>
            <a:ext cx="4422577" cy="9525"/>
          </a:xfrm>
          <a:prstGeom prst="rect">
            <a:avLst/>
          </a:prstGeom>
          <a:solidFill>
            <a:srgbClr val="D8D4CD"/>
          </a:solidFill>
          <a:ln/>
        </p:spPr>
      </p:sp>
      <p:sp>
        <p:nvSpPr>
          <p:cNvPr id="35" name="Text 33"/>
          <p:cNvSpPr/>
          <p:nvPr/>
        </p:nvSpPr>
        <p:spPr>
          <a:xfrm>
            <a:off x="952500" y="4282529"/>
            <a:ext cx="438380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bert-base-classifier (E1)</a:t>
            </a:r>
            <a:endParaRPr lang="en-US" sz="2025" dirty="0"/>
          </a:p>
        </p:txBody>
      </p:sp>
      <p:sp>
        <p:nvSpPr>
          <p:cNvPr id="36" name="Shape 34"/>
          <p:cNvSpPr/>
          <p:nvPr/>
        </p:nvSpPr>
        <p:spPr>
          <a:xfrm>
            <a:off x="5375077" y="4758779"/>
            <a:ext cx="933004" cy="9525"/>
          </a:xfrm>
          <a:prstGeom prst="rect">
            <a:avLst/>
          </a:prstGeom>
          <a:solidFill>
            <a:srgbClr val="D8D4CD"/>
          </a:solidFill>
          <a:ln/>
        </p:spPr>
      </p:sp>
      <p:sp>
        <p:nvSpPr>
          <p:cNvPr id="37" name="Text 35"/>
          <p:cNvSpPr/>
          <p:nvPr/>
        </p:nvSpPr>
        <p:spPr>
          <a:xfrm>
            <a:off x="5375077" y="4282529"/>
            <a:ext cx="83775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0.675</a:t>
            </a:r>
            <a:endParaRPr lang="en-US" sz="2025" dirty="0"/>
          </a:p>
        </p:txBody>
      </p:sp>
      <p:sp>
        <p:nvSpPr>
          <p:cNvPr id="38" name="Shape 36"/>
          <p:cNvSpPr/>
          <p:nvPr/>
        </p:nvSpPr>
        <p:spPr>
          <a:xfrm>
            <a:off x="6308080" y="4758779"/>
            <a:ext cx="1180058" cy="9525"/>
          </a:xfrm>
          <a:prstGeom prst="rect">
            <a:avLst/>
          </a:prstGeom>
          <a:solidFill>
            <a:srgbClr val="D8D4CD"/>
          </a:solidFill>
          <a:ln/>
        </p:spPr>
      </p:sp>
      <p:sp>
        <p:nvSpPr>
          <p:cNvPr id="39" name="Text 37"/>
          <p:cNvSpPr/>
          <p:nvPr/>
        </p:nvSpPr>
        <p:spPr>
          <a:xfrm>
            <a:off x="6308080" y="4282529"/>
            <a:ext cx="108480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0.791</a:t>
            </a:r>
            <a:endParaRPr lang="en-US" sz="2025" dirty="0"/>
          </a:p>
        </p:txBody>
      </p:sp>
      <p:sp>
        <p:nvSpPr>
          <p:cNvPr id="40" name="Shape 38"/>
          <p:cNvSpPr/>
          <p:nvPr/>
        </p:nvSpPr>
        <p:spPr>
          <a:xfrm>
            <a:off x="7488138" y="4758779"/>
            <a:ext cx="1398389" cy="9525"/>
          </a:xfrm>
          <a:prstGeom prst="rect">
            <a:avLst/>
          </a:prstGeom>
          <a:solidFill>
            <a:srgbClr val="D8D4CD"/>
          </a:solidFill>
          <a:ln/>
        </p:spPr>
      </p:sp>
      <p:sp>
        <p:nvSpPr>
          <p:cNvPr id="41" name="Text 39"/>
          <p:cNvSpPr/>
          <p:nvPr/>
        </p:nvSpPr>
        <p:spPr>
          <a:xfrm>
            <a:off x="7488138" y="4282529"/>
            <a:ext cx="130313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0.961</a:t>
            </a:r>
            <a:endParaRPr lang="en-US" sz="2025" dirty="0"/>
          </a:p>
        </p:txBody>
      </p:sp>
      <p:sp>
        <p:nvSpPr>
          <p:cNvPr id="42" name="Shape 40"/>
          <p:cNvSpPr/>
          <p:nvPr/>
        </p:nvSpPr>
        <p:spPr>
          <a:xfrm>
            <a:off x="8886527" y="4758779"/>
            <a:ext cx="472232" cy="9525"/>
          </a:xfrm>
          <a:prstGeom prst="rect">
            <a:avLst/>
          </a:prstGeom>
          <a:solidFill>
            <a:srgbClr val="D8D4CD"/>
          </a:solidFill>
          <a:ln/>
        </p:spPr>
      </p:sp>
      <p:sp>
        <p:nvSpPr>
          <p:cNvPr id="43" name="Text 41"/>
          <p:cNvSpPr/>
          <p:nvPr/>
        </p:nvSpPr>
        <p:spPr>
          <a:xfrm>
            <a:off x="8886527" y="4282529"/>
            <a:ext cx="548432"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278</a:t>
            </a:r>
            <a:endParaRPr lang="en-US" sz="2025" dirty="0"/>
          </a:p>
        </p:txBody>
      </p:sp>
      <p:sp>
        <p:nvSpPr>
          <p:cNvPr id="44" name="Shape 42"/>
          <p:cNvSpPr/>
          <p:nvPr/>
        </p:nvSpPr>
        <p:spPr>
          <a:xfrm>
            <a:off x="952500" y="5387429"/>
            <a:ext cx="4422577" cy="9525"/>
          </a:xfrm>
          <a:prstGeom prst="rect">
            <a:avLst/>
          </a:prstGeom>
          <a:solidFill>
            <a:srgbClr val="D8D4CD"/>
          </a:solidFill>
          <a:ln/>
        </p:spPr>
      </p:sp>
      <p:sp>
        <p:nvSpPr>
          <p:cNvPr id="45" name="Text 43"/>
          <p:cNvSpPr/>
          <p:nvPr/>
        </p:nvSpPr>
        <p:spPr>
          <a:xfrm>
            <a:off x="952500" y="4911179"/>
            <a:ext cx="438380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bert-base-mlm-prompt (E1-p)</a:t>
            </a:r>
            <a:endParaRPr lang="en-US" sz="2025" dirty="0"/>
          </a:p>
        </p:txBody>
      </p:sp>
      <p:sp>
        <p:nvSpPr>
          <p:cNvPr id="46" name="Shape 44"/>
          <p:cNvSpPr/>
          <p:nvPr/>
        </p:nvSpPr>
        <p:spPr>
          <a:xfrm>
            <a:off x="5375077" y="5387429"/>
            <a:ext cx="933004" cy="9525"/>
          </a:xfrm>
          <a:prstGeom prst="rect">
            <a:avLst/>
          </a:prstGeom>
          <a:solidFill>
            <a:srgbClr val="D8D4CD"/>
          </a:solidFill>
          <a:ln/>
        </p:spPr>
      </p:sp>
      <p:sp>
        <p:nvSpPr>
          <p:cNvPr id="47" name="Text 45"/>
          <p:cNvSpPr/>
          <p:nvPr/>
        </p:nvSpPr>
        <p:spPr>
          <a:xfrm>
            <a:off x="5375077" y="4911179"/>
            <a:ext cx="83775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0.000*</a:t>
            </a:r>
            <a:endParaRPr lang="en-US" sz="2025" dirty="0"/>
          </a:p>
        </p:txBody>
      </p:sp>
      <p:sp>
        <p:nvSpPr>
          <p:cNvPr id="48" name="Shape 46"/>
          <p:cNvSpPr/>
          <p:nvPr/>
        </p:nvSpPr>
        <p:spPr>
          <a:xfrm>
            <a:off x="6308080" y="5387429"/>
            <a:ext cx="1180058" cy="9525"/>
          </a:xfrm>
          <a:prstGeom prst="rect">
            <a:avLst/>
          </a:prstGeom>
          <a:solidFill>
            <a:srgbClr val="D8D4CD"/>
          </a:solidFill>
          <a:ln/>
        </p:spPr>
      </p:sp>
      <p:sp>
        <p:nvSpPr>
          <p:cNvPr id="49" name="Text 47"/>
          <p:cNvSpPr/>
          <p:nvPr/>
        </p:nvSpPr>
        <p:spPr>
          <a:xfrm>
            <a:off x="6308080" y="4911179"/>
            <a:ext cx="108480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0.227</a:t>
            </a:r>
            <a:endParaRPr lang="en-US" sz="2025" dirty="0"/>
          </a:p>
        </p:txBody>
      </p:sp>
      <p:sp>
        <p:nvSpPr>
          <p:cNvPr id="50" name="Shape 48"/>
          <p:cNvSpPr/>
          <p:nvPr/>
        </p:nvSpPr>
        <p:spPr>
          <a:xfrm>
            <a:off x="7488138" y="5387429"/>
            <a:ext cx="1398389" cy="9525"/>
          </a:xfrm>
          <a:prstGeom prst="rect">
            <a:avLst/>
          </a:prstGeom>
          <a:solidFill>
            <a:srgbClr val="D8D4CD"/>
          </a:solidFill>
          <a:ln/>
        </p:spPr>
      </p:sp>
      <p:sp>
        <p:nvSpPr>
          <p:cNvPr id="51" name="Text 49"/>
          <p:cNvSpPr/>
          <p:nvPr/>
        </p:nvSpPr>
        <p:spPr>
          <a:xfrm>
            <a:off x="7488138" y="4911179"/>
            <a:ext cx="130313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0.722</a:t>
            </a:r>
            <a:endParaRPr lang="en-US" sz="2025" dirty="0"/>
          </a:p>
        </p:txBody>
      </p:sp>
      <p:sp>
        <p:nvSpPr>
          <p:cNvPr id="52" name="Shape 50"/>
          <p:cNvSpPr/>
          <p:nvPr/>
        </p:nvSpPr>
        <p:spPr>
          <a:xfrm>
            <a:off x="8886527" y="5387429"/>
            <a:ext cx="472232" cy="9525"/>
          </a:xfrm>
          <a:prstGeom prst="rect">
            <a:avLst/>
          </a:prstGeom>
          <a:solidFill>
            <a:srgbClr val="D8D4CD"/>
          </a:solidFill>
          <a:ln/>
        </p:spPr>
      </p:sp>
      <p:sp>
        <p:nvSpPr>
          <p:cNvPr id="53" name="Text 51"/>
          <p:cNvSpPr/>
          <p:nvPr/>
        </p:nvSpPr>
        <p:spPr>
          <a:xfrm>
            <a:off x="8886527" y="4911179"/>
            <a:ext cx="548432"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283</a:t>
            </a:r>
            <a:endParaRPr lang="en-US" sz="2025" dirty="0"/>
          </a:p>
        </p:txBody>
      </p:sp>
      <p:sp>
        <p:nvSpPr>
          <p:cNvPr id="54" name="Shape 52"/>
          <p:cNvSpPr/>
          <p:nvPr/>
        </p:nvSpPr>
        <p:spPr>
          <a:xfrm>
            <a:off x="952500" y="6016079"/>
            <a:ext cx="4422577" cy="9525"/>
          </a:xfrm>
          <a:prstGeom prst="rect">
            <a:avLst/>
          </a:prstGeom>
          <a:solidFill>
            <a:srgbClr val="D8D4CD"/>
          </a:solidFill>
          <a:ln/>
        </p:spPr>
      </p:sp>
      <p:sp>
        <p:nvSpPr>
          <p:cNvPr id="55" name="Text 53"/>
          <p:cNvSpPr/>
          <p:nvPr/>
        </p:nvSpPr>
        <p:spPr>
          <a:xfrm>
            <a:off x="952500" y="5539829"/>
            <a:ext cx="438380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distilgpt2-d2 (0-shot)</a:t>
            </a:r>
            <a:endParaRPr lang="en-US" sz="2025" dirty="0"/>
          </a:p>
        </p:txBody>
      </p:sp>
      <p:sp>
        <p:nvSpPr>
          <p:cNvPr id="56" name="Shape 54"/>
          <p:cNvSpPr/>
          <p:nvPr/>
        </p:nvSpPr>
        <p:spPr>
          <a:xfrm>
            <a:off x="5375077" y="6016079"/>
            <a:ext cx="933004" cy="9525"/>
          </a:xfrm>
          <a:prstGeom prst="rect">
            <a:avLst/>
          </a:prstGeom>
          <a:solidFill>
            <a:srgbClr val="D8D4CD"/>
          </a:solidFill>
          <a:ln/>
        </p:spPr>
      </p:sp>
      <p:sp>
        <p:nvSpPr>
          <p:cNvPr id="57" name="Text 55"/>
          <p:cNvSpPr/>
          <p:nvPr/>
        </p:nvSpPr>
        <p:spPr>
          <a:xfrm>
            <a:off x="5375077" y="5539829"/>
            <a:ext cx="83775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0.202</a:t>
            </a:r>
            <a:endParaRPr lang="en-US" sz="2025" dirty="0"/>
          </a:p>
        </p:txBody>
      </p:sp>
      <p:sp>
        <p:nvSpPr>
          <p:cNvPr id="58" name="Shape 56"/>
          <p:cNvSpPr/>
          <p:nvPr/>
        </p:nvSpPr>
        <p:spPr>
          <a:xfrm>
            <a:off x="6308080" y="6016079"/>
            <a:ext cx="1180058" cy="9525"/>
          </a:xfrm>
          <a:prstGeom prst="rect">
            <a:avLst/>
          </a:prstGeom>
          <a:solidFill>
            <a:srgbClr val="D8D4CD"/>
          </a:solidFill>
          <a:ln/>
        </p:spPr>
      </p:sp>
      <p:sp>
        <p:nvSpPr>
          <p:cNvPr id="59" name="Text 57"/>
          <p:cNvSpPr/>
          <p:nvPr/>
        </p:nvSpPr>
        <p:spPr>
          <a:xfrm>
            <a:off x="6308080" y="5539829"/>
            <a:ext cx="108480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0.098</a:t>
            </a:r>
            <a:endParaRPr lang="en-US" sz="2025" dirty="0"/>
          </a:p>
        </p:txBody>
      </p:sp>
      <p:sp>
        <p:nvSpPr>
          <p:cNvPr id="60" name="Shape 58"/>
          <p:cNvSpPr/>
          <p:nvPr/>
        </p:nvSpPr>
        <p:spPr>
          <a:xfrm>
            <a:off x="7488138" y="6016079"/>
            <a:ext cx="1398389" cy="9525"/>
          </a:xfrm>
          <a:prstGeom prst="rect">
            <a:avLst/>
          </a:prstGeom>
          <a:solidFill>
            <a:srgbClr val="D8D4CD"/>
          </a:solidFill>
          <a:ln/>
        </p:spPr>
      </p:sp>
      <p:sp>
        <p:nvSpPr>
          <p:cNvPr id="61" name="Text 59"/>
          <p:cNvSpPr/>
          <p:nvPr/>
        </p:nvSpPr>
        <p:spPr>
          <a:xfrm>
            <a:off x="7488138" y="5539829"/>
            <a:ext cx="130313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0.457</a:t>
            </a:r>
            <a:endParaRPr lang="en-US" sz="2025" dirty="0"/>
          </a:p>
        </p:txBody>
      </p:sp>
      <p:sp>
        <p:nvSpPr>
          <p:cNvPr id="62" name="Shape 60"/>
          <p:cNvSpPr/>
          <p:nvPr/>
        </p:nvSpPr>
        <p:spPr>
          <a:xfrm>
            <a:off x="8886527" y="6016079"/>
            <a:ext cx="472232" cy="9525"/>
          </a:xfrm>
          <a:prstGeom prst="rect">
            <a:avLst/>
          </a:prstGeom>
          <a:solidFill>
            <a:srgbClr val="D8D4CD"/>
          </a:solidFill>
          <a:ln/>
        </p:spPr>
      </p:sp>
      <p:sp>
        <p:nvSpPr>
          <p:cNvPr id="63" name="Text 61"/>
          <p:cNvSpPr/>
          <p:nvPr/>
        </p:nvSpPr>
        <p:spPr>
          <a:xfrm>
            <a:off x="8886527" y="5539829"/>
            <a:ext cx="548432"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645</a:t>
            </a:r>
            <a:endParaRPr lang="en-US" sz="2025" dirty="0"/>
          </a:p>
        </p:txBody>
      </p:sp>
      <p:sp>
        <p:nvSpPr>
          <p:cNvPr id="64" name="Shape 62"/>
          <p:cNvSpPr/>
          <p:nvPr/>
        </p:nvSpPr>
        <p:spPr>
          <a:xfrm>
            <a:off x="952500" y="6644729"/>
            <a:ext cx="4422577" cy="9525"/>
          </a:xfrm>
          <a:prstGeom prst="rect">
            <a:avLst/>
          </a:prstGeom>
          <a:solidFill>
            <a:srgbClr val="D8D4CD"/>
          </a:solidFill>
          <a:ln/>
        </p:spPr>
      </p:sp>
      <p:sp>
        <p:nvSpPr>
          <p:cNvPr id="65" name="Text 63"/>
          <p:cNvSpPr/>
          <p:nvPr/>
        </p:nvSpPr>
        <p:spPr>
          <a:xfrm>
            <a:off x="952500" y="6168479"/>
            <a:ext cx="438380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distilgpt2-d1 (0-shot)</a:t>
            </a:r>
            <a:endParaRPr lang="en-US" sz="2025" dirty="0"/>
          </a:p>
        </p:txBody>
      </p:sp>
      <p:sp>
        <p:nvSpPr>
          <p:cNvPr id="66" name="Shape 64"/>
          <p:cNvSpPr/>
          <p:nvPr/>
        </p:nvSpPr>
        <p:spPr>
          <a:xfrm>
            <a:off x="5375077" y="6644729"/>
            <a:ext cx="933004" cy="9525"/>
          </a:xfrm>
          <a:prstGeom prst="rect">
            <a:avLst/>
          </a:prstGeom>
          <a:solidFill>
            <a:srgbClr val="D8D4CD"/>
          </a:solidFill>
          <a:ln/>
        </p:spPr>
      </p:sp>
      <p:sp>
        <p:nvSpPr>
          <p:cNvPr id="67" name="Text 65"/>
          <p:cNvSpPr/>
          <p:nvPr/>
        </p:nvSpPr>
        <p:spPr>
          <a:xfrm>
            <a:off x="5375077" y="6168479"/>
            <a:ext cx="83775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0.163</a:t>
            </a:r>
            <a:endParaRPr lang="en-US" sz="2025" dirty="0"/>
          </a:p>
        </p:txBody>
      </p:sp>
      <p:sp>
        <p:nvSpPr>
          <p:cNvPr id="68" name="Shape 66"/>
          <p:cNvSpPr/>
          <p:nvPr/>
        </p:nvSpPr>
        <p:spPr>
          <a:xfrm>
            <a:off x="6308080" y="6644729"/>
            <a:ext cx="1180058" cy="9525"/>
          </a:xfrm>
          <a:prstGeom prst="rect">
            <a:avLst/>
          </a:prstGeom>
          <a:solidFill>
            <a:srgbClr val="D8D4CD"/>
          </a:solidFill>
          <a:ln/>
        </p:spPr>
      </p:sp>
      <p:sp>
        <p:nvSpPr>
          <p:cNvPr id="69" name="Text 67"/>
          <p:cNvSpPr/>
          <p:nvPr/>
        </p:nvSpPr>
        <p:spPr>
          <a:xfrm>
            <a:off x="6308080" y="6168479"/>
            <a:ext cx="108480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0.100</a:t>
            </a:r>
            <a:endParaRPr lang="en-US" sz="2025" dirty="0"/>
          </a:p>
        </p:txBody>
      </p:sp>
      <p:sp>
        <p:nvSpPr>
          <p:cNvPr id="70" name="Shape 68"/>
          <p:cNvSpPr/>
          <p:nvPr/>
        </p:nvSpPr>
        <p:spPr>
          <a:xfrm>
            <a:off x="7488138" y="6644729"/>
            <a:ext cx="1398389" cy="9525"/>
          </a:xfrm>
          <a:prstGeom prst="rect">
            <a:avLst/>
          </a:prstGeom>
          <a:solidFill>
            <a:srgbClr val="D8D4CD"/>
          </a:solidFill>
          <a:ln/>
        </p:spPr>
      </p:sp>
      <p:sp>
        <p:nvSpPr>
          <p:cNvPr id="71" name="Text 69"/>
          <p:cNvSpPr/>
          <p:nvPr/>
        </p:nvSpPr>
        <p:spPr>
          <a:xfrm>
            <a:off x="7488138" y="6168479"/>
            <a:ext cx="130313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0.389</a:t>
            </a:r>
            <a:endParaRPr lang="en-US" sz="2025" dirty="0"/>
          </a:p>
        </p:txBody>
      </p:sp>
      <p:sp>
        <p:nvSpPr>
          <p:cNvPr id="72" name="Shape 70"/>
          <p:cNvSpPr/>
          <p:nvPr/>
        </p:nvSpPr>
        <p:spPr>
          <a:xfrm>
            <a:off x="8886527" y="6644729"/>
            <a:ext cx="472232" cy="9525"/>
          </a:xfrm>
          <a:prstGeom prst="rect">
            <a:avLst/>
          </a:prstGeom>
          <a:solidFill>
            <a:srgbClr val="D8D4CD"/>
          </a:solidFill>
          <a:ln/>
        </p:spPr>
      </p:sp>
      <p:sp>
        <p:nvSpPr>
          <p:cNvPr id="73" name="Text 71"/>
          <p:cNvSpPr/>
          <p:nvPr/>
        </p:nvSpPr>
        <p:spPr>
          <a:xfrm>
            <a:off x="8886527" y="6168479"/>
            <a:ext cx="548432"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649</a:t>
            </a:r>
            <a:endParaRPr lang="en-US" sz="2025" dirty="0"/>
          </a:p>
        </p:txBody>
      </p:sp>
      <p:sp>
        <p:nvSpPr>
          <p:cNvPr id="74" name="Shape 72"/>
          <p:cNvSpPr/>
          <p:nvPr/>
        </p:nvSpPr>
        <p:spPr>
          <a:xfrm>
            <a:off x="952500" y="7273379"/>
            <a:ext cx="4422577" cy="9525"/>
          </a:xfrm>
          <a:prstGeom prst="rect">
            <a:avLst/>
          </a:prstGeom>
          <a:solidFill>
            <a:srgbClr val="D8D4CD"/>
          </a:solidFill>
          <a:ln/>
        </p:spPr>
      </p:sp>
      <p:sp>
        <p:nvSpPr>
          <p:cNvPr id="75" name="Text 73"/>
          <p:cNvSpPr/>
          <p:nvPr/>
        </p:nvSpPr>
        <p:spPr>
          <a:xfrm>
            <a:off x="952500" y="6797129"/>
            <a:ext cx="438380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distilbert-student (S1)</a:t>
            </a:r>
            <a:endParaRPr lang="en-US" sz="2025" dirty="0"/>
          </a:p>
        </p:txBody>
      </p:sp>
      <p:sp>
        <p:nvSpPr>
          <p:cNvPr id="76" name="Shape 74"/>
          <p:cNvSpPr/>
          <p:nvPr/>
        </p:nvSpPr>
        <p:spPr>
          <a:xfrm>
            <a:off x="5375077" y="6654254"/>
            <a:ext cx="933004" cy="628650"/>
          </a:xfrm>
          <a:prstGeom prst="rect">
            <a:avLst/>
          </a:prstGeom>
          <a:solidFill>
            <a:srgbClr val="E6E1D8"/>
          </a:solidFill>
          <a:ln/>
        </p:spPr>
      </p:sp>
      <p:sp>
        <p:nvSpPr>
          <p:cNvPr id="77" name="Shape 75"/>
          <p:cNvSpPr/>
          <p:nvPr/>
        </p:nvSpPr>
        <p:spPr>
          <a:xfrm>
            <a:off x="5375077" y="7273379"/>
            <a:ext cx="933004" cy="9525"/>
          </a:xfrm>
          <a:prstGeom prst="rect">
            <a:avLst/>
          </a:prstGeom>
          <a:solidFill>
            <a:srgbClr val="D8D4CD"/>
          </a:solidFill>
          <a:ln/>
        </p:spPr>
      </p:sp>
      <p:sp>
        <p:nvSpPr>
          <p:cNvPr id="78" name="Text 76"/>
          <p:cNvSpPr/>
          <p:nvPr/>
        </p:nvSpPr>
        <p:spPr>
          <a:xfrm>
            <a:off x="5375077" y="6797129"/>
            <a:ext cx="83775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0.695</a:t>
            </a:r>
            <a:endParaRPr lang="en-US" sz="2025" dirty="0"/>
          </a:p>
        </p:txBody>
      </p:sp>
      <p:sp>
        <p:nvSpPr>
          <p:cNvPr id="79" name="Shape 77"/>
          <p:cNvSpPr/>
          <p:nvPr/>
        </p:nvSpPr>
        <p:spPr>
          <a:xfrm>
            <a:off x="6308080" y="6654254"/>
            <a:ext cx="1180058" cy="628650"/>
          </a:xfrm>
          <a:prstGeom prst="rect">
            <a:avLst/>
          </a:prstGeom>
          <a:solidFill>
            <a:srgbClr val="E6E1D8"/>
          </a:solidFill>
          <a:ln/>
        </p:spPr>
      </p:sp>
      <p:sp>
        <p:nvSpPr>
          <p:cNvPr id="80" name="Shape 78"/>
          <p:cNvSpPr/>
          <p:nvPr/>
        </p:nvSpPr>
        <p:spPr>
          <a:xfrm>
            <a:off x="6308080" y="7273379"/>
            <a:ext cx="1180058" cy="9525"/>
          </a:xfrm>
          <a:prstGeom prst="rect">
            <a:avLst/>
          </a:prstGeom>
          <a:solidFill>
            <a:srgbClr val="D8D4CD"/>
          </a:solidFill>
          <a:ln/>
        </p:spPr>
      </p:sp>
      <p:sp>
        <p:nvSpPr>
          <p:cNvPr id="81" name="Text 79"/>
          <p:cNvSpPr/>
          <p:nvPr/>
        </p:nvSpPr>
        <p:spPr>
          <a:xfrm>
            <a:off x="6308080" y="6797129"/>
            <a:ext cx="108480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0.786</a:t>
            </a:r>
            <a:endParaRPr lang="en-US" sz="2025" dirty="0"/>
          </a:p>
        </p:txBody>
      </p:sp>
      <p:sp>
        <p:nvSpPr>
          <p:cNvPr id="82" name="Shape 80"/>
          <p:cNvSpPr/>
          <p:nvPr/>
        </p:nvSpPr>
        <p:spPr>
          <a:xfrm>
            <a:off x="7488138" y="6654254"/>
            <a:ext cx="1398389" cy="628650"/>
          </a:xfrm>
          <a:prstGeom prst="rect">
            <a:avLst/>
          </a:prstGeom>
          <a:solidFill>
            <a:srgbClr val="E6E1D8"/>
          </a:solidFill>
          <a:ln/>
        </p:spPr>
      </p:sp>
      <p:sp>
        <p:nvSpPr>
          <p:cNvPr id="83" name="Shape 81"/>
          <p:cNvSpPr/>
          <p:nvPr/>
        </p:nvSpPr>
        <p:spPr>
          <a:xfrm>
            <a:off x="7488138" y="7273379"/>
            <a:ext cx="1398389" cy="9525"/>
          </a:xfrm>
          <a:prstGeom prst="rect">
            <a:avLst/>
          </a:prstGeom>
          <a:solidFill>
            <a:srgbClr val="D8D4CD"/>
          </a:solidFill>
          <a:ln/>
        </p:spPr>
      </p:sp>
      <p:sp>
        <p:nvSpPr>
          <p:cNvPr id="84" name="Text 82"/>
          <p:cNvSpPr/>
          <p:nvPr/>
        </p:nvSpPr>
        <p:spPr>
          <a:xfrm>
            <a:off x="7488138" y="6797129"/>
            <a:ext cx="130313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0.966</a:t>
            </a:r>
            <a:endParaRPr lang="en-US" sz="2025" dirty="0"/>
          </a:p>
        </p:txBody>
      </p:sp>
      <p:sp>
        <p:nvSpPr>
          <p:cNvPr id="85" name="Shape 83"/>
          <p:cNvSpPr/>
          <p:nvPr/>
        </p:nvSpPr>
        <p:spPr>
          <a:xfrm>
            <a:off x="8886527" y="6654254"/>
            <a:ext cx="472232" cy="628650"/>
          </a:xfrm>
          <a:prstGeom prst="rect">
            <a:avLst/>
          </a:prstGeom>
          <a:solidFill>
            <a:srgbClr val="E6E1D8"/>
          </a:solidFill>
          <a:ln/>
        </p:spPr>
      </p:sp>
      <p:sp>
        <p:nvSpPr>
          <p:cNvPr id="86" name="Shape 84"/>
          <p:cNvSpPr/>
          <p:nvPr/>
        </p:nvSpPr>
        <p:spPr>
          <a:xfrm>
            <a:off x="8886527" y="7273379"/>
            <a:ext cx="472232" cy="9525"/>
          </a:xfrm>
          <a:prstGeom prst="rect">
            <a:avLst/>
          </a:prstGeom>
          <a:solidFill>
            <a:srgbClr val="D8D4CD"/>
          </a:solidFill>
          <a:ln/>
        </p:spPr>
      </p:sp>
      <p:sp>
        <p:nvSpPr>
          <p:cNvPr id="87" name="Text 85"/>
          <p:cNvSpPr/>
          <p:nvPr/>
        </p:nvSpPr>
        <p:spPr>
          <a:xfrm>
            <a:off x="8886527" y="6797129"/>
            <a:ext cx="548432"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263</a:t>
            </a:r>
            <a:endParaRPr lang="en-US" sz="2025" dirty="0"/>
          </a:p>
        </p:txBody>
      </p:sp>
      <p:sp>
        <p:nvSpPr>
          <p:cNvPr id="88" name="Shape 86"/>
          <p:cNvSpPr/>
          <p:nvPr/>
        </p:nvSpPr>
        <p:spPr>
          <a:xfrm>
            <a:off x="952500" y="7902029"/>
            <a:ext cx="4422577" cy="9525"/>
          </a:xfrm>
          <a:prstGeom prst="rect">
            <a:avLst/>
          </a:prstGeom>
          <a:solidFill>
            <a:srgbClr val="D8D4CD"/>
          </a:solidFill>
          <a:ln/>
        </p:spPr>
      </p:sp>
      <p:sp>
        <p:nvSpPr>
          <p:cNvPr id="89" name="Text 87"/>
          <p:cNvSpPr/>
          <p:nvPr/>
        </p:nvSpPr>
        <p:spPr>
          <a:xfrm>
            <a:off x="952500" y="7425779"/>
            <a:ext cx="438380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distilgpt2-d1-ft</a:t>
            </a:r>
            <a:endParaRPr lang="en-US" sz="2025" dirty="0"/>
          </a:p>
        </p:txBody>
      </p:sp>
      <p:sp>
        <p:nvSpPr>
          <p:cNvPr id="90" name="Shape 88"/>
          <p:cNvSpPr/>
          <p:nvPr/>
        </p:nvSpPr>
        <p:spPr>
          <a:xfrm>
            <a:off x="5375077" y="7282904"/>
            <a:ext cx="933004" cy="628650"/>
          </a:xfrm>
          <a:prstGeom prst="rect">
            <a:avLst/>
          </a:prstGeom>
          <a:solidFill>
            <a:srgbClr val="E6E1D8"/>
          </a:solidFill>
          <a:ln/>
        </p:spPr>
      </p:sp>
      <p:sp>
        <p:nvSpPr>
          <p:cNvPr id="91" name="Shape 89"/>
          <p:cNvSpPr/>
          <p:nvPr/>
        </p:nvSpPr>
        <p:spPr>
          <a:xfrm>
            <a:off x="5375077" y="7902029"/>
            <a:ext cx="933004" cy="9525"/>
          </a:xfrm>
          <a:prstGeom prst="rect">
            <a:avLst/>
          </a:prstGeom>
          <a:solidFill>
            <a:srgbClr val="D8D4CD"/>
          </a:solidFill>
          <a:ln/>
        </p:spPr>
      </p:sp>
      <p:sp>
        <p:nvSpPr>
          <p:cNvPr id="92" name="Text 90"/>
          <p:cNvSpPr/>
          <p:nvPr/>
        </p:nvSpPr>
        <p:spPr>
          <a:xfrm>
            <a:off x="5375077" y="7425779"/>
            <a:ext cx="837754"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0.546</a:t>
            </a:r>
            <a:endParaRPr lang="en-US" sz="2025" dirty="0"/>
          </a:p>
        </p:txBody>
      </p:sp>
      <p:sp>
        <p:nvSpPr>
          <p:cNvPr id="93" name="Shape 91"/>
          <p:cNvSpPr/>
          <p:nvPr/>
        </p:nvSpPr>
        <p:spPr>
          <a:xfrm>
            <a:off x="6308080" y="7282904"/>
            <a:ext cx="1180058" cy="628650"/>
          </a:xfrm>
          <a:prstGeom prst="rect">
            <a:avLst/>
          </a:prstGeom>
          <a:solidFill>
            <a:srgbClr val="E6E1D8"/>
          </a:solidFill>
          <a:ln/>
        </p:spPr>
      </p:sp>
      <p:sp>
        <p:nvSpPr>
          <p:cNvPr id="94" name="Shape 92"/>
          <p:cNvSpPr/>
          <p:nvPr/>
        </p:nvSpPr>
        <p:spPr>
          <a:xfrm>
            <a:off x="6308080" y="7902029"/>
            <a:ext cx="1180058" cy="9525"/>
          </a:xfrm>
          <a:prstGeom prst="rect">
            <a:avLst/>
          </a:prstGeom>
          <a:solidFill>
            <a:srgbClr val="D8D4CD"/>
          </a:solidFill>
          <a:ln/>
        </p:spPr>
      </p:sp>
      <p:sp>
        <p:nvSpPr>
          <p:cNvPr id="95" name="Text 93"/>
          <p:cNvSpPr/>
          <p:nvPr/>
        </p:nvSpPr>
        <p:spPr>
          <a:xfrm>
            <a:off x="6308080" y="7425779"/>
            <a:ext cx="1084808"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0.732</a:t>
            </a:r>
            <a:endParaRPr lang="en-US" sz="2025" dirty="0"/>
          </a:p>
        </p:txBody>
      </p:sp>
      <p:sp>
        <p:nvSpPr>
          <p:cNvPr id="96" name="Shape 94"/>
          <p:cNvSpPr/>
          <p:nvPr/>
        </p:nvSpPr>
        <p:spPr>
          <a:xfrm>
            <a:off x="7488138" y="7282904"/>
            <a:ext cx="1398389" cy="628650"/>
          </a:xfrm>
          <a:prstGeom prst="rect">
            <a:avLst/>
          </a:prstGeom>
          <a:solidFill>
            <a:srgbClr val="E6E1D8"/>
          </a:solidFill>
          <a:ln/>
        </p:spPr>
      </p:sp>
      <p:sp>
        <p:nvSpPr>
          <p:cNvPr id="97" name="Shape 95"/>
          <p:cNvSpPr/>
          <p:nvPr/>
        </p:nvSpPr>
        <p:spPr>
          <a:xfrm>
            <a:off x="7488138" y="7902029"/>
            <a:ext cx="1398389" cy="9525"/>
          </a:xfrm>
          <a:prstGeom prst="rect">
            <a:avLst/>
          </a:prstGeom>
          <a:solidFill>
            <a:srgbClr val="D8D4CD"/>
          </a:solidFill>
          <a:ln/>
        </p:spPr>
      </p:sp>
      <p:sp>
        <p:nvSpPr>
          <p:cNvPr id="98" name="Text 96"/>
          <p:cNvSpPr/>
          <p:nvPr/>
        </p:nvSpPr>
        <p:spPr>
          <a:xfrm>
            <a:off x="7488138" y="7425779"/>
            <a:ext cx="1303139"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0.961</a:t>
            </a:r>
            <a:endParaRPr lang="en-US" sz="2025" dirty="0"/>
          </a:p>
        </p:txBody>
      </p:sp>
      <p:sp>
        <p:nvSpPr>
          <p:cNvPr id="99" name="Shape 97"/>
          <p:cNvSpPr/>
          <p:nvPr/>
        </p:nvSpPr>
        <p:spPr>
          <a:xfrm>
            <a:off x="8886527" y="7282904"/>
            <a:ext cx="472232" cy="628650"/>
          </a:xfrm>
          <a:prstGeom prst="rect">
            <a:avLst/>
          </a:prstGeom>
          <a:solidFill>
            <a:srgbClr val="E6E1D8"/>
          </a:solidFill>
          <a:ln/>
        </p:spPr>
      </p:sp>
      <p:sp>
        <p:nvSpPr>
          <p:cNvPr id="100" name="Shape 98"/>
          <p:cNvSpPr/>
          <p:nvPr/>
        </p:nvSpPr>
        <p:spPr>
          <a:xfrm>
            <a:off x="8886527" y="7902029"/>
            <a:ext cx="472232" cy="9525"/>
          </a:xfrm>
          <a:prstGeom prst="rect">
            <a:avLst/>
          </a:prstGeom>
          <a:solidFill>
            <a:srgbClr val="D8D4CD"/>
          </a:solidFill>
          <a:ln/>
        </p:spPr>
      </p:sp>
      <p:sp>
        <p:nvSpPr>
          <p:cNvPr id="101" name="Text 99"/>
          <p:cNvSpPr/>
          <p:nvPr/>
        </p:nvSpPr>
        <p:spPr>
          <a:xfrm>
            <a:off x="8886527" y="7425779"/>
            <a:ext cx="548432" cy="371475"/>
          </a:xfrm>
          <a:prstGeom prst="rect">
            <a:avLst/>
          </a:prstGeom>
          <a:noFill/>
          <a:ln/>
        </p:spPr>
        <p:txBody>
          <a:bodyPr wrap="square" lIns="25400" tIns="25400" rIns="25400" bIns="25400" rtlCol="0" anchor="ctr">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a:t>
            </a:r>
            <a:endParaRPr lang="en-US" sz="2025" dirty="0"/>
          </a:p>
        </p:txBody>
      </p:sp>
      <p:sp>
        <p:nvSpPr>
          <p:cNvPr id="102" name="Text 100"/>
          <p:cNvSpPr/>
          <p:nvPr/>
        </p:nvSpPr>
        <p:spPr>
          <a:xfrm>
            <a:off x="10025509" y="2429917"/>
            <a:ext cx="8040826" cy="333375"/>
          </a:xfrm>
          <a:prstGeom prst="rect">
            <a:avLst/>
          </a:prstGeom>
          <a:noFill/>
          <a:ln/>
        </p:spPr>
        <p:txBody>
          <a:bodyPr wrap="square" lIns="25400" tIns="25400" rIns="25400" bIns="25400" rtlCol="0" anchor="t">
            <a:normAutofit/>
          </a:bodyPr>
          <a:lstStyle/>
          <a:p>
            <a:pPr algn="l" indent="0" marL="0">
              <a:buNone/>
            </a:pPr>
            <a:r>
              <a:rPr lang="en-US" sz="1950" b="1" spc="273" kern="0" dirty="0">
                <a:solidFill>
                  <a:srgbClr val="8A857C"/>
                </a:solidFill>
                <a:latin typeface="Arial" pitchFamily="34" charset="0"/>
                <a:ea typeface="Arial" pitchFamily="34" charset="-122"/>
                <a:cs typeface="Arial" pitchFamily="34" charset="-120"/>
              </a:rPr>
              <a:t>F1 BY CONFIGURATION</a:t>
            </a:r>
            <a:endParaRPr lang="en-US" sz="1950" dirty="0"/>
          </a:p>
        </p:txBody>
      </p:sp>
      <p:sp>
        <p:nvSpPr>
          <p:cNvPr id="103" name="Text 101"/>
          <p:cNvSpPr/>
          <p:nvPr/>
        </p:nvSpPr>
        <p:spPr>
          <a:xfrm>
            <a:off x="10025509" y="3010942"/>
            <a:ext cx="1990725" cy="361950"/>
          </a:xfrm>
          <a:prstGeom prst="rect">
            <a:avLst/>
          </a:prstGeom>
          <a:noFill/>
          <a:ln/>
        </p:spPr>
        <p:txBody>
          <a:bodyPr wrap="square" lIns="25400" tIns="25400" rIns="25400" bIns="25400" rtlCol="0" anchor="t">
            <a:normAutofit/>
          </a:bodyPr>
          <a:lstStyle/>
          <a:p>
            <a:pPr algn="l" indent="0" marL="0">
              <a:buNone/>
            </a:pPr>
            <a:r>
              <a:rPr lang="en-US" sz="1950" dirty="0">
                <a:solidFill>
                  <a:srgbClr val="1A1917"/>
                </a:solidFill>
                <a:latin typeface="Courier New" pitchFamily="34" charset="0"/>
                <a:ea typeface="Courier New" pitchFamily="34" charset="-122"/>
                <a:cs typeface="Courier New" pitchFamily="34" charset="-120"/>
              </a:rPr>
              <a:t>E2</a:t>
            </a:r>
            <a:endParaRPr lang="en-US" sz="1950" dirty="0"/>
          </a:p>
        </p:txBody>
      </p:sp>
      <p:sp>
        <p:nvSpPr>
          <p:cNvPr id="104" name="Shape 102"/>
          <p:cNvSpPr/>
          <p:nvPr/>
        </p:nvSpPr>
        <p:spPr>
          <a:xfrm>
            <a:off x="12006709" y="3010942"/>
            <a:ext cx="4299942" cy="323850"/>
          </a:xfrm>
          <a:prstGeom prst="rect">
            <a:avLst/>
          </a:prstGeom>
          <a:solidFill>
            <a:srgbClr val="E6E1D8"/>
          </a:solidFill>
          <a:ln/>
        </p:spPr>
      </p:sp>
      <p:sp>
        <p:nvSpPr>
          <p:cNvPr id="105" name="Shape 103"/>
          <p:cNvSpPr/>
          <p:nvPr/>
        </p:nvSpPr>
        <p:spPr>
          <a:xfrm>
            <a:off x="12006709" y="3010942"/>
            <a:ext cx="3233440" cy="323850"/>
          </a:xfrm>
          <a:prstGeom prst="rect">
            <a:avLst/>
          </a:prstGeom>
          <a:solidFill>
            <a:srgbClr val="22211D"/>
          </a:solidFill>
          <a:ln/>
        </p:spPr>
      </p:sp>
      <p:sp>
        <p:nvSpPr>
          <p:cNvPr id="106" name="Text 104"/>
          <p:cNvSpPr/>
          <p:nvPr/>
        </p:nvSpPr>
        <p:spPr>
          <a:xfrm>
            <a:off x="16401901" y="3025229"/>
            <a:ext cx="933450" cy="333375"/>
          </a:xfrm>
          <a:prstGeom prst="rect">
            <a:avLst/>
          </a:prstGeom>
          <a:noFill/>
          <a:ln/>
        </p:spPr>
        <p:txBody>
          <a:bodyPr wrap="square" lIns="25400" tIns="25400" rIns="25400" bIns="25400" rtlCol="0" anchor="t">
            <a:normAutofit/>
          </a:bodyPr>
          <a:lstStyle/>
          <a:p>
            <a:pPr algn="r" indent="0" marL="0">
              <a:buNone/>
            </a:pPr>
            <a:r>
              <a:rPr lang="en-US" sz="1950" dirty="0">
                <a:solidFill>
                  <a:srgbClr val="1A1917"/>
                </a:solidFill>
                <a:latin typeface="Arial" pitchFamily="34" charset="0"/>
                <a:ea typeface="Arial" pitchFamily="34" charset="-122"/>
                <a:cs typeface="Arial" pitchFamily="34" charset="-120"/>
              </a:rPr>
              <a:t>0.752</a:t>
            </a:r>
            <a:endParaRPr lang="en-US" sz="1950" dirty="0"/>
          </a:p>
        </p:txBody>
      </p:sp>
      <p:sp>
        <p:nvSpPr>
          <p:cNvPr id="107" name="Text 105"/>
          <p:cNvSpPr/>
          <p:nvPr/>
        </p:nvSpPr>
        <p:spPr>
          <a:xfrm>
            <a:off x="10025509" y="3525292"/>
            <a:ext cx="1990725" cy="361950"/>
          </a:xfrm>
          <a:prstGeom prst="rect">
            <a:avLst/>
          </a:prstGeom>
          <a:noFill/>
          <a:ln/>
        </p:spPr>
        <p:txBody>
          <a:bodyPr wrap="square" lIns="25400" tIns="25400" rIns="25400" bIns="25400" rtlCol="0" anchor="t">
            <a:normAutofit/>
          </a:bodyPr>
          <a:lstStyle/>
          <a:p>
            <a:pPr algn="l" indent="0" marL="0">
              <a:buNone/>
            </a:pPr>
            <a:r>
              <a:rPr lang="en-US" sz="1950" dirty="0">
                <a:solidFill>
                  <a:srgbClr val="1A1917"/>
                </a:solidFill>
                <a:latin typeface="Courier New" pitchFamily="34" charset="0"/>
                <a:ea typeface="Courier New" pitchFamily="34" charset="-122"/>
                <a:cs typeface="Courier New" pitchFamily="34" charset="-120"/>
              </a:rPr>
              <a:t>E0</a:t>
            </a:r>
            <a:endParaRPr lang="en-US" sz="1950" dirty="0"/>
          </a:p>
        </p:txBody>
      </p:sp>
      <p:sp>
        <p:nvSpPr>
          <p:cNvPr id="108" name="Shape 106"/>
          <p:cNvSpPr/>
          <p:nvPr/>
        </p:nvSpPr>
        <p:spPr>
          <a:xfrm>
            <a:off x="12006709" y="3525292"/>
            <a:ext cx="4299942" cy="323850"/>
          </a:xfrm>
          <a:prstGeom prst="rect">
            <a:avLst/>
          </a:prstGeom>
          <a:solidFill>
            <a:srgbClr val="E6E1D8"/>
          </a:solidFill>
          <a:ln/>
        </p:spPr>
      </p:sp>
      <p:sp>
        <p:nvSpPr>
          <p:cNvPr id="109" name="Shape 107"/>
          <p:cNvSpPr/>
          <p:nvPr/>
        </p:nvSpPr>
        <p:spPr>
          <a:xfrm>
            <a:off x="12006709" y="3525292"/>
            <a:ext cx="3022848" cy="323850"/>
          </a:xfrm>
          <a:prstGeom prst="rect">
            <a:avLst/>
          </a:prstGeom>
          <a:solidFill>
            <a:srgbClr val="00939A"/>
          </a:solidFill>
          <a:ln/>
        </p:spPr>
      </p:sp>
      <p:sp>
        <p:nvSpPr>
          <p:cNvPr id="110" name="Text 108"/>
          <p:cNvSpPr/>
          <p:nvPr/>
        </p:nvSpPr>
        <p:spPr>
          <a:xfrm>
            <a:off x="16401901" y="3539579"/>
            <a:ext cx="933450" cy="333375"/>
          </a:xfrm>
          <a:prstGeom prst="rect">
            <a:avLst/>
          </a:prstGeom>
          <a:noFill/>
          <a:ln/>
        </p:spPr>
        <p:txBody>
          <a:bodyPr wrap="square" lIns="25400" tIns="25400" rIns="25400" bIns="25400" rtlCol="0" anchor="t">
            <a:normAutofit/>
          </a:bodyPr>
          <a:lstStyle/>
          <a:p>
            <a:pPr algn="r" indent="0" marL="0">
              <a:buNone/>
            </a:pPr>
            <a:r>
              <a:rPr lang="en-US" sz="1950" dirty="0">
                <a:solidFill>
                  <a:srgbClr val="1A1917"/>
                </a:solidFill>
                <a:latin typeface="Arial" pitchFamily="34" charset="0"/>
                <a:ea typeface="Arial" pitchFamily="34" charset="-122"/>
                <a:cs typeface="Arial" pitchFamily="34" charset="-120"/>
              </a:rPr>
              <a:t>0.703</a:t>
            </a:r>
            <a:endParaRPr lang="en-US" sz="1950" dirty="0"/>
          </a:p>
        </p:txBody>
      </p:sp>
      <p:sp>
        <p:nvSpPr>
          <p:cNvPr id="111" name="Text 109"/>
          <p:cNvSpPr/>
          <p:nvPr/>
        </p:nvSpPr>
        <p:spPr>
          <a:xfrm>
            <a:off x="10025509" y="4039642"/>
            <a:ext cx="1990725" cy="361950"/>
          </a:xfrm>
          <a:prstGeom prst="rect">
            <a:avLst/>
          </a:prstGeom>
          <a:noFill/>
          <a:ln/>
        </p:spPr>
        <p:txBody>
          <a:bodyPr wrap="square" lIns="25400" tIns="25400" rIns="25400" bIns="25400" rtlCol="0" anchor="t">
            <a:normAutofit/>
          </a:bodyPr>
          <a:lstStyle/>
          <a:p>
            <a:pPr algn="l" indent="0" marL="0">
              <a:buNone/>
            </a:pPr>
            <a:r>
              <a:rPr lang="en-US" sz="1950" dirty="0">
                <a:solidFill>
                  <a:srgbClr val="1A1917"/>
                </a:solidFill>
                <a:latin typeface="Courier New" pitchFamily="34" charset="0"/>
                <a:ea typeface="Courier New" pitchFamily="34" charset="-122"/>
                <a:cs typeface="Courier New" pitchFamily="34" charset="-120"/>
              </a:rPr>
              <a:t>E1</a:t>
            </a:r>
            <a:endParaRPr lang="en-US" sz="1950" dirty="0"/>
          </a:p>
        </p:txBody>
      </p:sp>
      <p:sp>
        <p:nvSpPr>
          <p:cNvPr id="112" name="Shape 110"/>
          <p:cNvSpPr/>
          <p:nvPr/>
        </p:nvSpPr>
        <p:spPr>
          <a:xfrm>
            <a:off x="12006709" y="4039642"/>
            <a:ext cx="4299942" cy="323850"/>
          </a:xfrm>
          <a:prstGeom prst="rect">
            <a:avLst/>
          </a:prstGeom>
          <a:solidFill>
            <a:srgbClr val="E6E1D8"/>
          </a:solidFill>
          <a:ln/>
        </p:spPr>
      </p:sp>
      <p:sp>
        <p:nvSpPr>
          <p:cNvPr id="113" name="Shape 111"/>
          <p:cNvSpPr/>
          <p:nvPr/>
        </p:nvSpPr>
        <p:spPr>
          <a:xfrm>
            <a:off x="12006709" y="4039642"/>
            <a:ext cx="2902446" cy="323850"/>
          </a:xfrm>
          <a:prstGeom prst="rect">
            <a:avLst/>
          </a:prstGeom>
          <a:solidFill>
            <a:srgbClr val="22211D"/>
          </a:solidFill>
          <a:ln/>
        </p:spPr>
      </p:sp>
      <p:sp>
        <p:nvSpPr>
          <p:cNvPr id="114" name="Text 112"/>
          <p:cNvSpPr/>
          <p:nvPr/>
        </p:nvSpPr>
        <p:spPr>
          <a:xfrm>
            <a:off x="16401901" y="4053929"/>
            <a:ext cx="933450" cy="333375"/>
          </a:xfrm>
          <a:prstGeom prst="rect">
            <a:avLst/>
          </a:prstGeom>
          <a:noFill/>
          <a:ln/>
        </p:spPr>
        <p:txBody>
          <a:bodyPr wrap="square" lIns="25400" tIns="25400" rIns="25400" bIns="25400" rtlCol="0" anchor="t">
            <a:normAutofit/>
          </a:bodyPr>
          <a:lstStyle/>
          <a:p>
            <a:pPr algn="r" indent="0" marL="0">
              <a:buNone/>
            </a:pPr>
            <a:r>
              <a:rPr lang="en-US" sz="1950" dirty="0">
                <a:solidFill>
                  <a:srgbClr val="1A1917"/>
                </a:solidFill>
                <a:latin typeface="Arial" pitchFamily="34" charset="0"/>
                <a:ea typeface="Arial" pitchFamily="34" charset="-122"/>
                <a:cs typeface="Arial" pitchFamily="34" charset="-120"/>
              </a:rPr>
              <a:t>0.675</a:t>
            </a:r>
            <a:endParaRPr lang="en-US" sz="1950" dirty="0"/>
          </a:p>
        </p:txBody>
      </p:sp>
      <p:sp>
        <p:nvSpPr>
          <p:cNvPr id="115" name="Text 113"/>
          <p:cNvSpPr/>
          <p:nvPr/>
        </p:nvSpPr>
        <p:spPr>
          <a:xfrm>
            <a:off x="10025509" y="4553992"/>
            <a:ext cx="1990725" cy="361950"/>
          </a:xfrm>
          <a:prstGeom prst="rect">
            <a:avLst/>
          </a:prstGeom>
          <a:noFill/>
          <a:ln/>
        </p:spPr>
        <p:txBody>
          <a:bodyPr wrap="square" lIns="25400" tIns="25400" rIns="25400" bIns="25400" rtlCol="0" anchor="t">
            <a:normAutofit/>
          </a:bodyPr>
          <a:lstStyle/>
          <a:p>
            <a:pPr algn="l" indent="0" marL="0">
              <a:buNone/>
            </a:pPr>
            <a:r>
              <a:rPr lang="en-US" sz="1950" dirty="0">
                <a:solidFill>
                  <a:srgbClr val="1A1917"/>
                </a:solidFill>
                <a:latin typeface="Courier New" pitchFamily="34" charset="0"/>
                <a:ea typeface="Courier New" pitchFamily="34" charset="-122"/>
                <a:cs typeface="Courier New" pitchFamily="34" charset="-120"/>
              </a:rPr>
              <a:t>D2</a:t>
            </a:r>
            <a:endParaRPr lang="en-US" sz="1950" dirty="0"/>
          </a:p>
        </p:txBody>
      </p:sp>
      <p:sp>
        <p:nvSpPr>
          <p:cNvPr id="116" name="Shape 114"/>
          <p:cNvSpPr/>
          <p:nvPr/>
        </p:nvSpPr>
        <p:spPr>
          <a:xfrm>
            <a:off x="12006709" y="4553992"/>
            <a:ext cx="4299942" cy="323850"/>
          </a:xfrm>
          <a:prstGeom prst="rect">
            <a:avLst/>
          </a:prstGeom>
          <a:solidFill>
            <a:srgbClr val="E6E1D8"/>
          </a:solidFill>
          <a:ln/>
        </p:spPr>
      </p:sp>
      <p:sp>
        <p:nvSpPr>
          <p:cNvPr id="117" name="Shape 115"/>
          <p:cNvSpPr/>
          <p:nvPr/>
        </p:nvSpPr>
        <p:spPr>
          <a:xfrm>
            <a:off x="12006709" y="4553992"/>
            <a:ext cx="868561" cy="323850"/>
          </a:xfrm>
          <a:prstGeom prst="rect">
            <a:avLst/>
          </a:prstGeom>
          <a:solidFill>
            <a:srgbClr val="B96365"/>
          </a:solidFill>
          <a:ln/>
        </p:spPr>
      </p:sp>
      <p:sp>
        <p:nvSpPr>
          <p:cNvPr id="118" name="Text 116"/>
          <p:cNvSpPr/>
          <p:nvPr/>
        </p:nvSpPr>
        <p:spPr>
          <a:xfrm>
            <a:off x="16401901" y="4568279"/>
            <a:ext cx="933450" cy="333375"/>
          </a:xfrm>
          <a:prstGeom prst="rect">
            <a:avLst/>
          </a:prstGeom>
          <a:noFill/>
          <a:ln/>
        </p:spPr>
        <p:txBody>
          <a:bodyPr wrap="square" lIns="25400" tIns="25400" rIns="25400" bIns="25400" rtlCol="0" anchor="t">
            <a:normAutofit/>
          </a:bodyPr>
          <a:lstStyle/>
          <a:p>
            <a:pPr algn="r" indent="0" marL="0">
              <a:buNone/>
            </a:pPr>
            <a:r>
              <a:rPr lang="en-US" sz="1950" dirty="0">
                <a:solidFill>
                  <a:srgbClr val="1A1917"/>
                </a:solidFill>
                <a:latin typeface="Arial" pitchFamily="34" charset="0"/>
                <a:ea typeface="Arial" pitchFamily="34" charset="-122"/>
                <a:cs typeface="Arial" pitchFamily="34" charset="-120"/>
              </a:rPr>
              <a:t>0.202</a:t>
            </a:r>
            <a:endParaRPr lang="en-US" sz="1950" dirty="0"/>
          </a:p>
        </p:txBody>
      </p:sp>
      <p:sp>
        <p:nvSpPr>
          <p:cNvPr id="119" name="Text 117"/>
          <p:cNvSpPr/>
          <p:nvPr/>
        </p:nvSpPr>
        <p:spPr>
          <a:xfrm>
            <a:off x="10025509" y="5068342"/>
            <a:ext cx="1990725" cy="361950"/>
          </a:xfrm>
          <a:prstGeom prst="rect">
            <a:avLst/>
          </a:prstGeom>
          <a:noFill/>
          <a:ln/>
        </p:spPr>
        <p:txBody>
          <a:bodyPr wrap="square" lIns="25400" tIns="25400" rIns="25400" bIns="25400" rtlCol="0" anchor="t">
            <a:normAutofit/>
          </a:bodyPr>
          <a:lstStyle/>
          <a:p>
            <a:pPr algn="l" indent="0" marL="0">
              <a:buNone/>
            </a:pPr>
            <a:r>
              <a:rPr lang="en-US" sz="1950" dirty="0">
                <a:solidFill>
                  <a:srgbClr val="1A1917"/>
                </a:solidFill>
                <a:latin typeface="Courier New" pitchFamily="34" charset="0"/>
                <a:ea typeface="Courier New" pitchFamily="34" charset="-122"/>
                <a:cs typeface="Courier New" pitchFamily="34" charset="-120"/>
              </a:rPr>
              <a:t>D1</a:t>
            </a:r>
            <a:endParaRPr lang="en-US" sz="1950" dirty="0"/>
          </a:p>
        </p:txBody>
      </p:sp>
      <p:sp>
        <p:nvSpPr>
          <p:cNvPr id="120" name="Shape 118"/>
          <p:cNvSpPr/>
          <p:nvPr/>
        </p:nvSpPr>
        <p:spPr>
          <a:xfrm>
            <a:off x="12006709" y="5068342"/>
            <a:ext cx="4299942" cy="323850"/>
          </a:xfrm>
          <a:prstGeom prst="rect">
            <a:avLst/>
          </a:prstGeom>
          <a:solidFill>
            <a:srgbClr val="E6E1D8"/>
          </a:solidFill>
          <a:ln/>
        </p:spPr>
      </p:sp>
      <p:sp>
        <p:nvSpPr>
          <p:cNvPr id="121" name="Shape 119"/>
          <p:cNvSpPr/>
          <p:nvPr/>
        </p:nvSpPr>
        <p:spPr>
          <a:xfrm>
            <a:off x="12006709" y="5068342"/>
            <a:ext cx="700832" cy="323850"/>
          </a:xfrm>
          <a:prstGeom prst="rect">
            <a:avLst/>
          </a:prstGeom>
          <a:solidFill>
            <a:srgbClr val="B96365"/>
          </a:solidFill>
          <a:ln/>
        </p:spPr>
      </p:sp>
      <p:sp>
        <p:nvSpPr>
          <p:cNvPr id="122" name="Text 120"/>
          <p:cNvSpPr/>
          <p:nvPr/>
        </p:nvSpPr>
        <p:spPr>
          <a:xfrm>
            <a:off x="16401901" y="5082629"/>
            <a:ext cx="933450" cy="333375"/>
          </a:xfrm>
          <a:prstGeom prst="rect">
            <a:avLst/>
          </a:prstGeom>
          <a:noFill/>
          <a:ln/>
        </p:spPr>
        <p:txBody>
          <a:bodyPr wrap="square" lIns="25400" tIns="25400" rIns="25400" bIns="25400" rtlCol="0" anchor="t">
            <a:normAutofit/>
          </a:bodyPr>
          <a:lstStyle/>
          <a:p>
            <a:pPr algn="r" indent="0" marL="0">
              <a:buNone/>
            </a:pPr>
            <a:r>
              <a:rPr lang="en-US" sz="1950" dirty="0">
                <a:solidFill>
                  <a:srgbClr val="1A1917"/>
                </a:solidFill>
                <a:latin typeface="Arial" pitchFamily="34" charset="0"/>
                <a:ea typeface="Arial" pitchFamily="34" charset="-122"/>
                <a:cs typeface="Arial" pitchFamily="34" charset="-120"/>
              </a:rPr>
              <a:t>0.163</a:t>
            </a:r>
            <a:endParaRPr lang="en-US" sz="1950" dirty="0"/>
          </a:p>
        </p:txBody>
      </p:sp>
      <p:sp>
        <p:nvSpPr>
          <p:cNvPr id="123" name="Text 121"/>
          <p:cNvSpPr/>
          <p:nvPr/>
        </p:nvSpPr>
        <p:spPr>
          <a:xfrm>
            <a:off x="10025509" y="5582692"/>
            <a:ext cx="1990725" cy="361950"/>
          </a:xfrm>
          <a:prstGeom prst="rect">
            <a:avLst/>
          </a:prstGeom>
          <a:noFill/>
          <a:ln/>
        </p:spPr>
        <p:txBody>
          <a:bodyPr wrap="square" lIns="25400" tIns="25400" rIns="25400" bIns="25400" rtlCol="0" anchor="t">
            <a:normAutofit/>
          </a:bodyPr>
          <a:lstStyle/>
          <a:p>
            <a:pPr algn="l" indent="0" marL="0">
              <a:buNone/>
            </a:pPr>
            <a:r>
              <a:rPr lang="en-US" sz="1950" dirty="0">
                <a:solidFill>
                  <a:srgbClr val="1A1917"/>
                </a:solidFill>
                <a:latin typeface="Courier New" pitchFamily="34" charset="0"/>
                <a:ea typeface="Courier New" pitchFamily="34" charset="-122"/>
                <a:cs typeface="Courier New" pitchFamily="34" charset="-120"/>
              </a:rPr>
              <a:t>E1-p</a:t>
            </a:r>
            <a:endParaRPr lang="en-US" sz="1950" dirty="0"/>
          </a:p>
        </p:txBody>
      </p:sp>
      <p:sp>
        <p:nvSpPr>
          <p:cNvPr id="124" name="Shape 122"/>
          <p:cNvSpPr/>
          <p:nvPr/>
        </p:nvSpPr>
        <p:spPr>
          <a:xfrm>
            <a:off x="12006709" y="5582692"/>
            <a:ext cx="4299942" cy="323850"/>
          </a:xfrm>
          <a:prstGeom prst="rect">
            <a:avLst/>
          </a:prstGeom>
          <a:solidFill>
            <a:srgbClr val="E6E1D8"/>
          </a:solidFill>
          <a:ln/>
        </p:spPr>
      </p:sp>
      <p:sp>
        <p:nvSpPr>
          <p:cNvPr id="125" name="Shape 123"/>
          <p:cNvSpPr/>
          <p:nvPr/>
        </p:nvSpPr>
        <p:spPr>
          <a:xfrm>
            <a:off x="12006709" y="5582692"/>
            <a:ext cx="21431" cy="323850"/>
          </a:xfrm>
          <a:prstGeom prst="rect">
            <a:avLst/>
          </a:prstGeom>
          <a:solidFill>
            <a:srgbClr val="B8B3AA"/>
          </a:solidFill>
          <a:ln/>
        </p:spPr>
      </p:sp>
      <p:sp>
        <p:nvSpPr>
          <p:cNvPr id="126" name="Text 124"/>
          <p:cNvSpPr/>
          <p:nvPr/>
        </p:nvSpPr>
        <p:spPr>
          <a:xfrm>
            <a:off x="16401901" y="5596979"/>
            <a:ext cx="933450" cy="333375"/>
          </a:xfrm>
          <a:prstGeom prst="rect">
            <a:avLst/>
          </a:prstGeom>
          <a:noFill/>
          <a:ln/>
        </p:spPr>
        <p:txBody>
          <a:bodyPr wrap="square" lIns="25400" tIns="25400" rIns="25400" bIns="25400" rtlCol="0" anchor="t">
            <a:normAutofit/>
          </a:bodyPr>
          <a:lstStyle/>
          <a:p>
            <a:pPr algn="r" indent="0" marL="0">
              <a:buNone/>
            </a:pPr>
            <a:r>
              <a:rPr lang="en-US" sz="1950" dirty="0">
                <a:solidFill>
                  <a:srgbClr val="1A1917"/>
                </a:solidFill>
                <a:latin typeface="Arial" pitchFamily="34" charset="0"/>
                <a:ea typeface="Arial" pitchFamily="34" charset="-122"/>
                <a:cs typeface="Arial" pitchFamily="34" charset="-120"/>
              </a:rPr>
              <a:t>0.000*</a:t>
            </a:r>
            <a:endParaRPr lang="en-US" sz="1950" dirty="0"/>
          </a:p>
        </p:txBody>
      </p:sp>
      <p:sp>
        <p:nvSpPr>
          <p:cNvPr id="127" name="Text 125"/>
          <p:cNvSpPr/>
          <p:nvPr/>
        </p:nvSpPr>
        <p:spPr>
          <a:xfrm>
            <a:off x="10025509" y="6192292"/>
            <a:ext cx="7529137" cy="756047"/>
          </a:xfrm>
          <a:prstGeom prst="rect">
            <a:avLst/>
          </a:prstGeom>
          <a:noFill/>
          <a:ln/>
        </p:spPr>
        <p:txBody>
          <a:bodyPr wrap="square" lIns="25400" tIns="25400" rIns="25400" bIns="25400" rtlCol="0" anchor="t">
            <a:normAutofit/>
          </a:bodyPr>
          <a:lstStyle/>
          <a:p>
            <a:pPr algn="l" indent="0" marL="0">
              <a:lnSpc>
                <a:spcPct val="121613"/>
              </a:lnSpc>
              <a:buNone/>
            </a:pPr>
            <a:r>
              <a:rPr lang="en-US" sz="1950" dirty="0">
                <a:solidFill>
                  <a:srgbClr val="4A4741"/>
                </a:solidFill>
                <a:latin typeface="Arial" pitchFamily="34" charset="0"/>
                <a:ea typeface="Arial" pitchFamily="34" charset="-122"/>
                <a:cs typeface="Arial" pitchFamily="34" charset="-120"/>
              </a:rPr>
              <a:t>50k TF-IDF features buy ~93% of the encoder's F1 at ~1750× lower latency. Both zero-shot decoders rank at or below chance.</a:t>
            </a:r>
            <a:endParaRPr lang="en-US" sz="1950" dirty="0"/>
          </a:p>
        </p:txBody>
      </p:sp>
      <p:sp>
        <p:nvSpPr>
          <p:cNvPr id="128" name="Text 126"/>
          <p:cNvSpPr/>
          <p:nvPr/>
        </p:nvSpPr>
        <p:spPr>
          <a:xfrm>
            <a:off x="952500" y="9191625"/>
            <a:ext cx="18021300" cy="371475"/>
          </a:xfrm>
          <a:prstGeom prst="rect">
            <a:avLst/>
          </a:prstGeom>
          <a:noFill/>
          <a:ln/>
        </p:spPr>
        <p:txBody>
          <a:bodyPr wrap="square" lIns="25400" tIns="25400" rIns="25400" bIns="25400" rtlCol="0" anchor="t">
            <a:normAutofit/>
          </a:bodyPr>
          <a:lstStyle/>
          <a:p>
            <a:pPr algn="l" indent="0" marL="0">
              <a:lnSpc>
                <a:spcPct val="120690"/>
              </a:lnSpc>
              <a:buNone/>
            </a:pPr>
            <a:r>
              <a:rPr lang="en-US" sz="1875" dirty="0">
                <a:solidFill>
                  <a:srgbClr val="6B6862"/>
                </a:solidFill>
                <a:latin typeface="Arial" pitchFamily="34" charset="0"/>
                <a:ea typeface="Arial" pitchFamily="34" charset="-122"/>
                <a:cs typeface="Arial" pitchFamily="34" charset="-120"/>
              </a:rPr>
              <a:t>* F1 = 0 at threshold 0.5 is a calibration artefact, not a discrimination failure. S1 and D1-ft are our own early-stopped checkpoints (4k×2ep / 800×2ep on CPU), not the full-scale Colab runs. D1-ft's latency is withheld — its timing window was corrupted by a machine suspend; expect ≈650 ms, as it shares D1's architecture and scoring path.</a:t>
            </a:r>
            <a:endParaRPr lang="en-US" sz="18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F0"/>
        </a:solidFill>
      </p:bgPr>
    </p:bg>
    <p:spTree>
      <p:nvGrpSpPr>
        <p:cNvPr id="1" name=""/>
        <p:cNvGrpSpPr/>
        <p:nvPr/>
      </p:nvGrpSpPr>
      <p:grpSpPr>
        <a:xfrm>
          <a:off x="0" y="0"/>
          <a:ext cx="0" cy="0"/>
          <a:chOff x="0" y="0"/>
          <a:chExt cx="0" cy="0"/>
        </a:xfrm>
      </p:grpSpPr>
      <p:sp>
        <p:nvSpPr>
          <p:cNvPr id="2" name="Text 0"/>
          <p:cNvSpPr/>
          <p:nvPr/>
        </p:nvSpPr>
        <p:spPr>
          <a:xfrm>
            <a:off x="952500" y="857250"/>
            <a:ext cx="18021300" cy="304800"/>
          </a:xfrm>
          <a:prstGeom prst="rect">
            <a:avLst/>
          </a:prstGeom>
          <a:noFill/>
          <a:ln/>
        </p:spPr>
        <p:txBody>
          <a:bodyPr wrap="square" lIns="25400" tIns="25400" rIns="25400" bIns="25400" rtlCol="0" anchor="t">
            <a:normAutofit/>
          </a:bodyPr>
          <a:lstStyle/>
          <a:p>
            <a:pPr algn="l" indent="0" marL="0">
              <a:buNone/>
            </a:pPr>
            <a:r>
              <a:rPr lang="en-US" sz="1800" b="1" spc="288" kern="0" dirty="0">
                <a:solidFill>
                  <a:srgbClr val="8A857C"/>
                </a:solidFill>
                <a:latin typeface="Arial" pitchFamily="34" charset="0"/>
                <a:ea typeface="Arial" pitchFamily="34" charset="-122"/>
                <a:cs typeface="Arial" pitchFamily="34" charset="-120"/>
              </a:rPr>
              <a:t>RESULTS · 368-SENTENCE NEUTRAL PROBE</a:t>
            </a:r>
            <a:endParaRPr lang="en-US" sz="1800" dirty="0"/>
          </a:p>
        </p:txBody>
      </p:sp>
      <p:sp>
        <p:nvSpPr>
          <p:cNvPr id="3" name="Text 1"/>
          <p:cNvSpPr/>
          <p:nvPr/>
        </p:nvSpPr>
        <p:spPr>
          <a:xfrm>
            <a:off x="952500" y="1333500"/>
            <a:ext cx="18021300" cy="696367"/>
          </a:xfrm>
          <a:prstGeom prst="rect">
            <a:avLst/>
          </a:prstGeom>
          <a:noFill/>
          <a:ln/>
        </p:spPr>
        <p:txBody>
          <a:bodyPr wrap="square" lIns="25400" tIns="25400" rIns="25400" bIns="25400" rtlCol="0" anchor="t">
            <a:normAutofit/>
          </a:bodyPr>
          <a:lstStyle/>
          <a:p>
            <a:pPr algn="l" indent="0" marL="0">
              <a:lnSpc>
                <a:spcPct val="94685"/>
              </a:lnSpc>
              <a:buNone/>
            </a:pPr>
            <a:r>
              <a:rPr lang="en-US" sz="4800" dirty="0">
                <a:solidFill>
                  <a:srgbClr val="1A1917"/>
                </a:solidFill>
                <a:latin typeface="Georgia" pitchFamily="34" charset="0"/>
                <a:ea typeface="Georgia" pitchFamily="34" charset="-122"/>
                <a:cs typeface="Georgia" pitchFamily="34" charset="-120"/>
              </a:rPr>
              <a:t>Fairness: per-model false-positive rate</a:t>
            </a:r>
            <a:endParaRPr lang="en-US" sz="4800" dirty="0"/>
          </a:p>
        </p:txBody>
      </p:sp>
      <p:sp>
        <p:nvSpPr>
          <p:cNvPr id="4" name="Text 2"/>
          <p:cNvSpPr/>
          <p:nvPr/>
        </p:nvSpPr>
        <p:spPr>
          <a:xfrm>
            <a:off x="952500" y="2606129"/>
            <a:ext cx="2514600" cy="314325"/>
          </a:xfrm>
          <a:prstGeom prst="rect">
            <a:avLst/>
          </a:prstGeom>
          <a:noFill/>
          <a:ln/>
        </p:spPr>
        <p:txBody>
          <a:bodyPr wrap="square" lIns="25400" tIns="25400" rIns="25400" bIns="25400" rtlCol="0" anchor="t">
            <a:normAutofit/>
          </a:bodyPr>
          <a:lstStyle/>
          <a:p>
            <a:pPr algn="l" indent="0" marL="0">
              <a:buNone/>
            </a:pPr>
            <a:r>
              <a:rPr lang="en-US" sz="1875" b="1" spc="188" kern="0" dirty="0">
                <a:solidFill>
                  <a:srgbClr val="6B6862"/>
                </a:solidFill>
                <a:latin typeface="Arial" pitchFamily="34" charset="0"/>
                <a:ea typeface="Arial" pitchFamily="34" charset="-122"/>
                <a:cs typeface="Arial" pitchFamily="34" charset="-120"/>
              </a:rPr>
              <a:t>MODEL</a:t>
            </a:r>
            <a:endParaRPr lang="en-US" sz="1875" dirty="0"/>
          </a:p>
        </p:txBody>
      </p:sp>
      <p:sp>
        <p:nvSpPr>
          <p:cNvPr id="5" name="Text 3"/>
          <p:cNvSpPr/>
          <p:nvPr/>
        </p:nvSpPr>
        <p:spPr>
          <a:xfrm>
            <a:off x="3409950" y="2606129"/>
            <a:ext cx="5063743" cy="314325"/>
          </a:xfrm>
          <a:prstGeom prst="rect">
            <a:avLst/>
          </a:prstGeom>
          <a:noFill/>
          <a:ln/>
        </p:spPr>
        <p:txBody>
          <a:bodyPr wrap="square" lIns="25400" tIns="25400" rIns="25400" bIns="25400" rtlCol="0" anchor="t">
            <a:normAutofit/>
          </a:bodyPr>
          <a:lstStyle/>
          <a:p>
            <a:pPr algn="l" indent="0" marL="0">
              <a:buNone/>
            </a:pPr>
            <a:r>
              <a:rPr lang="en-US" sz="1875" b="1" spc="188" kern="0" dirty="0">
                <a:solidFill>
                  <a:srgbClr val="6B6862"/>
                </a:solidFill>
                <a:latin typeface="Arial" pitchFamily="34" charset="0"/>
                <a:ea typeface="Arial" pitchFamily="34" charset="-122"/>
                <a:cs typeface="Arial" pitchFamily="34" charset="-120"/>
              </a:rPr>
              <a:t>IDENTITY FPR</a:t>
            </a:r>
            <a:endParaRPr lang="en-US" sz="1875" dirty="0"/>
          </a:p>
        </p:txBody>
      </p:sp>
      <p:sp>
        <p:nvSpPr>
          <p:cNvPr id="6" name="Text 4"/>
          <p:cNvSpPr/>
          <p:nvPr/>
        </p:nvSpPr>
        <p:spPr>
          <a:xfrm>
            <a:off x="8108603" y="2468017"/>
            <a:ext cx="1981200" cy="590550"/>
          </a:xfrm>
          <a:prstGeom prst="rect">
            <a:avLst/>
          </a:prstGeom>
          <a:noFill/>
          <a:ln/>
        </p:spPr>
        <p:txBody>
          <a:bodyPr wrap="square" lIns="25400" tIns="25400" rIns="25400" bIns="25400" rtlCol="0" anchor="t">
            <a:normAutofit/>
          </a:bodyPr>
          <a:lstStyle/>
          <a:p>
            <a:pPr algn="r" indent="0" marL="0">
              <a:buNone/>
            </a:pPr>
            <a:r>
              <a:rPr lang="en-US" sz="1875" b="1" spc="188" kern="0" dirty="0">
                <a:solidFill>
                  <a:srgbClr val="6B6862"/>
                </a:solidFill>
                <a:latin typeface="Arial" pitchFamily="34" charset="0"/>
                <a:ea typeface="Arial" pitchFamily="34" charset="-122"/>
                <a:cs typeface="Arial" pitchFamily="34" charset="-120"/>
              </a:rPr>
              <a:t>CONTROL FPR</a:t>
            </a:r>
            <a:endParaRPr lang="en-US" sz="1875" dirty="0"/>
          </a:p>
        </p:txBody>
      </p:sp>
      <p:sp>
        <p:nvSpPr>
          <p:cNvPr id="7" name="Text 5"/>
          <p:cNvSpPr/>
          <p:nvPr/>
        </p:nvSpPr>
        <p:spPr>
          <a:xfrm>
            <a:off x="952500" y="3230017"/>
            <a:ext cx="2514600" cy="371475"/>
          </a:xfrm>
          <a:prstGeom prst="rect">
            <a:avLst/>
          </a:prstGeom>
          <a:noFill/>
          <a:ln/>
        </p:spPr>
        <p:txBody>
          <a:bodyPr wrap="square" lIns="25400" tIns="25400" rIns="25400" bIns="25400" rtlCol="0" anchor="t">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tfidf-svm</a:t>
            </a:r>
            <a:endParaRPr lang="en-US" sz="2025" dirty="0"/>
          </a:p>
        </p:txBody>
      </p:sp>
      <p:sp>
        <p:nvSpPr>
          <p:cNvPr id="8" name="Shape 6"/>
          <p:cNvSpPr/>
          <p:nvPr/>
        </p:nvSpPr>
        <p:spPr>
          <a:xfrm>
            <a:off x="3409950" y="3244304"/>
            <a:ext cx="3593753" cy="304800"/>
          </a:xfrm>
          <a:prstGeom prst="rect">
            <a:avLst/>
          </a:prstGeom>
          <a:solidFill>
            <a:srgbClr val="E6E1D8"/>
          </a:solidFill>
          <a:ln/>
        </p:spPr>
      </p:sp>
      <p:sp>
        <p:nvSpPr>
          <p:cNvPr id="9" name="Shape 7"/>
          <p:cNvSpPr/>
          <p:nvPr/>
        </p:nvSpPr>
        <p:spPr>
          <a:xfrm>
            <a:off x="3409950" y="3244304"/>
            <a:ext cx="176064" cy="304800"/>
          </a:xfrm>
          <a:prstGeom prst="rect">
            <a:avLst/>
          </a:prstGeom>
          <a:solidFill>
            <a:srgbClr val="00939A"/>
          </a:solidFill>
          <a:ln/>
        </p:spPr>
      </p:sp>
      <p:sp>
        <p:nvSpPr>
          <p:cNvPr id="10" name="Text 8"/>
          <p:cNvSpPr/>
          <p:nvPr/>
        </p:nvSpPr>
        <p:spPr>
          <a:xfrm>
            <a:off x="7156103" y="3249067"/>
            <a:ext cx="933450" cy="333375"/>
          </a:xfrm>
          <a:prstGeom prst="rect">
            <a:avLst/>
          </a:prstGeom>
          <a:noFill/>
          <a:ln/>
        </p:spPr>
        <p:txBody>
          <a:bodyPr wrap="square" lIns="25400" tIns="25400" rIns="25400" bIns="25400" rtlCol="0" anchor="t">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0.049</a:t>
            </a:r>
            <a:endParaRPr lang="en-US" sz="2025" dirty="0"/>
          </a:p>
        </p:txBody>
      </p:sp>
      <p:sp>
        <p:nvSpPr>
          <p:cNvPr id="11" name="Text 9"/>
          <p:cNvSpPr/>
          <p:nvPr/>
        </p:nvSpPr>
        <p:spPr>
          <a:xfrm>
            <a:off x="7994303" y="3249067"/>
            <a:ext cx="2095500" cy="333375"/>
          </a:xfrm>
          <a:prstGeom prst="rect">
            <a:avLst/>
          </a:prstGeom>
          <a:noFill/>
          <a:ln/>
        </p:spPr>
        <p:txBody>
          <a:bodyPr wrap="square" lIns="25400" tIns="25400" rIns="25400" bIns="25400" rtlCol="0" anchor="t">
            <a:normAutofit/>
          </a:bodyPr>
          <a:lstStyle/>
          <a:p>
            <a:pPr algn="r" indent="0" marL="0">
              <a:buNone/>
            </a:pPr>
            <a:r>
              <a:rPr lang="en-US" sz="2025" dirty="0">
                <a:solidFill>
                  <a:srgbClr val="8A857C"/>
                </a:solidFill>
                <a:latin typeface="Arial" pitchFamily="34" charset="0"/>
                <a:ea typeface="Arial" pitchFamily="34" charset="-122"/>
                <a:cs typeface="Arial" pitchFamily="34" charset="-120"/>
              </a:rPr>
              <a:t>0.000</a:t>
            </a:r>
            <a:endParaRPr lang="en-US" sz="2025" dirty="0"/>
          </a:p>
        </p:txBody>
      </p:sp>
      <p:sp>
        <p:nvSpPr>
          <p:cNvPr id="12" name="Text 10"/>
          <p:cNvSpPr/>
          <p:nvPr/>
        </p:nvSpPr>
        <p:spPr>
          <a:xfrm>
            <a:off x="952500" y="3772942"/>
            <a:ext cx="2514600" cy="371475"/>
          </a:xfrm>
          <a:prstGeom prst="rect">
            <a:avLst/>
          </a:prstGeom>
          <a:noFill/>
          <a:ln/>
        </p:spPr>
        <p:txBody>
          <a:bodyPr wrap="square" lIns="25400" tIns="25400" rIns="25400" bIns="25400" rtlCol="0" anchor="t">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toxic-bert</a:t>
            </a:r>
            <a:endParaRPr lang="en-US" sz="2025" dirty="0"/>
          </a:p>
        </p:txBody>
      </p:sp>
      <p:sp>
        <p:nvSpPr>
          <p:cNvPr id="13" name="Shape 11"/>
          <p:cNvSpPr/>
          <p:nvPr/>
        </p:nvSpPr>
        <p:spPr>
          <a:xfrm>
            <a:off x="3409950" y="3787229"/>
            <a:ext cx="3593753" cy="304800"/>
          </a:xfrm>
          <a:prstGeom prst="rect">
            <a:avLst/>
          </a:prstGeom>
          <a:solidFill>
            <a:srgbClr val="E6E1D8"/>
          </a:solidFill>
          <a:ln/>
        </p:spPr>
      </p:sp>
      <p:sp>
        <p:nvSpPr>
          <p:cNvPr id="14" name="Shape 12"/>
          <p:cNvSpPr/>
          <p:nvPr/>
        </p:nvSpPr>
        <p:spPr>
          <a:xfrm>
            <a:off x="3409950" y="3787229"/>
            <a:ext cx="312539" cy="304800"/>
          </a:xfrm>
          <a:prstGeom prst="rect">
            <a:avLst/>
          </a:prstGeom>
          <a:solidFill>
            <a:srgbClr val="22211D"/>
          </a:solidFill>
          <a:ln/>
        </p:spPr>
      </p:sp>
      <p:sp>
        <p:nvSpPr>
          <p:cNvPr id="15" name="Text 13"/>
          <p:cNvSpPr/>
          <p:nvPr/>
        </p:nvSpPr>
        <p:spPr>
          <a:xfrm>
            <a:off x="7156103" y="3791992"/>
            <a:ext cx="933450" cy="333375"/>
          </a:xfrm>
          <a:prstGeom prst="rect">
            <a:avLst/>
          </a:prstGeom>
          <a:noFill/>
          <a:ln/>
        </p:spPr>
        <p:txBody>
          <a:bodyPr wrap="square" lIns="25400" tIns="25400" rIns="25400" bIns="25400" rtlCol="0" anchor="t">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0.087</a:t>
            </a:r>
            <a:endParaRPr lang="en-US" sz="2025" dirty="0"/>
          </a:p>
        </p:txBody>
      </p:sp>
      <p:sp>
        <p:nvSpPr>
          <p:cNvPr id="16" name="Text 14"/>
          <p:cNvSpPr/>
          <p:nvPr/>
        </p:nvSpPr>
        <p:spPr>
          <a:xfrm>
            <a:off x="7994303" y="3791992"/>
            <a:ext cx="2095500" cy="333375"/>
          </a:xfrm>
          <a:prstGeom prst="rect">
            <a:avLst/>
          </a:prstGeom>
          <a:noFill/>
          <a:ln/>
        </p:spPr>
        <p:txBody>
          <a:bodyPr wrap="square" lIns="25400" tIns="25400" rIns="25400" bIns="25400" rtlCol="0" anchor="t">
            <a:normAutofit/>
          </a:bodyPr>
          <a:lstStyle/>
          <a:p>
            <a:pPr algn="r" indent="0" marL="0">
              <a:buNone/>
            </a:pPr>
            <a:r>
              <a:rPr lang="en-US" sz="2025" dirty="0">
                <a:solidFill>
                  <a:srgbClr val="8A857C"/>
                </a:solidFill>
                <a:latin typeface="Arial" pitchFamily="34" charset="0"/>
                <a:ea typeface="Arial" pitchFamily="34" charset="-122"/>
                <a:cs typeface="Arial" pitchFamily="34" charset="-120"/>
              </a:rPr>
              <a:t>0.000</a:t>
            </a:r>
            <a:endParaRPr lang="en-US" sz="2025" dirty="0"/>
          </a:p>
        </p:txBody>
      </p:sp>
      <p:sp>
        <p:nvSpPr>
          <p:cNvPr id="17" name="Text 15"/>
          <p:cNvSpPr/>
          <p:nvPr/>
        </p:nvSpPr>
        <p:spPr>
          <a:xfrm>
            <a:off x="952500" y="4315867"/>
            <a:ext cx="2362200" cy="704850"/>
          </a:xfrm>
          <a:prstGeom prst="rect">
            <a:avLst/>
          </a:prstGeom>
          <a:noFill/>
          <a:ln/>
        </p:spPr>
        <p:txBody>
          <a:bodyPr wrap="square" lIns="25400" tIns="25400" rIns="25400" bIns="25400" rtlCol="0" anchor="t">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bert-base-classifier</a:t>
            </a:r>
            <a:endParaRPr lang="en-US" sz="2025" dirty="0"/>
          </a:p>
        </p:txBody>
      </p:sp>
      <p:sp>
        <p:nvSpPr>
          <p:cNvPr id="18" name="Shape 16"/>
          <p:cNvSpPr/>
          <p:nvPr/>
        </p:nvSpPr>
        <p:spPr>
          <a:xfrm>
            <a:off x="3409950" y="4496842"/>
            <a:ext cx="3593753" cy="304800"/>
          </a:xfrm>
          <a:prstGeom prst="rect">
            <a:avLst/>
          </a:prstGeom>
          <a:solidFill>
            <a:srgbClr val="E6E1D8"/>
          </a:solidFill>
          <a:ln/>
        </p:spPr>
      </p:sp>
      <p:sp>
        <p:nvSpPr>
          <p:cNvPr id="19" name="Shape 17"/>
          <p:cNvSpPr/>
          <p:nvPr/>
        </p:nvSpPr>
        <p:spPr>
          <a:xfrm>
            <a:off x="3409950" y="4496842"/>
            <a:ext cx="370136" cy="304800"/>
          </a:xfrm>
          <a:prstGeom prst="rect">
            <a:avLst/>
          </a:prstGeom>
          <a:solidFill>
            <a:srgbClr val="B96365"/>
          </a:solidFill>
          <a:ln/>
        </p:spPr>
      </p:sp>
      <p:sp>
        <p:nvSpPr>
          <p:cNvPr id="20" name="Text 18"/>
          <p:cNvSpPr/>
          <p:nvPr/>
        </p:nvSpPr>
        <p:spPr>
          <a:xfrm>
            <a:off x="7156103" y="4501604"/>
            <a:ext cx="933450" cy="333375"/>
          </a:xfrm>
          <a:prstGeom prst="rect">
            <a:avLst/>
          </a:prstGeom>
          <a:noFill/>
          <a:ln/>
        </p:spPr>
        <p:txBody>
          <a:bodyPr wrap="square" lIns="25400" tIns="25400" rIns="25400" bIns="25400" rtlCol="0" anchor="t">
            <a:normAutofit/>
          </a:bodyPr>
          <a:lstStyle/>
          <a:p>
            <a:pPr algn="l" indent="0" marL="0">
              <a:buNone/>
            </a:pPr>
            <a:r>
              <a:rPr lang="en-US" sz="2025" b="1" dirty="0">
                <a:solidFill>
                  <a:srgbClr val="1A1917"/>
                </a:solidFill>
                <a:latin typeface="Arial" pitchFamily="34" charset="0"/>
                <a:ea typeface="Arial" pitchFamily="34" charset="-122"/>
                <a:cs typeface="Arial" pitchFamily="34" charset="-120"/>
              </a:rPr>
              <a:t>0.103</a:t>
            </a:r>
            <a:endParaRPr lang="en-US" sz="2025" dirty="0"/>
          </a:p>
        </p:txBody>
      </p:sp>
      <p:sp>
        <p:nvSpPr>
          <p:cNvPr id="21" name="Text 19"/>
          <p:cNvSpPr/>
          <p:nvPr/>
        </p:nvSpPr>
        <p:spPr>
          <a:xfrm>
            <a:off x="7994303" y="4501604"/>
            <a:ext cx="2095500" cy="333375"/>
          </a:xfrm>
          <a:prstGeom prst="rect">
            <a:avLst/>
          </a:prstGeom>
          <a:noFill/>
          <a:ln/>
        </p:spPr>
        <p:txBody>
          <a:bodyPr wrap="square" lIns="25400" tIns="25400" rIns="25400" bIns="25400" rtlCol="0" anchor="t">
            <a:normAutofit/>
          </a:bodyPr>
          <a:lstStyle/>
          <a:p>
            <a:pPr algn="r" indent="0" marL="0">
              <a:buNone/>
            </a:pPr>
            <a:r>
              <a:rPr lang="en-US" sz="2025" dirty="0">
                <a:solidFill>
                  <a:srgbClr val="8A857C"/>
                </a:solidFill>
                <a:latin typeface="Arial" pitchFamily="34" charset="0"/>
                <a:ea typeface="Arial" pitchFamily="34" charset="-122"/>
                <a:cs typeface="Arial" pitchFamily="34" charset="-120"/>
              </a:rPr>
              <a:t>0.000</a:t>
            </a:r>
            <a:endParaRPr lang="en-US" sz="2025" dirty="0"/>
          </a:p>
        </p:txBody>
      </p:sp>
      <p:sp>
        <p:nvSpPr>
          <p:cNvPr id="22" name="Text 20"/>
          <p:cNvSpPr/>
          <p:nvPr/>
        </p:nvSpPr>
        <p:spPr>
          <a:xfrm>
            <a:off x="952500" y="5192167"/>
            <a:ext cx="2514600" cy="371475"/>
          </a:xfrm>
          <a:prstGeom prst="rect">
            <a:avLst/>
          </a:prstGeom>
          <a:noFill/>
          <a:ln/>
        </p:spPr>
        <p:txBody>
          <a:bodyPr wrap="square" lIns="25400" tIns="25400" rIns="25400" bIns="25400" rtlCol="0" anchor="t">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distilgpt2-d1</a:t>
            </a:r>
            <a:endParaRPr lang="en-US" sz="2025" dirty="0"/>
          </a:p>
        </p:txBody>
      </p:sp>
      <p:sp>
        <p:nvSpPr>
          <p:cNvPr id="23" name="Shape 21"/>
          <p:cNvSpPr/>
          <p:nvPr/>
        </p:nvSpPr>
        <p:spPr>
          <a:xfrm>
            <a:off x="3409950" y="5206454"/>
            <a:ext cx="3593753" cy="304800"/>
          </a:xfrm>
          <a:prstGeom prst="rect">
            <a:avLst/>
          </a:prstGeom>
          <a:solidFill>
            <a:srgbClr val="E6E1D8"/>
          </a:solidFill>
          <a:ln/>
        </p:spPr>
      </p:sp>
      <p:sp>
        <p:nvSpPr>
          <p:cNvPr id="24" name="Shape 22"/>
          <p:cNvSpPr/>
          <p:nvPr/>
        </p:nvSpPr>
        <p:spPr>
          <a:xfrm>
            <a:off x="3409950" y="5206454"/>
            <a:ext cx="3230761" cy="304800"/>
          </a:xfrm>
          <a:prstGeom prst="rect">
            <a:avLst/>
          </a:prstGeom>
          <a:solidFill>
            <a:srgbClr val="B8B3AA"/>
          </a:solidFill>
          <a:ln/>
        </p:spPr>
      </p:sp>
      <p:sp>
        <p:nvSpPr>
          <p:cNvPr id="25" name="Text 23"/>
          <p:cNvSpPr/>
          <p:nvPr/>
        </p:nvSpPr>
        <p:spPr>
          <a:xfrm>
            <a:off x="7156103" y="5211217"/>
            <a:ext cx="933450" cy="333375"/>
          </a:xfrm>
          <a:prstGeom prst="rect">
            <a:avLst/>
          </a:prstGeom>
          <a:noFill/>
          <a:ln/>
        </p:spPr>
        <p:txBody>
          <a:bodyPr wrap="square" lIns="25400" tIns="25400" rIns="25400" bIns="25400" rtlCol="0" anchor="t">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0.899</a:t>
            </a:r>
            <a:endParaRPr lang="en-US" sz="2025" dirty="0"/>
          </a:p>
        </p:txBody>
      </p:sp>
      <p:sp>
        <p:nvSpPr>
          <p:cNvPr id="26" name="Text 24"/>
          <p:cNvSpPr/>
          <p:nvPr/>
        </p:nvSpPr>
        <p:spPr>
          <a:xfrm>
            <a:off x="7994303" y="5211217"/>
            <a:ext cx="2095500" cy="333375"/>
          </a:xfrm>
          <a:prstGeom prst="rect">
            <a:avLst/>
          </a:prstGeom>
          <a:noFill/>
          <a:ln/>
        </p:spPr>
        <p:txBody>
          <a:bodyPr wrap="square" lIns="25400" tIns="25400" rIns="25400" bIns="25400" rtlCol="0" anchor="t">
            <a:normAutofit/>
          </a:bodyPr>
          <a:lstStyle/>
          <a:p>
            <a:pPr algn="r" indent="0" marL="0">
              <a:buNone/>
            </a:pPr>
            <a:r>
              <a:rPr lang="en-US" sz="2025" dirty="0">
                <a:solidFill>
                  <a:srgbClr val="8A857C"/>
                </a:solidFill>
                <a:latin typeface="Arial" pitchFamily="34" charset="0"/>
                <a:ea typeface="Arial" pitchFamily="34" charset="-122"/>
                <a:cs typeface="Arial" pitchFamily="34" charset="-120"/>
              </a:rPr>
              <a:t>1.000</a:t>
            </a:r>
            <a:endParaRPr lang="en-US" sz="2025" dirty="0"/>
          </a:p>
        </p:txBody>
      </p:sp>
      <p:sp>
        <p:nvSpPr>
          <p:cNvPr id="27" name="Text 25"/>
          <p:cNvSpPr/>
          <p:nvPr/>
        </p:nvSpPr>
        <p:spPr>
          <a:xfrm>
            <a:off x="952500" y="5735092"/>
            <a:ext cx="2514600" cy="371475"/>
          </a:xfrm>
          <a:prstGeom prst="rect">
            <a:avLst/>
          </a:prstGeom>
          <a:noFill/>
          <a:ln/>
        </p:spPr>
        <p:txBody>
          <a:bodyPr wrap="square" lIns="25400" tIns="25400" rIns="25400" bIns="25400" rtlCol="0" anchor="t">
            <a:normAutofit/>
          </a:bodyPr>
          <a:lstStyle/>
          <a:p>
            <a:pPr algn="l" indent="0" marL="0">
              <a:buNone/>
            </a:pPr>
            <a:r>
              <a:rPr lang="en-US" sz="2025" dirty="0">
                <a:solidFill>
                  <a:srgbClr val="1A1917"/>
                </a:solidFill>
                <a:latin typeface="Courier New" pitchFamily="34" charset="0"/>
                <a:ea typeface="Courier New" pitchFamily="34" charset="-122"/>
                <a:cs typeface="Courier New" pitchFamily="34" charset="-120"/>
              </a:rPr>
              <a:t>distilgpt2-d2</a:t>
            </a:r>
            <a:endParaRPr lang="en-US" sz="2025" dirty="0"/>
          </a:p>
        </p:txBody>
      </p:sp>
      <p:sp>
        <p:nvSpPr>
          <p:cNvPr id="28" name="Shape 26"/>
          <p:cNvSpPr/>
          <p:nvPr/>
        </p:nvSpPr>
        <p:spPr>
          <a:xfrm>
            <a:off x="3409950" y="5749379"/>
            <a:ext cx="3593753" cy="304800"/>
          </a:xfrm>
          <a:prstGeom prst="rect">
            <a:avLst/>
          </a:prstGeom>
          <a:solidFill>
            <a:srgbClr val="E6E1D8"/>
          </a:solidFill>
          <a:ln/>
        </p:spPr>
      </p:sp>
      <p:sp>
        <p:nvSpPr>
          <p:cNvPr id="29" name="Shape 27"/>
          <p:cNvSpPr/>
          <p:nvPr/>
        </p:nvSpPr>
        <p:spPr>
          <a:xfrm>
            <a:off x="3409950" y="5749379"/>
            <a:ext cx="3593753" cy="304800"/>
          </a:xfrm>
          <a:prstGeom prst="rect">
            <a:avLst/>
          </a:prstGeom>
          <a:solidFill>
            <a:srgbClr val="B8B3AA"/>
          </a:solidFill>
          <a:ln/>
        </p:spPr>
      </p:sp>
      <p:sp>
        <p:nvSpPr>
          <p:cNvPr id="30" name="Text 28"/>
          <p:cNvSpPr/>
          <p:nvPr/>
        </p:nvSpPr>
        <p:spPr>
          <a:xfrm>
            <a:off x="7156103" y="5754142"/>
            <a:ext cx="933450" cy="333375"/>
          </a:xfrm>
          <a:prstGeom prst="rect">
            <a:avLst/>
          </a:prstGeom>
          <a:noFill/>
          <a:ln/>
        </p:spPr>
        <p:txBody>
          <a:bodyPr wrap="square" lIns="25400" tIns="25400" rIns="25400" bIns="25400" rtlCol="0" anchor="t">
            <a:normAutofit/>
          </a:bodyPr>
          <a:lstStyle/>
          <a:p>
            <a:pPr algn="l" indent="0" marL="0">
              <a:buNone/>
            </a:pPr>
            <a:r>
              <a:rPr lang="en-US" sz="2025" dirty="0">
                <a:solidFill>
                  <a:srgbClr val="1A1917"/>
                </a:solidFill>
                <a:latin typeface="Arial" pitchFamily="34" charset="0"/>
                <a:ea typeface="Arial" pitchFamily="34" charset="-122"/>
                <a:cs typeface="Arial" pitchFamily="34" charset="-120"/>
              </a:rPr>
              <a:t>1.000</a:t>
            </a:r>
            <a:endParaRPr lang="en-US" sz="2025" dirty="0"/>
          </a:p>
        </p:txBody>
      </p:sp>
      <p:sp>
        <p:nvSpPr>
          <p:cNvPr id="31" name="Text 29"/>
          <p:cNvSpPr/>
          <p:nvPr/>
        </p:nvSpPr>
        <p:spPr>
          <a:xfrm>
            <a:off x="7994303" y="5754142"/>
            <a:ext cx="2095500" cy="333375"/>
          </a:xfrm>
          <a:prstGeom prst="rect">
            <a:avLst/>
          </a:prstGeom>
          <a:noFill/>
          <a:ln/>
        </p:spPr>
        <p:txBody>
          <a:bodyPr wrap="square" lIns="25400" tIns="25400" rIns="25400" bIns="25400" rtlCol="0" anchor="t">
            <a:normAutofit/>
          </a:bodyPr>
          <a:lstStyle/>
          <a:p>
            <a:pPr algn="r" indent="0" marL="0">
              <a:buNone/>
            </a:pPr>
            <a:r>
              <a:rPr lang="en-US" sz="2025" dirty="0">
                <a:solidFill>
                  <a:srgbClr val="8A857C"/>
                </a:solidFill>
                <a:latin typeface="Arial" pitchFamily="34" charset="0"/>
                <a:ea typeface="Arial" pitchFamily="34" charset="-122"/>
                <a:cs typeface="Arial" pitchFamily="34" charset="-120"/>
              </a:rPr>
              <a:t>1.000</a:t>
            </a:r>
            <a:endParaRPr lang="en-US" sz="2025" dirty="0"/>
          </a:p>
        </p:txBody>
      </p:sp>
      <p:sp>
        <p:nvSpPr>
          <p:cNvPr id="32" name="Text 30"/>
          <p:cNvSpPr/>
          <p:nvPr/>
        </p:nvSpPr>
        <p:spPr>
          <a:xfrm>
            <a:off x="952500" y="6278017"/>
            <a:ext cx="2362200" cy="704850"/>
          </a:xfrm>
          <a:prstGeom prst="rect">
            <a:avLst/>
          </a:prstGeom>
          <a:noFill/>
          <a:ln/>
        </p:spPr>
        <p:txBody>
          <a:bodyPr wrap="square" lIns="25400" tIns="25400" rIns="25400" bIns="25400" rtlCol="0" anchor="t">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distilbert-student</a:t>
            </a:r>
            <a:endParaRPr lang="en-US" sz="2025" dirty="0"/>
          </a:p>
        </p:txBody>
      </p:sp>
      <p:sp>
        <p:nvSpPr>
          <p:cNvPr id="33" name="Shape 31"/>
          <p:cNvSpPr/>
          <p:nvPr/>
        </p:nvSpPr>
        <p:spPr>
          <a:xfrm>
            <a:off x="3409950" y="6458992"/>
            <a:ext cx="3593753" cy="304800"/>
          </a:xfrm>
          <a:prstGeom prst="rect">
            <a:avLst/>
          </a:prstGeom>
          <a:solidFill>
            <a:srgbClr val="E6E1D8"/>
          </a:solidFill>
          <a:ln/>
        </p:spPr>
      </p:sp>
      <p:sp>
        <p:nvSpPr>
          <p:cNvPr id="34" name="Text 32"/>
          <p:cNvSpPr/>
          <p:nvPr/>
        </p:nvSpPr>
        <p:spPr>
          <a:xfrm>
            <a:off x="3543300" y="6468517"/>
            <a:ext cx="47059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857C"/>
                </a:solidFill>
                <a:latin typeface="Courier New" pitchFamily="34" charset="0"/>
                <a:ea typeface="Courier New" pitchFamily="34" charset="-122"/>
                <a:cs typeface="Courier New" pitchFamily="34" charset="-120"/>
              </a:rPr>
              <a:t>0.008</a:t>
            </a:r>
            <a:endParaRPr lang="en-US" sz="1725" dirty="0"/>
          </a:p>
        </p:txBody>
      </p:sp>
      <p:sp>
        <p:nvSpPr>
          <p:cNvPr id="35" name="Text 33"/>
          <p:cNvSpPr/>
          <p:nvPr/>
        </p:nvSpPr>
        <p:spPr>
          <a:xfrm>
            <a:off x="7994303" y="6444704"/>
            <a:ext cx="2095500" cy="371475"/>
          </a:xfrm>
          <a:prstGeom prst="rect">
            <a:avLst/>
          </a:prstGeom>
          <a:noFill/>
          <a:ln/>
        </p:spPr>
        <p:txBody>
          <a:bodyPr wrap="square" lIns="25400" tIns="25400" rIns="25400" bIns="25400" rtlCol="0" anchor="t">
            <a:normAutofit/>
          </a:bodyPr>
          <a:lstStyle/>
          <a:p>
            <a:pPr algn="r" indent="0" marL="0">
              <a:buNone/>
            </a:pPr>
            <a:r>
              <a:rPr lang="en-US" sz="2025" dirty="0">
                <a:solidFill>
                  <a:srgbClr val="8A857C"/>
                </a:solidFill>
                <a:latin typeface="Courier New" pitchFamily="34" charset="0"/>
                <a:ea typeface="Courier New" pitchFamily="34" charset="-122"/>
                <a:cs typeface="Courier New" pitchFamily="34" charset="-120"/>
              </a:rPr>
              <a:t>0.000</a:t>
            </a:r>
            <a:endParaRPr lang="en-US" sz="2025" dirty="0"/>
          </a:p>
        </p:txBody>
      </p:sp>
      <p:sp>
        <p:nvSpPr>
          <p:cNvPr id="36" name="Text 34"/>
          <p:cNvSpPr/>
          <p:nvPr/>
        </p:nvSpPr>
        <p:spPr>
          <a:xfrm>
            <a:off x="952500" y="7154317"/>
            <a:ext cx="2362200" cy="704850"/>
          </a:xfrm>
          <a:prstGeom prst="rect">
            <a:avLst/>
          </a:prstGeom>
          <a:noFill/>
          <a:ln/>
        </p:spPr>
        <p:txBody>
          <a:bodyPr wrap="square" lIns="25400" tIns="25400" rIns="25400" bIns="25400" rtlCol="0" anchor="t">
            <a:normAutofit/>
          </a:bodyPr>
          <a:lstStyle/>
          <a:p>
            <a:pPr algn="l" indent="0" marL="0">
              <a:buNone/>
            </a:pPr>
            <a:r>
              <a:rPr lang="en-US" sz="2025" dirty="0">
                <a:solidFill>
                  <a:srgbClr val="8A857C"/>
                </a:solidFill>
                <a:latin typeface="Courier New" pitchFamily="34" charset="0"/>
                <a:ea typeface="Courier New" pitchFamily="34" charset="-122"/>
                <a:cs typeface="Courier New" pitchFamily="34" charset="-120"/>
              </a:rPr>
              <a:t>distilgpt2-d1-ft</a:t>
            </a:r>
            <a:endParaRPr lang="en-US" sz="2025" dirty="0"/>
          </a:p>
        </p:txBody>
      </p:sp>
      <p:sp>
        <p:nvSpPr>
          <p:cNvPr id="37" name="Shape 35"/>
          <p:cNvSpPr/>
          <p:nvPr/>
        </p:nvSpPr>
        <p:spPr>
          <a:xfrm>
            <a:off x="3409950" y="7335292"/>
            <a:ext cx="3593753" cy="304800"/>
          </a:xfrm>
          <a:prstGeom prst="rect">
            <a:avLst/>
          </a:prstGeom>
          <a:solidFill>
            <a:srgbClr val="E6E1D8"/>
          </a:solidFill>
          <a:ln/>
        </p:spPr>
      </p:sp>
      <p:sp>
        <p:nvSpPr>
          <p:cNvPr id="38" name="Text 36"/>
          <p:cNvSpPr/>
          <p:nvPr/>
        </p:nvSpPr>
        <p:spPr>
          <a:xfrm>
            <a:off x="3543300" y="7344817"/>
            <a:ext cx="47059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857C"/>
                </a:solidFill>
                <a:latin typeface="Courier New" pitchFamily="34" charset="0"/>
                <a:ea typeface="Courier New" pitchFamily="34" charset="-122"/>
                <a:cs typeface="Courier New" pitchFamily="34" charset="-120"/>
              </a:rPr>
              <a:t>0.326</a:t>
            </a:r>
            <a:endParaRPr lang="en-US" sz="1725" dirty="0"/>
          </a:p>
        </p:txBody>
      </p:sp>
      <p:sp>
        <p:nvSpPr>
          <p:cNvPr id="39" name="Text 37"/>
          <p:cNvSpPr/>
          <p:nvPr/>
        </p:nvSpPr>
        <p:spPr>
          <a:xfrm>
            <a:off x="7994303" y="7321004"/>
            <a:ext cx="2095500" cy="371475"/>
          </a:xfrm>
          <a:prstGeom prst="rect">
            <a:avLst/>
          </a:prstGeom>
          <a:noFill/>
          <a:ln/>
        </p:spPr>
        <p:txBody>
          <a:bodyPr wrap="square" lIns="25400" tIns="25400" rIns="25400" bIns="25400" rtlCol="0" anchor="t">
            <a:normAutofit/>
          </a:bodyPr>
          <a:lstStyle/>
          <a:p>
            <a:pPr algn="r" indent="0" marL="0">
              <a:buNone/>
            </a:pPr>
            <a:r>
              <a:rPr lang="en-US" sz="2025" dirty="0">
                <a:solidFill>
                  <a:srgbClr val="8A857C"/>
                </a:solidFill>
                <a:latin typeface="Courier New" pitchFamily="34" charset="0"/>
                <a:ea typeface="Courier New" pitchFamily="34" charset="-122"/>
                <a:cs typeface="Courier New" pitchFamily="34" charset="-120"/>
              </a:rPr>
              <a:t>0.000</a:t>
            </a:r>
            <a:endParaRPr lang="en-US" sz="2025" dirty="0"/>
          </a:p>
        </p:txBody>
      </p:sp>
      <p:sp>
        <p:nvSpPr>
          <p:cNvPr id="40" name="Shape 38"/>
          <p:cNvSpPr/>
          <p:nvPr/>
        </p:nvSpPr>
        <p:spPr>
          <a:xfrm>
            <a:off x="10756553" y="2468017"/>
            <a:ext cx="47625" cy="1411337"/>
          </a:xfrm>
          <a:prstGeom prst="rect">
            <a:avLst/>
          </a:prstGeom>
          <a:solidFill>
            <a:srgbClr val="B96365"/>
          </a:solidFill>
          <a:ln/>
        </p:spPr>
      </p:sp>
      <p:sp>
        <p:nvSpPr>
          <p:cNvPr id="41" name="Text 39"/>
          <p:cNvSpPr/>
          <p:nvPr/>
        </p:nvSpPr>
        <p:spPr>
          <a:xfrm>
            <a:off x="11089928" y="2468017"/>
            <a:ext cx="6442941" cy="1449437"/>
          </a:xfrm>
          <a:prstGeom prst="rect">
            <a:avLst/>
          </a:prstGeom>
          <a:noFill/>
          <a:ln/>
        </p:spPr>
        <p:txBody>
          <a:bodyPr wrap="square" lIns="25400" tIns="25400" rIns="25400" bIns="25400" rtlCol="0" anchor="t">
            <a:normAutofit/>
          </a:bodyPr>
          <a:lstStyle/>
          <a:p>
            <a:pPr algn="l" indent="0" marL="0">
              <a:lnSpc>
                <a:spcPct val="114884"/>
              </a:lnSpc>
              <a:buNone/>
            </a:pPr>
            <a:r>
              <a:rPr lang="en-US" sz="2850" dirty="0">
                <a:solidFill>
                  <a:srgbClr val="1A1917"/>
                </a:solidFill>
                <a:latin typeface="Georgia" pitchFamily="34" charset="0"/>
                <a:ea typeface="Georgia" pitchFamily="34" charset="-122"/>
                <a:cs typeface="Georgia" pitchFamily="34" charset="-120"/>
              </a:rPr>
              <a:t>Sentences such as “I am gay” are flagged despite carrying no hostile content.</a:t>
            </a:r>
            <a:endParaRPr lang="en-US" sz="2850" dirty="0"/>
          </a:p>
        </p:txBody>
      </p:sp>
      <p:sp>
        <p:nvSpPr>
          <p:cNvPr id="42" name="Text 40"/>
          <p:cNvSpPr/>
          <p:nvPr/>
        </p:nvSpPr>
        <p:spPr>
          <a:xfrm>
            <a:off x="10756553" y="4165104"/>
            <a:ext cx="6776316" cy="1198066"/>
          </a:xfrm>
          <a:prstGeom prst="rect">
            <a:avLst/>
          </a:prstGeom>
          <a:noFill/>
          <a:ln/>
        </p:spPr>
        <p:txBody>
          <a:bodyPr wrap="square" lIns="25400" tIns="25400" rIns="25400" bIns="25400" rtlCol="0" anchor="t">
            <a:normAutofit/>
          </a:bodyPr>
          <a:lstStyle/>
          <a:p>
            <a:pPr algn="l" indent="0" marL="0">
              <a:lnSpc>
                <a:spcPct val="126875"/>
              </a:lnSpc>
              <a:buNone/>
            </a:pPr>
            <a:r>
              <a:rPr lang="en-US" sz="2100" dirty="0">
                <a:solidFill>
                  <a:srgbClr val="4A4741"/>
                </a:solidFill>
                <a:latin typeface="Arial" pitchFamily="34" charset="0"/>
                <a:ea typeface="Arial" pitchFamily="34" charset="-122"/>
                <a:cs typeface="Arial" pitchFamily="34" charset="-120"/>
              </a:rPr>
              <a:t>Control FPR is exactly zero for every classifier, which localises the false positives: they are identity-driven, not length- or template-driven.</a:t>
            </a:r>
            <a:endParaRPr lang="en-US" sz="2100" dirty="0"/>
          </a:p>
        </p:txBody>
      </p:sp>
      <p:sp>
        <p:nvSpPr>
          <p:cNvPr id="43" name="Text 41"/>
          <p:cNvSpPr/>
          <p:nvPr/>
        </p:nvSpPr>
        <p:spPr>
          <a:xfrm>
            <a:off x="10756553" y="5610820"/>
            <a:ext cx="6776316" cy="1584722"/>
          </a:xfrm>
          <a:prstGeom prst="rect">
            <a:avLst/>
          </a:prstGeom>
          <a:noFill/>
          <a:ln/>
        </p:spPr>
        <p:txBody>
          <a:bodyPr wrap="square" lIns="25400" tIns="25400" rIns="25400" bIns="25400" rtlCol="0" anchor="t">
            <a:normAutofit/>
          </a:bodyPr>
          <a:lstStyle/>
          <a:p>
            <a:pPr algn="l" indent="0" marL="0">
              <a:lnSpc>
                <a:spcPct val="126875"/>
              </a:lnSpc>
              <a:buNone/>
            </a:pPr>
            <a:r>
              <a:rPr lang="en-US" sz="2100" dirty="0">
                <a:solidFill>
                  <a:srgbClr val="4A4741"/>
                </a:solidFill>
                <a:latin typeface="Arial" pitchFamily="34" charset="0"/>
                <a:ea typeface="Arial" pitchFamily="34" charset="-122"/>
                <a:cs typeface="Arial" pitchFamily="34" charset="-120"/>
              </a:rPr>
              <a:t>The specialised encoder is less fair than the linear baseline, supporting H1. But our generic E1 is less fair still on the identical architecture, so specialisation alone does not explain the ordering.</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F0"/>
        </a:solidFill>
      </p:bgPr>
    </p:bg>
    <p:spTree>
      <p:nvGrpSpPr>
        <p:cNvPr id="1" name=""/>
        <p:cNvGrpSpPr/>
        <p:nvPr/>
      </p:nvGrpSpPr>
      <p:grpSpPr>
        <a:xfrm>
          <a:off x="0" y="0"/>
          <a:ext cx="0" cy="0"/>
          <a:chOff x="0" y="0"/>
          <a:chExt cx="0" cy="0"/>
        </a:xfrm>
      </p:grpSpPr>
      <p:sp>
        <p:nvSpPr>
          <p:cNvPr id="2" name="Text 0"/>
          <p:cNvSpPr/>
          <p:nvPr/>
        </p:nvSpPr>
        <p:spPr>
          <a:xfrm>
            <a:off x="952500" y="857250"/>
            <a:ext cx="18021300" cy="304800"/>
          </a:xfrm>
          <a:prstGeom prst="rect">
            <a:avLst/>
          </a:prstGeom>
          <a:noFill/>
          <a:ln/>
        </p:spPr>
        <p:txBody>
          <a:bodyPr wrap="square" lIns="25400" tIns="25400" rIns="25400" bIns="25400" rtlCol="0" anchor="t">
            <a:normAutofit/>
          </a:bodyPr>
          <a:lstStyle/>
          <a:p>
            <a:pPr algn="l" indent="0" marL="0">
              <a:buNone/>
            </a:pPr>
            <a:r>
              <a:rPr lang="en-US" sz="1800" b="1" spc="288" kern="0" dirty="0">
                <a:solidFill>
                  <a:srgbClr val="8A857C"/>
                </a:solidFill>
                <a:latin typeface="Arial" pitchFamily="34" charset="0"/>
                <a:ea typeface="Arial" pitchFamily="34" charset="-122"/>
                <a:cs typeface="Arial" pitchFamily="34" charset="-120"/>
              </a:rPr>
              <a:t>RESULTS · PERTURBATION SUITE</a:t>
            </a:r>
            <a:endParaRPr lang="en-US" sz="1800" dirty="0"/>
          </a:p>
        </p:txBody>
      </p:sp>
      <p:sp>
        <p:nvSpPr>
          <p:cNvPr id="3" name="Text 1"/>
          <p:cNvSpPr/>
          <p:nvPr/>
        </p:nvSpPr>
        <p:spPr>
          <a:xfrm>
            <a:off x="952500" y="1333500"/>
            <a:ext cx="18021300" cy="696367"/>
          </a:xfrm>
          <a:prstGeom prst="rect">
            <a:avLst/>
          </a:prstGeom>
          <a:noFill/>
          <a:ln/>
        </p:spPr>
        <p:txBody>
          <a:bodyPr wrap="square" lIns="25400" tIns="25400" rIns="25400" bIns="25400" rtlCol="0" anchor="t">
            <a:normAutofit/>
          </a:bodyPr>
          <a:lstStyle/>
          <a:p>
            <a:pPr algn="l" indent="0" marL="0">
              <a:lnSpc>
                <a:spcPct val="94685"/>
              </a:lnSpc>
              <a:buNone/>
            </a:pPr>
            <a:r>
              <a:rPr lang="en-US" sz="4800" dirty="0">
                <a:solidFill>
                  <a:srgbClr val="1A1917"/>
                </a:solidFill>
                <a:latin typeface="Georgia" pitchFamily="34" charset="0"/>
                <a:ea typeface="Georgia" pitchFamily="34" charset="-122"/>
                <a:cs typeface="Georgia" pitchFamily="34" charset="-120"/>
              </a:rPr>
              <a:t>Robustness to obfuscation</a:t>
            </a:r>
            <a:endParaRPr lang="en-US" sz="4800" dirty="0"/>
          </a:p>
        </p:txBody>
      </p:sp>
      <p:sp>
        <p:nvSpPr>
          <p:cNvPr id="4" name="Text 2"/>
          <p:cNvSpPr/>
          <p:nvPr/>
        </p:nvSpPr>
        <p:spPr>
          <a:xfrm>
            <a:off x="952500" y="2468017"/>
            <a:ext cx="9604266" cy="333375"/>
          </a:xfrm>
          <a:prstGeom prst="rect">
            <a:avLst/>
          </a:prstGeom>
          <a:noFill/>
          <a:ln/>
        </p:spPr>
        <p:txBody>
          <a:bodyPr wrap="square" lIns="25400" tIns="25400" rIns="25400" bIns="25400" rtlCol="0" anchor="t">
            <a:normAutofit/>
          </a:bodyPr>
          <a:lstStyle/>
          <a:p>
            <a:pPr algn="l" indent="0" marL="0">
              <a:buNone/>
            </a:pPr>
            <a:r>
              <a:rPr lang="en-US" sz="1950" b="1" spc="273" kern="0" dirty="0">
                <a:solidFill>
                  <a:srgbClr val="8A857C"/>
                </a:solidFill>
                <a:latin typeface="Arial" pitchFamily="34" charset="0"/>
                <a:ea typeface="Arial" pitchFamily="34" charset="-122"/>
                <a:cs typeface="Arial" pitchFamily="34" charset="-120"/>
              </a:rPr>
              <a:t>EVASION RATE — HIGHER IS MORE BRITTLE</a:t>
            </a:r>
            <a:endParaRPr lang="en-US" sz="1950" dirty="0"/>
          </a:p>
        </p:txBody>
      </p:sp>
      <p:sp>
        <p:nvSpPr>
          <p:cNvPr id="5" name="Text 3"/>
          <p:cNvSpPr/>
          <p:nvPr/>
        </p:nvSpPr>
        <p:spPr>
          <a:xfrm>
            <a:off x="952500" y="3010942"/>
            <a:ext cx="3168461" cy="390525"/>
          </a:xfrm>
          <a:prstGeom prst="rect">
            <a:avLst/>
          </a:prstGeom>
          <a:noFill/>
          <a:ln/>
        </p:spPr>
        <p:txBody>
          <a:bodyPr wrap="square" lIns="25400" tIns="25400" rIns="25400" bIns="25400" rtlCol="0" anchor="t">
            <a:normAutofit/>
          </a:bodyPr>
          <a:lstStyle/>
          <a:p>
            <a:pPr algn="l" indent="0" marL="0">
              <a:buNone/>
            </a:pPr>
            <a:r>
              <a:rPr lang="en-US" sz="2100" dirty="0">
                <a:solidFill>
                  <a:srgbClr val="1A1917"/>
                </a:solidFill>
                <a:latin typeface="Courier New" pitchFamily="34" charset="0"/>
                <a:ea typeface="Courier New" pitchFamily="34" charset="-122"/>
                <a:cs typeface="Courier New" pitchFamily="34" charset="-120"/>
              </a:rPr>
              <a:t>leetspeak · s7up1d</a:t>
            </a:r>
            <a:endParaRPr lang="en-US" sz="2100" dirty="0"/>
          </a:p>
        </p:txBody>
      </p:sp>
      <p:sp>
        <p:nvSpPr>
          <p:cNvPr id="6" name="Text 4"/>
          <p:cNvSpPr/>
          <p:nvPr/>
        </p:nvSpPr>
        <p:spPr>
          <a:xfrm>
            <a:off x="952500" y="3477667"/>
            <a:ext cx="742950" cy="314325"/>
          </a:xfrm>
          <a:prstGeom prst="rect">
            <a:avLst/>
          </a:prstGeom>
          <a:noFill/>
          <a:ln/>
        </p:spPr>
        <p:txBody>
          <a:bodyPr wrap="square" lIns="25400" tIns="25400" rIns="25400" bIns="25400" rtlCol="0" anchor="t">
            <a:normAutofit/>
          </a:bodyPr>
          <a:lstStyle/>
          <a:p>
            <a:pPr algn="l" indent="0" marL="0">
              <a:buNone/>
            </a:pPr>
            <a:r>
              <a:rPr lang="en-US" sz="1875" dirty="0">
                <a:solidFill>
                  <a:srgbClr val="6B6862"/>
                </a:solidFill>
                <a:latin typeface="Arial" pitchFamily="34" charset="0"/>
                <a:ea typeface="Arial" pitchFamily="34" charset="-122"/>
                <a:cs typeface="Arial" pitchFamily="34" charset="-120"/>
              </a:rPr>
              <a:t>E2</a:t>
            </a:r>
            <a:endParaRPr lang="en-US" sz="1875" dirty="0"/>
          </a:p>
        </p:txBody>
      </p:sp>
      <p:sp>
        <p:nvSpPr>
          <p:cNvPr id="7" name="Shape 5"/>
          <p:cNvSpPr/>
          <p:nvPr/>
        </p:nvSpPr>
        <p:spPr>
          <a:xfrm>
            <a:off x="1771650" y="3482429"/>
            <a:ext cx="6997601" cy="266700"/>
          </a:xfrm>
          <a:prstGeom prst="rect">
            <a:avLst/>
          </a:prstGeom>
          <a:solidFill>
            <a:srgbClr val="E6E1D8"/>
          </a:solidFill>
          <a:ln/>
        </p:spPr>
      </p:sp>
      <p:sp>
        <p:nvSpPr>
          <p:cNvPr id="8" name="Shape 6"/>
          <p:cNvSpPr/>
          <p:nvPr/>
        </p:nvSpPr>
        <p:spPr>
          <a:xfrm>
            <a:off x="1771650" y="3482429"/>
            <a:ext cx="1959322" cy="266700"/>
          </a:xfrm>
          <a:prstGeom prst="rect">
            <a:avLst/>
          </a:prstGeom>
          <a:solidFill>
            <a:srgbClr val="22211D"/>
          </a:solidFill>
          <a:ln/>
        </p:spPr>
      </p:sp>
      <p:sp>
        <p:nvSpPr>
          <p:cNvPr id="9" name="Text 7"/>
          <p:cNvSpPr/>
          <p:nvPr/>
        </p:nvSpPr>
        <p:spPr>
          <a:xfrm>
            <a:off x="8845451" y="3477667"/>
            <a:ext cx="838200" cy="314325"/>
          </a:xfrm>
          <a:prstGeom prst="rect">
            <a:avLst/>
          </a:prstGeom>
          <a:noFill/>
          <a:ln/>
        </p:spPr>
        <p:txBody>
          <a:bodyPr wrap="square" lIns="25400" tIns="25400" rIns="25400" bIns="25400" rtlCol="0" anchor="t">
            <a:normAutofit/>
          </a:bodyPr>
          <a:lstStyle/>
          <a:p>
            <a:pPr algn="r" indent="0" marL="0">
              <a:buNone/>
            </a:pPr>
            <a:r>
              <a:rPr lang="en-US" sz="1875" dirty="0">
                <a:solidFill>
                  <a:srgbClr val="1A1917"/>
                </a:solidFill>
                <a:latin typeface="Arial" pitchFamily="34" charset="0"/>
                <a:ea typeface="Arial" pitchFamily="34" charset="-122"/>
                <a:cs typeface="Arial" pitchFamily="34" charset="-120"/>
              </a:rPr>
              <a:t>0.280</a:t>
            </a:r>
            <a:endParaRPr lang="en-US" sz="1875" dirty="0"/>
          </a:p>
        </p:txBody>
      </p:sp>
      <p:sp>
        <p:nvSpPr>
          <p:cNvPr id="10" name="Text 8"/>
          <p:cNvSpPr/>
          <p:nvPr/>
        </p:nvSpPr>
        <p:spPr>
          <a:xfrm>
            <a:off x="952500" y="3868192"/>
            <a:ext cx="742950" cy="314325"/>
          </a:xfrm>
          <a:prstGeom prst="rect">
            <a:avLst/>
          </a:prstGeom>
          <a:noFill/>
          <a:ln/>
        </p:spPr>
        <p:txBody>
          <a:bodyPr wrap="square" lIns="25400" tIns="25400" rIns="25400" bIns="25400" rtlCol="0" anchor="t">
            <a:normAutofit/>
          </a:bodyPr>
          <a:lstStyle/>
          <a:p>
            <a:pPr algn="l" indent="0" marL="0">
              <a:buNone/>
            </a:pPr>
            <a:r>
              <a:rPr lang="en-US" sz="1875" dirty="0">
                <a:solidFill>
                  <a:srgbClr val="6B6862"/>
                </a:solidFill>
                <a:latin typeface="Arial" pitchFamily="34" charset="0"/>
                <a:ea typeface="Arial" pitchFamily="34" charset="-122"/>
                <a:cs typeface="Arial" pitchFamily="34" charset="-120"/>
              </a:rPr>
              <a:t>E1</a:t>
            </a:r>
            <a:endParaRPr lang="en-US" sz="1875" dirty="0"/>
          </a:p>
        </p:txBody>
      </p:sp>
      <p:sp>
        <p:nvSpPr>
          <p:cNvPr id="11" name="Shape 9"/>
          <p:cNvSpPr/>
          <p:nvPr/>
        </p:nvSpPr>
        <p:spPr>
          <a:xfrm>
            <a:off x="1771650" y="3872954"/>
            <a:ext cx="6997601" cy="266700"/>
          </a:xfrm>
          <a:prstGeom prst="rect">
            <a:avLst/>
          </a:prstGeom>
          <a:solidFill>
            <a:srgbClr val="E6E1D8"/>
          </a:solidFill>
          <a:ln/>
        </p:spPr>
      </p:sp>
      <p:sp>
        <p:nvSpPr>
          <p:cNvPr id="12" name="Shape 10"/>
          <p:cNvSpPr/>
          <p:nvPr/>
        </p:nvSpPr>
        <p:spPr>
          <a:xfrm>
            <a:off x="1771650" y="3872954"/>
            <a:ext cx="5031135" cy="266700"/>
          </a:xfrm>
          <a:prstGeom prst="rect">
            <a:avLst/>
          </a:prstGeom>
          <a:solidFill>
            <a:srgbClr val="B96365"/>
          </a:solidFill>
          <a:ln/>
        </p:spPr>
      </p:sp>
      <p:sp>
        <p:nvSpPr>
          <p:cNvPr id="13" name="Text 11"/>
          <p:cNvSpPr/>
          <p:nvPr/>
        </p:nvSpPr>
        <p:spPr>
          <a:xfrm>
            <a:off x="8845451" y="3868192"/>
            <a:ext cx="838200" cy="314325"/>
          </a:xfrm>
          <a:prstGeom prst="rect">
            <a:avLst/>
          </a:prstGeom>
          <a:noFill/>
          <a:ln/>
        </p:spPr>
        <p:txBody>
          <a:bodyPr wrap="square" lIns="25400" tIns="25400" rIns="25400" bIns="25400" rtlCol="0" anchor="t">
            <a:normAutofit/>
          </a:bodyPr>
          <a:lstStyle/>
          <a:p>
            <a:pPr algn="r" indent="0" marL="0">
              <a:buNone/>
            </a:pPr>
            <a:r>
              <a:rPr lang="en-US" sz="1875" dirty="0">
                <a:solidFill>
                  <a:srgbClr val="1A1917"/>
                </a:solidFill>
                <a:latin typeface="Arial" pitchFamily="34" charset="0"/>
                <a:ea typeface="Arial" pitchFamily="34" charset="-122"/>
                <a:cs typeface="Arial" pitchFamily="34" charset="-120"/>
              </a:rPr>
              <a:t>0.719</a:t>
            </a:r>
            <a:endParaRPr lang="en-US" sz="1875" dirty="0"/>
          </a:p>
        </p:txBody>
      </p:sp>
      <p:sp>
        <p:nvSpPr>
          <p:cNvPr id="14" name="Text 12"/>
          <p:cNvSpPr/>
          <p:nvPr/>
        </p:nvSpPr>
        <p:spPr>
          <a:xfrm>
            <a:off x="952500" y="4258717"/>
            <a:ext cx="742950" cy="314325"/>
          </a:xfrm>
          <a:prstGeom prst="rect">
            <a:avLst/>
          </a:prstGeom>
          <a:noFill/>
          <a:ln/>
        </p:spPr>
        <p:txBody>
          <a:bodyPr wrap="square" lIns="25400" tIns="25400" rIns="25400" bIns="25400" rtlCol="0" anchor="t">
            <a:normAutofit/>
          </a:bodyPr>
          <a:lstStyle/>
          <a:p>
            <a:pPr algn="l" indent="0" marL="0">
              <a:buNone/>
            </a:pPr>
            <a:r>
              <a:rPr lang="en-US" sz="1875" dirty="0">
                <a:solidFill>
                  <a:srgbClr val="6B6862"/>
                </a:solidFill>
                <a:latin typeface="Arial" pitchFamily="34" charset="0"/>
                <a:ea typeface="Arial" pitchFamily="34" charset="-122"/>
                <a:cs typeface="Arial" pitchFamily="34" charset="-120"/>
              </a:rPr>
              <a:t>E0</a:t>
            </a:r>
            <a:endParaRPr lang="en-US" sz="1875" dirty="0"/>
          </a:p>
        </p:txBody>
      </p:sp>
      <p:sp>
        <p:nvSpPr>
          <p:cNvPr id="15" name="Shape 13"/>
          <p:cNvSpPr/>
          <p:nvPr/>
        </p:nvSpPr>
        <p:spPr>
          <a:xfrm>
            <a:off x="1771650" y="4263479"/>
            <a:ext cx="6997601" cy="266700"/>
          </a:xfrm>
          <a:prstGeom prst="rect">
            <a:avLst/>
          </a:prstGeom>
          <a:solidFill>
            <a:srgbClr val="E6E1D8"/>
          </a:solidFill>
          <a:ln/>
        </p:spPr>
      </p:sp>
      <p:sp>
        <p:nvSpPr>
          <p:cNvPr id="16" name="Shape 14"/>
          <p:cNvSpPr/>
          <p:nvPr/>
        </p:nvSpPr>
        <p:spPr>
          <a:xfrm>
            <a:off x="1771650" y="4263479"/>
            <a:ext cx="4975175" cy="266700"/>
          </a:xfrm>
          <a:prstGeom prst="rect">
            <a:avLst/>
          </a:prstGeom>
          <a:solidFill>
            <a:srgbClr val="00939A"/>
          </a:solidFill>
          <a:ln/>
        </p:spPr>
      </p:sp>
      <p:sp>
        <p:nvSpPr>
          <p:cNvPr id="17" name="Text 15"/>
          <p:cNvSpPr/>
          <p:nvPr/>
        </p:nvSpPr>
        <p:spPr>
          <a:xfrm>
            <a:off x="8845451" y="4258717"/>
            <a:ext cx="838200" cy="314325"/>
          </a:xfrm>
          <a:prstGeom prst="rect">
            <a:avLst/>
          </a:prstGeom>
          <a:noFill/>
          <a:ln/>
        </p:spPr>
        <p:txBody>
          <a:bodyPr wrap="square" lIns="25400" tIns="25400" rIns="25400" bIns="25400" rtlCol="0" anchor="t">
            <a:normAutofit/>
          </a:bodyPr>
          <a:lstStyle/>
          <a:p>
            <a:pPr algn="r" indent="0" marL="0">
              <a:buNone/>
            </a:pPr>
            <a:r>
              <a:rPr lang="en-US" sz="1875" dirty="0">
                <a:solidFill>
                  <a:srgbClr val="1A1917"/>
                </a:solidFill>
                <a:latin typeface="Arial" pitchFamily="34" charset="0"/>
                <a:ea typeface="Arial" pitchFamily="34" charset="-122"/>
                <a:cs typeface="Arial" pitchFamily="34" charset="-120"/>
              </a:rPr>
              <a:t>0.711</a:t>
            </a:r>
            <a:endParaRPr lang="en-US" sz="1875" dirty="0"/>
          </a:p>
        </p:txBody>
      </p:sp>
      <p:sp>
        <p:nvSpPr>
          <p:cNvPr id="18" name="Text 16"/>
          <p:cNvSpPr/>
          <p:nvPr/>
        </p:nvSpPr>
        <p:spPr>
          <a:xfrm>
            <a:off x="952500" y="4763542"/>
            <a:ext cx="9604266" cy="390525"/>
          </a:xfrm>
          <a:prstGeom prst="rect">
            <a:avLst/>
          </a:prstGeom>
          <a:noFill/>
          <a:ln/>
        </p:spPr>
        <p:txBody>
          <a:bodyPr wrap="square" lIns="25400" tIns="25400" rIns="25400" bIns="25400" rtlCol="0" anchor="t">
            <a:normAutofit/>
          </a:bodyPr>
          <a:lstStyle/>
          <a:p>
            <a:pPr algn="l" indent="0" marL="0">
              <a:buNone/>
            </a:pPr>
            <a:r>
              <a:rPr lang="en-US" sz="2100" dirty="0">
                <a:solidFill>
                  <a:srgbClr val="1A1917"/>
                </a:solidFill>
                <a:latin typeface="Courier New" pitchFamily="34" charset="0"/>
                <a:ea typeface="Courier New" pitchFamily="34" charset="-122"/>
                <a:cs typeface="Courier New" pitchFamily="34" charset="-120"/>
              </a:rPr>
              <a:t>space-out · s t u p i d</a:t>
            </a:r>
            <a:endParaRPr lang="en-US" sz="2100" dirty="0"/>
          </a:p>
        </p:txBody>
      </p:sp>
      <p:sp>
        <p:nvSpPr>
          <p:cNvPr id="19" name="Text 17"/>
          <p:cNvSpPr/>
          <p:nvPr/>
        </p:nvSpPr>
        <p:spPr>
          <a:xfrm>
            <a:off x="952500" y="5230267"/>
            <a:ext cx="742950" cy="314325"/>
          </a:xfrm>
          <a:prstGeom prst="rect">
            <a:avLst/>
          </a:prstGeom>
          <a:noFill/>
          <a:ln/>
        </p:spPr>
        <p:txBody>
          <a:bodyPr wrap="square" lIns="25400" tIns="25400" rIns="25400" bIns="25400" rtlCol="0" anchor="t">
            <a:normAutofit/>
          </a:bodyPr>
          <a:lstStyle/>
          <a:p>
            <a:pPr algn="l" indent="0" marL="0">
              <a:buNone/>
            </a:pPr>
            <a:r>
              <a:rPr lang="en-US" sz="1875" dirty="0">
                <a:solidFill>
                  <a:srgbClr val="6B6862"/>
                </a:solidFill>
                <a:latin typeface="Arial" pitchFamily="34" charset="0"/>
                <a:ea typeface="Arial" pitchFamily="34" charset="-122"/>
                <a:cs typeface="Arial" pitchFamily="34" charset="-120"/>
              </a:rPr>
              <a:t>E2</a:t>
            </a:r>
            <a:endParaRPr lang="en-US" sz="1875" dirty="0"/>
          </a:p>
        </p:txBody>
      </p:sp>
      <p:sp>
        <p:nvSpPr>
          <p:cNvPr id="20" name="Shape 18"/>
          <p:cNvSpPr/>
          <p:nvPr/>
        </p:nvSpPr>
        <p:spPr>
          <a:xfrm>
            <a:off x="1771650" y="5235029"/>
            <a:ext cx="6997601" cy="266700"/>
          </a:xfrm>
          <a:prstGeom prst="rect">
            <a:avLst/>
          </a:prstGeom>
          <a:solidFill>
            <a:srgbClr val="E6E1D8"/>
          </a:solidFill>
          <a:ln/>
        </p:spPr>
      </p:sp>
      <p:sp>
        <p:nvSpPr>
          <p:cNvPr id="21" name="Shape 19"/>
          <p:cNvSpPr/>
          <p:nvPr/>
        </p:nvSpPr>
        <p:spPr>
          <a:xfrm>
            <a:off x="1771650" y="5235029"/>
            <a:ext cx="377726" cy="266700"/>
          </a:xfrm>
          <a:prstGeom prst="rect">
            <a:avLst/>
          </a:prstGeom>
          <a:solidFill>
            <a:srgbClr val="22211D"/>
          </a:solidFill>
          <a:ln/>
        </p:spPr>
      </p:sp>
      <p:sp>
        <p:nvSpPr>
          <p:cNvPr id="22" name="Text 20"/>
          <p:cNvSpPr/>
          <p:nvPr/>
        </p:nvSpPr>
        <p:spPr>
          <a:xfrm>
            <a:off x="8845451" y="5230267"/>
            <a:ext cx="838200" cy="314325"/>
          </a:xfrm>
          <a:prstGeom prst="rect">
            <a:avLst/>
          </a:prstGeom>
          <a:noFill/>
          <a:ln/>
        </p:spPr>
        <p:txBody>
          <a:bodyPr wrap="square" lIns="25400" tIns="25400" rIns="25400" bIns="25400" rtlCol="0" anchor="t">
            <a:normAutofit/>
          </a:bodyPr>
          <a:lstStyle/>
          <a:p>
            <a:pPr algn="r" indent="0" marL="0">
              <a:buNone/>
            </a:pPr>
            <a:r>
              <a:rPr lang="en-US" sz="1875" dirty="0">
                <a:solidFill>
                  <a:srgbClr val="1A1917"/>
                </a:solidFill>
                <a:latin typeface="Arial" pitchFamily="34" charset="0"/>
                <a:ea typeface="Arial" pitchFamily="34" charset="-122"/>
                <a:cs typeface="Arial" pitchFamily="34" charset="-120"/>
              </a:rPr>
              <a:t>0.054</a:t>
            </a:r>
            <a:endParaRPr lang="en-US" sz="1875" dirty="0"/>
          </a:p>
        </p:txBody>
      </p:sp>
      <p:sp>
        <p:nvSpPr>
          <p:cNvPr id="23" name="Text 21"/>
          <p:cNvSpPr/>
          <p:nvPr/>
        </p:nvSpPr>
        <p:spPr>
          <a:xfrm>
            <a:off x="952500" y="5620792"/>
            <a:ext cx="742950" cy="314325"/>
          </a:xfrm>
          <a:prstGeom prst="rect">
            <a:avLst/>
          </a:prstGeom>
          <a:noFill/>
          <a:ln/>
        </p:spPr>
        <p:txBody>
          <a:bodyPr wrap="square" lIns="25400" tIns="25400" rIns="25400" bIns="25400" rtlCol="0" anchor="t">
            <a:normAutofit/>
          </a:bodyPr>
          <a:lstStyle/>
          <a:p>
            <a:pPr algn="l" indent="0" marL="0">
              <a:buNone/>
            </a:pPr>
            <a:r>
              <a:rPr lang="en-US" sz="1875" dirty="0">
                <a:solidFill>
                  <a:srgbClr val="6B6862"/>
                </a:solidFill>
                <a:latin typeface="Arial" pitchFamily="34" charset="0"/>
                <a:ea typeface="Arial" pitchFamily="34" charset="-122"/>
                <a:cs typeface="Arial" pitchFamily="34" charset="-120"/>
              </a:rPr>
              <a:t>E0</a:t>
            </a:r>
            <a:endParaRPr lang="en-US" sz="1875" dirty="0"/>
          </a:p>
        </p:txBody>
      </p:sp>
      <p:sp>
        <p:nvSpPr>
          <p:cNvPr id="24" name="Shape 22"/>
          <p:cNvSpPr/>
          <p:nvPr/>
        </p:nvSpPr>
        <p:spPr>
          <a:xfrm>
            <a:off x="1771650" y="5625554"/>
            <a:ext cx="6997601" cy="266700"/>
          </a:xfrm>
          <a:prstGeom prst="rect">
            <a:avLst/>
          </a:prstGeom>
          <a:solidFill>
            <a:srgbClr val="E6E1D8"/>
          </a:solidFill>
          <a:ln/>
        </p:spPr>
      </p:sp>
      <p:sp>
        <p:nvSpPr>
          <p:cNvPr id="25" name="Shape 23"/>
          <p:cNvSpPr/>
          <p:nvPr/>
        </p:nvSpPr>
        <p:spPr>
          <a:xfrm>
            <a:off x="1771650" y="5625554"/>
            <a:ext cx="5248126" cy="266700"/>
          </a:xfrm>
          <a:prstGeom prst="rect">
            <a:avLst/>
          </a:prstGeom>
          <a:solidFill>
            <a:srgbClr val="00939A"/>
          </a:solidFill>
          <a:ln/>
        </p:spPr>
      </p:sp>
      <p:sp>
        <p:nvSpPr>
          <p:cNvPr id="26" name="Text 24"/>
          <p:cNvSpPr/>
          <p:nvPr/>
        </p:nvSpPr>
        <p:spPr>
          <a:xfrm>
            <a:off x="8845451" y="5620792"/>
            <a:ext cx="838200" cy="314325"/>
          </a:xfrm>
          <a:prstGeom prst="rect">
            <a:avLst/>
          </a:prstGeom>
          <a:noFill/>
          <a:ln/>
        </p:spPr>
        <p:txBody>
          <a:bodyPr wrap="square" lIns="25400" tIns="25400" rIns="25400" bIns="25400" rtlCol="0" anchor="t">
            <a:normAutofit/>
          </a:bodyPr>
          <a:lstStyle/>
          <a:p>
            <a:pPr algn="r" indent="0" marL="0">
              <a:buNone/>
            </a:pPr>
            <a:r>
              <a:rPr lang="en-US" sz="1875" dirty="0">
                <a:solidFill>
                  <a:srgbClr val="1A1917"/>
                </a:solidFill>
                <a:latin typeface="Arial" pitchFamily="34" charset="0"/>
                <a:ea typeface="Arial" pitchFamily="34" charset="-122"/>
                <a:cs typeface="Arial" pitchFamily="34" charset="-120"/>
              </a:rPr>
              <a:t>≈0.75</a:t>
            </a:r>
            <a:endParaRPr lang="en-US" sz="1875" dirty="0"/>
          </a:p>
        </p:txBody>
      </p:sp>
      <p:sp>
        <p:nvSpPr>
          <p:cNvPr id="27" name="Text 25"/>
          <p:cNvSpPr/>
          <p:nvPr/>
        </p:nvSpPr>
        <p:spPr>
          <a:xfrm>
            <a:off x="952500" y="6125617"/>
            <a:ext cx="9604266" cy="390525"/>
          </a:xfrm>
          <a:prstGeom prst="rect">
            <a:avLst/>
          </a:prstGeom>
          <a:noFill/>
          <a:ln/>
        </p:spPr>
        <p:txBody>
          <a:bodyPr wrap="square" lIns="25400" tIns="25400" rIns="25400" bIns="25400" rtlCol="0" anchor="t">
            <a:normAutofit/>
          </a:bodyPr>
          <a:lstStyle/>
          <a:p>
            <a:pPr algn="l" indent="0" marL="0">
              <a:buNone/>
            </a:pPr>
            <a:r>
              <a:rPr lang="en-US" sz="2100" dirty="0">
                <a:solidFill>
                  <a:srgbClr val="1A1917"/>
                </a:solidFill>
                <a:latin typeface="Courier New" pitchFamily="34" charset="0"/>
                <a:ea typeface="Courier New" pitchFamily="34" charset="-122"/>
                <a:cs typeface="Courier New" pitchFamily="34" charset="-120"/>
              </a:rPr>
              <a:t>punct-noise · s.t.u.p.i.d</a:t>
            </a:r>
            <a:endParaRPr lang="en-US" sz="2100" dirty="0"/>
          </a:p>
        </p:txBody>
      </p:sp>
      <p:sp>
        <p:nvSpPr>
          <p:cNvPr id="28" name="Text 26"/>
          <p:cNvSpPr/>
          <p:nvPr/>
        </p:nvSpPr>
        <p:spPr>
          <a:xfrm>
            <a:off x="952500" y="6592342"/>
            <a:ext cx="742950" cy="314325"/>
          </a:xfrm>
          <a:prstGeom prst="rect">
            <a:avLst/>
          </a:prstGeom>
          <a:noFill/>
          <a:ln/>
        </p:spPr>
        <p:txBody>
          <a:bodyPr wrap="square" lIns="25400" tIns="25400" rIns="25400" bIns="25400" rtlCol="0" anchor="t">
            <a:normAutofit/>
          </a:bodyPr>
          <a:lstStyle/>
          <a:p>
            <a:pPr algn="l" indent="0" marL="0">
              <a:buNone/>
            </a:pPr>
            <a:r>
              <a:rPr lang="en-US" sz="1875" dirty="0">
                <a:solidFill>
                  <a:srgbClr val="6B6862"/>
                </a:solidFill>
                <a:latin typeface="Arial" pitchFamily="34" charset="0"/>
                <a:ea typeface="Arial" pitchFamily="34" charset="-122"/>
                <a:cs typeface="Arial" pitchFamily="34" charset="-120"/>
              </a:rPr>
              <a:t>E2</a:t>
            </a:r>
            <a:endParaRPr lang="en-US" sz="1875" dirty="0"/>
          </a:p>
        </p:txBody>
      </p:sp>
      <p:sp>
        <p:nvSpPr>
          <p:cNvPr id="29" name="Shape 27"/>
          <p:cNvSpPr/>
          <p:nvPr/>
        </p:nvSpPr>
        <p:spPr>
          <a:xfrm>
            <a:off x="1771650" y="6597104"/>
            <a:ext cx="6997601" cy="266700"/>
          </a:xfrm>
          <a:prstGeom prst="rect">
            <a:avLst/>
          </a:prstGeom>
          <a:solidFill>
            <a:srgbClr val="E6E1D8"/>
          </a:solidFill>
          <a:ln/>
        </p:spPr>
      </p:sp>
      <p:sp>
        <p:nvSpPr>
          <p:cNvPr id="30" name="Shape 28"/>
          <p:cNvSpPr/>
          <p:nvPr/>
        </p:nvSpPr>
        <p:spPr>
          <a:xfrm>
            <a:off x="1771650" y="6597104"/>
            <a:ext cx="1056531" cy="266700"/>
          </a:xfrm>
          <a:prstGeom prst="rect">
            <a:avLst/>
          </a:prstGeom>
          <a:solidFill>
            <a:srgbClr val="22211D"/>
          </a:solidFill>
          <a:ln/>
        </p:spPr>
      </p:sp>
      <p:sp>
        <p:nvSpPr>
          <p:cNvPr id="31" name="Text 29"/>
          <p:cNvSpPr/>
          <p:nvPr/>
        </p:nvSpPr>
        <p:spPr>
          <a:xfrm>
            <a:off x="8845451" y="6592342"/>
            <a:ext cx="838200" cy="314325"/>
          </a:xfrm>
          <a:prstGeom prst="rect">
            <a:avLst/>
          </a:prstGeom>
          <a:noFill/>
          <a:ln/>
        </p:spPr>
        <p:txBody>
          <a:bodyPr wrap="square" lIns="25400" tIns="25400" rIns="25400" bIns="25400" rtlCol="0" anchor="t">
            <a:normAutofit/>
          </a:bodyPr>
          <a:lstStyle/>
          <a:p>
            <a:pPr algn="r" indent="0" marL="0">
              <a:buNone/>
            </a:pPr>
            <a:r>
              <a:rPr lang="en-US" sz="1875" dirty="0">
                <a:solidFill>
                  <a:srgbClr val="1A1917"/>
                </a:solidFill>
                <a:latin typeface="Arial" pitchFamily="34" charset="0"/>
                <a:ea typeface="Arial" pitchFamily="34" charset="-122"/>
                <a:cs typeface="Arial" pitchFamily="34" charset="-120"/>
              </a:rPr>
              <a:t>0.151</a:t>
            </a:r>
            <a:endParaRPr lang="en-US" sz="1875" dirty="0"/>
          </a:p>
        </p:txBody>
      </p:sp>
      <p:sp>
        <p:nvSpPr>
          <p:cNvPr id="32" name="Text 30"/>
          <p:cNvSpPr/>
          <p:nvPr/>
        </p:nvSpPr>
        <p:spPr>
          <a:xfrm>
            <a:off x="952500" y="6982867"/>
            <a:ext cx="742950" cy="314325"/>
          </a:xfrm>
          <a:prstGeom prst="rect">
            <a:avLst/>
          </a:prstGeom>
          <a:noFill/>
          <a:ln/>
        </p:spPr>
        <p:txBody>
          <a:bodyPr wrap="square" lIns="25400" tIns="25400" rIns="25400" bIns="25400" rtlCol="0" anchor="t">
            <a:normAutofit/>
          </a:bodyPr>
          <a:lstStyle/>
          <a:p>
            <a:pPr algn="l" indent="0" marL="0">
              <a:buNone/>
            </a:pPr>
            <a:r>
              <a:rPr lang="en-US" sz="1875" dirty="0">
                <a:solidFill>
                  <a:srgbClr val="6B6862"/>
                </a:solidFill>
                <a:latin typeface="Arial" pitchFamily="34" charset="0"/>
                <a:ea typeface="Arial" pitchFamily="34" charset="-122"/>
                <a:cs typeface="Arial" pitchFamily="34" charset="-120"/>
              </a:rPr>
              <a:t>E0</a:t>
            </a:r>
            <a:endParaRPr lang="en-US" sz="1875" dirty="0"/>
          </a:p>
        </p:txBody>
      </p:sp>
      <p:sp>
        <p:nvSpPr>
          <p:cNvPr id="33" name="Shape 31"/>
          <p:cNvSpPr/>
          <p:nvPr/>
        </p:nvSpPr>
        <p:spPr>
          <a:xfrm>
            <a:off x="1771650" y="6987629"/>
            <a:ext cx="6997601" cy="266700"/>
          </a:xfrm>
          <a:prstGeom prst="rect">
            <a:avLst/>
          </a:prstGeom>
          <a:solidFill>
            <a:srgbClr val="E6E1D8"/>
          </a:solidFill>
          <a:ln/>
        </p:spPr>
      </p:sp>
      <p:sp>
        <p:nvSpPr>
          <p:cNvPr id="34" name="Shape 32"/>
          <p:cNvSpPr/>
          <p:nvPr/>
        </p:nvSpPr>
        <p:spPr>
          <a:xfrm>
            <a:off x="1771650" y="6987629"/>
            <a:ext cx="5248126" cy="266700"/>
          </a:xfrm>
          <a:prstGeom prst="rect">
            <a:avLst/>
          </a:prstGeom>
          <a:solidFill>
            <a:srgbClr val="00939A"/>
          </a:solidFill>
          <a:ln/>
        </p:spPr>
      </p:sp>
      <p:sp>
        <p:nvSpPr>
          <p:cNvPr id="35" name="Text 33"/>
          <p:cNvSpPr/>
          <p:nvPr/>
        </p:nvSpPr>
        <p:spPr>
          <a:xfrm>
            <a:off x="8845451" y="6982867"/>
            <a:ext cx="838200" cy="314325"/>
          </a:xfrm>
          <a:prstGeom prst="rect">
            <a:avLst/>
          </a:prstGeom>
          <a:noFill/>
          <a:ln/>
        </p:spPr>
        <p:txBody>
          <a:bodyPr wrap="square" lIns="25400" tIns="25400" rIns="25400" bIns="25400" rtlCol="0" anchor="t">
            <a:normAutofit/>
          </a:bodyPr>
          <a:lstStyle/>
          <a:p>
            <a:pPr algn="r" indent="0" marL="0">
              <a:buNone/>
            </a:pPr>
            <a:r>
              <a:rPr lang="en-US" sz="1875" dirty="0">
                <a:solidFill>
                  <a:srgbClr val="1A1917"/>
                </a:solidFill>
                <a:latin typeface="Arial" pitchFamily="34" charset="0"/>
                <a:ea typeface="Arial" pitchFamily="34" charset="-122"/>
                <a:cs typeface="Arial" pitchFamily="34" charset="-120"/>
              </a:rPr>
              <a:t>≈0.75</a:t>
            </a:r>
            <a:endParaRPr lang="en-US" sz="1875" dirty="0"/>
          </a:p>
        </p:txBody>
      </p:sp>
      <p:sp>
        <p:nvSpPr>
          <p:cNvPr id="36" name="Shape 34"/>
          <p:cNvSpPr/>
          <p:nvPr/>
        </p:nvSpPr>
        <p:spPr>
          <a:xfrm>
            <a:off x="10350401" y="2468017"/>
            <a:ext cx="6985099" cy="2819400"/>
          </a:xfrm>
          <a:prstGeom prst="rect">
            <a:avLst/>
          </a:prstGeom>
          <a:solidFill>
            <a:srgbClr val="22211D"/>
          </a:solidFill>
          <a:ln/>
        </p:spPr>
      </p:sp>
      <p:sp>
        <p:nvSpPr>
          <p:cNvPr id="37" name="Text 35"/>
          <p:cNvSpPr/>
          <p:nvPr/>
        </p:nvSpPr>
        <p:spPr>
          <a:xfrm>
            <a:off x="10693301" y="2791867"/>
            <a:ext cx="6488278" cy="628650"/>
          </a:xfrm>
          <a:prstGeom prst="rect">
            <a:avLst/>
          </a:prstGeom>
          <a:noFill/>
          <a:ln/>
        </p:spPr>
        <p:txBody>
          <a:bodyPr wrap="square" lIns="25400" tIns="25400" rIns="25400" bIns="25400" rtlCol="0" anchor="t">
            <a:normAutofit/>
          </a:bodyPr>
          <a:lstStyle/>
          <a:p>
            <a:pPr algn="l" indent="0" marL="0">
              <a:buNone/>
            </a:pPr>
            <a:r>
              <a:rPr lang="en-US" sz="1950" b="1" spc="273" kern="0" dirty="0">
                <a:solidFill>
                  <a:srgbClr val="6AC9CE"/>
                </a:solidFill>
                <a:latin typeface="Arial" pitchFamily="34" charset="0"/>
                <a:ea typeface="Arial" pitchFamily="34" charset="-122"/>
                <a:cs typeface="Arial" pitchFamily="34" charset="-120"/>
              </a:rPr>
              <a:t>BASELINE DETECTION BEFORE PERTURBATION</a:t>
            </a:r>
            <a:endParaRPr lang="en-US" sz="1950" dirty="0"/>
          </a:p>
        </p:txBody>
      </p:sp>
      <p:sp>
        <p:nvSpPr>
          <p:cNvPr id="38" name="Text 36"/>
          <p:cNvSpPr/>
          <p:nvPr/>
        </p:nvSpPr>
        <p:spPr>
          <a:xfrm>
            <a:off x="10693301" y="3534817"/>
            <a:ext cx="1683767"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5F3F0"/>
                </a:solidFill>
                <a:latin typeface="Georgia" pitchFamily="34" charset="0"/>
                <a:ea typeface="Georgia" pitchFamily="34" charset="-122"/>
                <a:cs typeface="Georgia" pitchFamily="34" charset="-120"/>
              </a:rPr>
              <a:t>E2 0.930</a:t>
            </a:r>
            <a:endParaRPr lang="en-US" sz="3300" dirty="0"/>
          </a:p>
        </p:txBody>
      </p:sp>
      <p:sp>
        <p:nvSpPr>
          <p:cNvPr id="39" name="Text 37"/>
          <p:cNvSpPr/>
          <p:nvPr/>
        </p:nvSpPr>
        <p:spPr>
          <a:xfrm>
            <a:off x="12604998" y="3534817"/>
            <a:ext cx="1683767"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5F3F0"/>
                </a:solidFill>
                <a:latin typeface="Georgia" pitchFamily="34" charset="0"/>
                <a:ea typeface="Georgia" pitchFamily="34" charset="-122"/>
                <a:cs typeface="Georgia" pitchFamily="34" charset="-120"/>
              </a:rPr>
              <a:t>E1 0.890</a:t>
            </a:r>
            <a:endParaRPr lang="en-US" sz="3300" dirty="0"/>
          </a:p>
        </p:txBody>
      </p:sp>
      <p:sp>
        <p:nvSpPr>
          <p:cNvPr id="40" name="Text 38"/>
          <p:cNvSpPr/>
          <p:nvPr/>
        </p:nvSpPr>
        <p:spPr>
          <a:xfrm>
            <a:off x="10693301" y="4325392"/>
            <a:ext cx="1683767" cy="676275"/>
          </a:xfrm>
          <a:prstGeom prst="rect">
            <a:avLst/>
          </a:prstGeom>
          <a:noFill/>
          <a:ln/>
        </p:spPr>
        <p:txBody>
          <a:bodyPr wrap="square" lIns="25400" tIns="25400" rIns="25400" bIns="25400" rtlCol="0" anchor="t">
            <a:normAutofit/>
          </a:bodyPr>
          <a:lstStyle/>
          <a:p>
            <a:pPr algn="l" indent="0" marL="0">
              <a:buNone/>
            </a:pPr>
            <a:r>
              <a:rPr lang="en-US" sz="3300" dirty="0">
                <a:solidFill>
                  <a:srgbClr val="CFCABF"/>
                </a:solidFill>
                <a:latin typeface="Georgia" pitchFamily="34" charset="0"/>
                <a:ea typeface="Georgia" pitchFamily="34" charset="-122"/>
                <a:cs typeface="Georgia" pitchFamily="34" charset="-120"/>
              </a:rPr>
              <a:t>E0 0.760</a:t>
            </a:r>
            <a:endParaRPr lang="en-US" sz="3300" dirty="0"/>
          </a:p>
        </p:txBody>
      </p:sp>
      <p:sp>
        <p:nvSpPr>
          <p:cNvPr id="41" name="Text 39"/>
          <p:cNvSpPr/>
          <p:nvPr/>
        </p:nvSpPr>
        <p:spPr>
          <a:xfrm>
            <a:off x="12604998" y="4325392"/>
            <a:ext cx="1740411" cy="676275"/>
          </a:xfrm>
          <a:prstGeom prst="rect">
            <a:avLst/>
          </a:prstGeom>
          <a:noFill/>
          <a:ln/>
        </p:spPr>
        <p:txBody>
          <a:bodyPr wrap="square" lIns="25400" tIns="25400" rIns="25400" bIns="25400" rtlCol="0" anchor="t">
            <a:normAutofit/>
          </a:bodyPr>
          <a:lstStyle/>
          <a:p>
            <a:pPr algn="l" indent="0" marL="0">
              <a:buNone/>
            </a:pPr>
            <a:r>
              <a:rPr lang="en-US" sz="3300" dirty="0">
                <a:solidFill>
                  <a:srgbClr val="CFCABF"/>
                </a:solidFill>
                <a:latin typeface="Georgia" pitchFamily="34" charset="0"/>
                <a:ea typeface="Georgia" pitchFamily="34" charset="-122"/>
                <a:cs typeface="Georgia" pitchFamily="34" charset="-120"/>
              </a:rPr>
              <a:t>D1 0.580</a:t>
            </a:r>
            <a:endParaRPr lang="en-US" sz="3300" dirty="0"/>
          </a:p>
        </p:txBody>
      </p:sp>
      <p:sp>
        <p:nvSpPr>
          <p:cNvPr id="42" name="Text 40"/>
          <p:cNvSpPr/>
          <p:nvPr/>
        </p:nvSpPr>
        <p:spPr>
          <a:xfrm>
            <a:off x="10350401" y="5592217"/>
            <a:ext cx="7194652" cy="1198066"/>
          </a:xfrm>
          <a:prstGeom prst="rect">
            <a:avLst/>
          </a:prstGeom>
          <a:noFill/>
          <a:ln/>
        </p:spPr>
        <p:txBody>
          <a:bodyPr wrap="square" lIns="25400" tIns="25400" rIns="25400" bIns="25400" rtlCol="0" anchor="t">
            <a:normAutofit/>
          </a:bodyPr>
          <a:lstStyle/>
          <a:p>
            <a:pPr algn="l" indent="0" marL="0">
              <a:lnSpc>
                <a:spcPct val="126875"/>
              </a:lnSpc>
              <a:buNone/>
            </a:pPr>
            <a:r>
              <a:rPr lang="en-US" sz="2100" dirty="0">
                <a:solidFill>
                  <a:srgbClr val="4A4741"/>
                </a:solidFill>
                <a:latin typeface="Arial" pitchFamily="34" charset="0"/>
                <a:ea typeface="Arial" pitchFamily="34" charset="-122"/>
                <a:cs typeface="Arial" pitchFamily="34" charset="-120"/>
              </a:rPr>
              <a:t>The SVM is trivially defeated by every character-level perturbation, exactly as its feature space predicts: change the surface token and the feature disappears.</a:t>
            </a:r>
            <a:endParaRPr lang="en-US" sz="2100" dirty="0"/>
          </a:p>
        </p:txBody>
      </p:sp>
      <p:sp>
        <p:nvSpPr>
          <p:cNvPr id="43" name="Text 41"/>
          <p:cNvSpPr/>
          <p:nvPr/>
        </p:nvSpPr>
        <p:spPr>
          <a:xfrm>
            <a:off x="10350401" y="7056983"/>
            <a:ext cx="7194652" cy="1971377"/>
          </a:xfrm>
          <a:prstGeom prst="rect">
            <a:avLst/>
          </a:prstGeom>
          <a:noFill/>
          <a:ln/>
        </p:spPr>
        <p:txBody>
          <a:bodyPr wrap="square" lIns="25400" tIns="25400" rIns="25400" bIns="25400" rtlCol="0" anchor="t">
            <a:normAutofit/>
          </a:bodyPr>
          <a:lstStyle/>
          <a:p>
            <a:pPr algn="l" indent="0" marL="0">
              <a:lnSpc>
                <a:spcPct val="126875"/>
              </a:lnSpc>
              <a:buNone/>
            </a:pPr>
            <a:r>
              <a:rPr lang="en-US" sz="2100" dirty="0">
                <a:solidFill>
                  <a:srgbClr val="4A4741"/>
                </a:solidFill>
                <a:latin typeface="Arial" pitchFamily="34" charset="0"/>
                <a:ea typeface="Arial" pitchFamily="34" charset="-122"/>
                <a:cs typeface="Arial" pitchFamily="34" charset="-120"/>
              </a:rPr>
              <a:t>E1 is the informative result — identical architecture, parameters and pretraining to toxic-bert, yet nearly as brittle as the bag of words. And the distilled student S1 is worse still (leetspeak 0.634 vs. its teacher's 0.280): distillation transferred the teacher's fairness but not its robustness — the KD loss only ever sees unperturbed text.</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F0"/>
        </a:solidFill>
      </p:bgPr>
    </p:bg>
    <p:spTree>
      <p:nvGrpSpPr>
        <p:cNvPr id="1" name=""/>
        <p:cNvGrpSpPr/>
        <p:nvPr/>
      </p:nvGrpSpPr>
      <p:grpSpPr>
        <a:xfrm>
          <a:off x="0" y="0"/>
          <a:ext cx="0" cy="0"/>
          <a:chOff x="0" y="0"/>
          <a:chExt cx="0" cy="0"/>
        </a:xfrm>
      </p:grpSpPr>
      <p:sp>
        <p:nvSpPr>
          <p:cNvPr id="2" name="Text 0"/>
          <p:cNvSpPr/>
          <p:nvPr/>
        </p:nvSpPr>
        <p:spPr>
          <a:xfrm>
            <a:off x="952500" y="857250"/>
            <a:ext cx="18021300" cy="304800"/>
          </a:xfrm>
          <a:prstGeom prst="rect">
            <a:avLst/>
          </a:prstGeom>
          <a:noFill/>
          <a:ln/>
        </p:spPr>
        <p:txBody>
          <a:bodyPr wrap="square" lIns="25400" tIns="25400" rIns="25400" bIns="25400" rtlCol="0" anchor="t">
            <a:normAutofit/>
          </a:bodyPr>
          <a:lstStyle/>
          <a:p>
            <a:pPr algn="l" indent="0" marL="0">
              <a:buNone/>
            </a:pPr>
            <a:r>
              <a:rPr lang="en-US" sz="1800" b="1" spc="288" kern="0" dirty="0">
                <a:solidFill>
                  <a:srgbClr val="8A857C"/>
                </a:solidFill>
                <a:latin typeface="Arial" pitchFamily="34" charset="0"/>
                <a:ea typeface="Arial" pitchFamily="34" charset="-122"/>
                <a:cs typeface="Arial" pitchFamily="34" charset="-120"/>
              </a:rPr>
              <a:t>RESULTS · MASKING INTERVENTION</a:t>
            </a:r>
            <a:endParaRPr lang="en-US" sz="1800" dirty="0"/>
          </a:p>
        </p:txBody>
      </p:sp>
      <p:sp>
        <p:nvSpPr>
          <p:cNvPr id="3" name="Text 1"/>
          <p:cNvSpPr/>
          <p:nvPr/>
        </p:nvSpPr>
        <p:spPr>
          <a:xfrm>
            <a:off x="952500" y="1333500"/>
            <a:ext cx="18021300" cy="696367"/>
          </a:xfrm>
          <a:prstGeom prst="rect">
            <a:avLst/>
          </a:prstGeom>
          <a:noFill/>
          <a:ln/>
        </p:spPr>
        <p:txBody>
          <a:bodyPr wrap="square" lIns="25400" tIns="25400" rIns="25400" bIns="25400" rtlCol="0" anchor="t">
            <a:normAutofit/>
          </a:bodyPr>
          <a:lstStyle/>
          <a:p>
            <a:pPr algn="l" indent="0" marL="0">
              <a:lnSpc>
                <a:spcPct val="94685"/>
              </a:lnSpc>
              <a:buNone/>
            </a:pPr>
            <a:r>
              <a:rPr lang="en-US" sz="4800" dirty="0">
                <a:solidFill>
                  <a:srgbClr val="1A1917"/>
                </a:solidFill>
                <a:latin typeface="Georgia" pitchFamily="34" charset="0"/>
                <a:ea typeface="Georgia" pitchFamily="34" charset="-122"/>
                <a:cs typeface="Georgia" pitchFamily="34" charset="-120"/>
              </a:rPr>
              <a:t>One bias, two mechanisms</a:t>
            </a:r>
            <a:endParaRPr lang="en-US" sz="4800" dirty="0"/>
          </a:p>
        </p:txBody>
      </p:sp>
      <p:sp>
        <p:nvSpPr>
          <p:cNvPr id="4" name="Shape 2"/>
          <p:cNvSpPr/>
          <p:nvPr/>
        </p:nvSpPr>
        <p:spPr>
          <a:xfrm>
            <a:off x="952500" y="2525167"/>
            <a:ext cx="5181600" cy="28575"/>
          </a:xfrm>
          <a:prstGeom prst="rect">
            <a:avLst/>
          </a:prstGeom>
          <a:solidFill>
            <a:srgbClr val="1A1917"/>
          </a:solidFill>
          <a:ln/>
        </p:spPr>
      </p:sp>
      <p:sp>
        <p:nvSpPr>
          <p:cNvPr id="5" name="Text 3"/>
          <p:cNvSpPr/>
          <p:nvPr/>
        </p:nvSpPr>
        <p:spPr>
          <a:xfrm>
            <a:off x="952500" y="2801392"/>
            <a:ext cx="5699760" cy="361950"/>
          </a:xfrm>
          <a:prstGeom prst="rect">
            <a:avLst/>
          </a:prstGeom>
          <a:noFill/>
          <a:ln/>
        </p:spPr>
        <p:txBody>
          <a:bodyPr wrap="square" lIns="25400" tIns="25400" rIns="25400" bIns="25400" rtlCol="0" anchor="t">
            <a:normAutofit/>
          </a:bodyPr>
          <a:lstStyle/>
          <a:p>
            <a:pPr algn="l" indent="0" marL="0">
              <a:buNone/>
            </a:pPr>
            <a:r>
              <a:rPr lang="en-US" sz="2250" b="1" dirty="0">
                <a:solidFill>
                  <a:srgbClr val="1A1917"/>
                </a:solidFill>
                <a:latin typeface="Arial" pitchFamily="34" charset="0"/>
                <a:ea typeface="Arial" pitchFamily="34" charset="-122"/>
                <a:cs typeface="Arial" pitchFamily="34" charset="-120"/>
              </a:rPr>
              <a:t>The shortcut collapses</a:t>
            </a:r>
            <a:endParaRPr lang="en-US" sz="2250" dirty="0"/>
          </a:p>
        </p:txBody>
      </p:sp>
      <p:sp>
        <p:nvSpPr>
          <p:cNvPr id="6" name="Text 4"/>
          <p:cNvSpPr/>
          <p:nvPr/>
        </p:nvSpPr>
        <p:spPr>
          <a:xfrm>
            <a:off x="952500" y="3315742"/>
            <a:ext cx="1190625" cy="790575"/>
          </a:xfrm>
          <a:prstGeom prst="rect">
            <a:avLst/>
          </a:prstGeom>
          <a:noFill/>
          <a:ln/>
        </p:spPr>
        <p:txBody>
          <a:bodyPr wrap="square" lIns="25400" tIns="25400" rIns="25400" bIns="25400" rtlCol="0" anchor="t">
            <a:normAutofit/>
          </a:bodyPr>
          <a:lstStyle/>
          <a:p>
            <a:pPr algn="l" indent="0" marL="0">
              <a:buNone/>
            </a:pPr>
            <a:r>
              <a:rPr lang="en-US" sz="3900" dirty="0">
                <a:solidFill>
                  <a:srgbClr val="1A1917"/>
                </a:solidFill>
                <a:latin typeface="Georgia" pitchFamily="34" charset="0"/>
                <a:ea typeface="Georgia" pitchFamily="34" charset="-122"/>
                <a:cs typeface="Georgia" pitchFamily="34" charset="-120"/>
              </a:rPr>
              <a:t>0.087</a:t>
            </a:r>
            <a:endParaRPr lang="en-US" sz="3900" dirty="0"/>
          </a:p>
        </p:txBody>
      </p:sp>
      <p:sp>
        <p:nvSpPr>
          <p:cNvPr id="7" name="Text 5"/>
          <p:cNvSpPr/>
          <p:nvPr/>
        </p:nvSpPr>
        <p:spPr>
          <a:xfrm>
            <a:off x="2219325" y="3496717"/>
            <a:ext cx="400050" cy="533400"/>
          </a:xfrm>
          <a:prstGeom prst="rect">
            <a:avLst/>
          </a:prstGeom>
          <a:noFill/>
          <a:ln/>
        </p:spPr>
        <p:txBody>
          <a:bodyPr wrap="square" lIns="25400" tIns="25400" rIns="25400" bIns="25400" rtlCol="0" anchor="t">
            <a:normAutofit/>
          </a:bodyPr>
          <a:lstStyle/>
          <a:p>
            <a:pPr algn="l" indent="0" marL="0">
              <a:buNone/>
            </a:pPr>
            <a:r>
              <a:rPr lang="en-US" sz="2550" dirty="0">
                <a:solidFill>
                  <a:srgbClr val="8A857C"/>
                </a:solidFill>
                <a:latin typeface="Georgia" pitchFamily="34" charset="0"/>
                <a:ea typeface="Georgia" pitchFamily="34" charset="-122"/>
                <a:cs typeface="Georgia" pitchFamily="34" charset="-120"/>
              </a:rPr>
              <a:t>→</a:t>
            </a:r>
            <a:endParaRPr lang="en-US" sz="2550" dirty="0"/>
          </a:p>
        </p:txBody>
      </p:sp>
      <p:sp>
        <p:nvSpPr>
          <p:cNvPr id="8" name="Text 6"/>
          <p:cNvSpPr/>
          <p:nvPr/>
        </p:nvSpPr>
        <p:spPr>
          <a:xfrm>
            <a:off x="2695575" y="3315742"/>
            <a:ext cx="323850" cy="790575"/>
          </a:xfrm>
          <a:prstGeom prst="rect">
            <a:avLst/>
          </a:prstGeom>
          <a:noFill/>
          <a:ln/>
        </p:spPr>
        <p:txBody>
          <a:bodyPr wrap="square" lIns="25400" tIns="25400" rIns="25400" bIns="25400" rtlCol="0" anchor="t">
            <a:normAutofit/>
          </a:bodyPr>
          <a:lstStyle/>
          <a:p>
            <a:pPr algn="l" indent="0" marL="0">
              <a:buNone/>
            </a:pPr>
            <a:r>
              <a:rPr lang="en-US" sz="3900" dirty="0">
                <a:solidFill>
                  <a:srgbClr val="007780"/>
                </a:solidFill>
                <a:latin typeface="Georgia" pitchFamily="34" charset="0"/>
                <a:ea typeface="Georgia" pitchFamily="34" charset="-122"/>
                <a:cs typeface="Georgia" pitchFamily="34" charset="-120"/>
              </a:rPr>
              <a:t>0</a:t>
            </a:r>
            <a:endParaRPr lang="en-US" sz="3900" dirty="0"/>
          </a:p>
        </p:txBody>
      </p:sp>
      <p:sp>
        <p:nvSpPr>
          <p:cNvPr id="9" name="Text 7"/>
          <p:cNvSpPr/>
          <p:nvPr/>
        </p:nvSpPr>
        <p:spPr>
          <a:xfrm>
            <a:off x="952500" y="4258717"/>
            <a:ext cx="569976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6B6862"/>
                </a:solidFill>
                <a:latin typeface="Courier New" pitchFamily="34" charset="0"/>
                <a:ea typeface="Courier New" pitchFamily="34" charset="-122"/>
                <a:cs typeface="Courier New" pitchFamily="34" charset="-120"/>
              </a:rPr>
              <a:t>toxic-bert · identity FPR</a:t>
            </a:r>
            <a:endParaRPr lang="en-US" sz="1800" dirty="0"/>
          </a:p>
        </p:txBody>
      </p:sp>
      <p:sp>
        <p:nvSpPr>
          <p:cNvPr id="10" name="Text 8"/>
          <p:cNvSpPr/>
          <p:nvPr/>
        </p:nvSpPr>
        <p:spPr>
          <a:xfrm>
            <a:off x="952500" y="4754017"/>
            <a:ext cx="5337048" cy="1156543"/>
          </a:xfrm>
          <a:prstGeom prst="rect">
            <a:avLst/>
          </a:prstGeom>
          <a:noFill/>
          <a:ln/>
        </p:spPr>
        <p:txBody>
          <a:bodyPr wrap="square" lIns="25400" tIns="25400" rIns="25400" bIns="25400" rtlCol="0" anchor="t">
            <a:normAutofit/>
          </a:bodyPr>
          <a:lstStyle/>
          <a:p>
            <a:pPr algn="l" indent="0" marL="0">
              <a:lnSpc>
                <a:spcPct val="126290"/>
              </a:lnSpc>
              <a:buNone/>
            </a:pPr>
            <a:r>
              <a:rPr lang="en-US" sz="2025" dirty="0">
                <a:solidFill>
                  <a:srgbClr val="4A4741"/>
                </a:solidFill>
                <a:latin typeface="Arial" pitchFamily="34" charset="0"/>
                <a:ea typeface="Arial" pitchFamily="34" charset="-122"/>
                <a:cs typeface="Arial" pitchFamily="34" charset="-120"/>
              </a:rPr>
              <a:t>The SVM behaves identically (0.049 → 0). 109M parameters of contextual encoding still route the decision through a single token.</a:t>
            </a:r>
            <a:endParaRPr lang="en-US" sz="2025" dirty="0"/>
          </a:p>
        </p:txBody>
      </p:sp>
      <p:sp>
        <p:nvSpPr>
          <p:cNvPr id="11" name="Shape 9"/>
          <p:cNvSpPr/>
          <p:nvPr/>
        </p:nvSpPr>
        <p:spPr>
          <a:xfrm>
            <a:off x="6553200" y="2525167"/>
            <a:ext cx="5181600" cy="28575"/>
          </a:xfrm>
          <a:prstGeom prst="rect">
            <a:avLst/>
          </a:prstGeom>
          <a:solidFill>
            <a:srgbClr val="1A1917"/>
          </a:solidFill>
          <a:ln/>
        </p:spPr>
      </p:sp>
      <p:sp>
        <p:nvSpPr>
          <p:cNvPr id="12" name="Text 10"/>
          <p:cNvSpPr/>
          <p:nvPr/>
        </p:nvSpPr>
        <p:spPr>
          <a:xfrm>
            <a:off x="6553200" y="2801392"/>
            <a:ext cx="5699760" cy="361950"/>
          </a:xfrm>
          <a:prstGeom prst="rect">
            <a:avLst/>
          </a:prstGeom>
          <a:noFill/>
          <a:ln/>
        </p:spPr>
        <p:txBody>
          <a:bodyPr wrap="square" lIns="25400" tIns="25400" rIns="25400" bIns="25400" rtlCol="0" anchor="t">
            <a:normAutofit/>
          </a:bodyPr>
          <a:lstStyle/>
          <a:p>
            <a:pPr algn="l" indent="0" marL="0">
              <a:buNone/>
            </a:pPr>
            <a:r>
              <a:rPr lang="en-US" sz="2250" b="1" dirty="0">
                <a:solidFill>
                  <a:srgbClr val="1A1917"/>
                </a:solidFill>
                <a:latin typeface="Arial" pitchFamily="34" charset="0"/>
                <a:ea typeface="Arial" pitchFamily="34" charset="-122"/>
                <a:cs typeface="Arial" pitchFamily="34" charset="-120"/>
              </a:rPr>
              <a:t>E1 breaks the pattern</a:t>
            </a:r>
            <a:endParaRPr lang="en-US" sz="2250" dirty="0"/>
          </a:p>
        </p:txBody>
      </p:sp>
      <p:sp>
        <p:nvSpPr>
          <p:cNvPr id="13" name="Text 11"/>
          <p:cNvSpPr/>
          <p:nvPr/>
        </p:nvSpPr>
        <p:spPr>
          <a:xfrm>
            <a:off x="6553200" y="3315742"/>
            <a:ext cx="1190625" cy="790575"/>
          </a:xfrm>
          <a:prstGeom prst="rect">
            <a:avLst/>
          </a:prstGeom>
          <a:noFill/>
          <a:ln/>
        </p:spPr>
        <p:txBody>
          <a:bodyPr wrap="square" lIns="25400" tIns="25400" rIns="25400" bIns="25400" rtlCol="0" anchor="t">
            <a:normAutofit/>
          </a:bodyPr>
          <a:lstStyle/>
          <a:p>
            <a:pPr algn="l" indent="0" marL="0">
              <a:buNone/>
            </a:pPr>
            <a:r>
              <a:rPr lang="en-US" sz="3900" dirty="0">
                <a:solidFill>
                  <a:srgbClr val="1A1917"/>
                </a:solidFill>
                <a:latin typeface="Georgia" pitchFamily="34" charset="0"/>
                <a:ea typeface="Georgia" pitchFamily="34" charset="-122"/>
                <a:cs typeface="Georgia" pitchFamily="34" charset="-120"/>
              </a:rPr>
              <a:t>0.103</a:t>
            </a:r>
            <a:endParaRPr lang="en-US" sz="3900" dirty="0"/>
          </a:p>
        </p:txBody>
      </p:sp>
      <p:sp>
        <p:nvSpPr>
          <p:cNvPr id="14" name="Text 12"/>
          <p:cNvSpPr/>
          <p:nvPr/>
        </p:nvSpPr>
        <p:spPr>
          <a:xfrm>
            <a:off x="7820025" y="3496717"/>
            <a:ext cx="400050" cy="533400"/>
          </a:xfrm>
          <a:prstGeom prst="rect">
            <a:avLst/>
          </a:prstGeom>
          <a:noFill/>
          <a:ln/>
        </p:spPr>
        <p:txBody>
          <a:bodyPr wrap="square" lIns="25400" tIns="25400" rIns="25400" bIns="25400" rtlCol="0" anchor="t">
            <a:normAutofit/>
          </a:bodyPr>
          <a:lstStyle/>
          <a:p>
            <a:pPr algn="l" indent="0" marL="0">
              <a:buNone/>
            </a:pPr>
            <a:r>
              <a:rPr lang="en-US" sz="2550" dirty="0">
                <a:solidFill>
                  <a:srgbClr val="8A857C"/>
                </a:solidFill>
                <a:latin typeface="Georgia" pitchFamily="34" charset="0"/>
                <a:ea typeface="Georgia" pitchFamily="34" charset="-122"/>
                <a:cs typeface="Georgia" pitchFamily="34" charset="-120"/>
              </a:rPr>
              <a:t>→</a:t>
            </a:r>
            <a:endParaRPr lang="en-US" sz="2550" dirty="0"/>
          </a:p>
        </p:txBody>
      </p:sp>
      <p:sp>
        <p:nvSpPr>
          <p:cNvPr id="15" name="Text 13"/>
          <p:cNvSpPr/>
          <p:nvPr/>
        </p:nvSpPr>
        <p:spPr>
          <a:xfrm>
            <a:off x="8296275" y="3315742"/>
            <a:ext cx="1190625" cy="790575"/>
          </a:xfrm>
          <a:prstGeom prst="rect">
            <a:avLst/>
          </a:prstGeom>
          <a:noFill/>
          <a:ln/>
        </p:spPr>
        <p:txBody>
          <a:bodyPr wrap="square" lIns="25400" tIns="25400" rIns="25400" bIns="25400" rtlCol="0" anchor="t">
            <a:normAutofit/>
          </a:bodyPr>
          <a:lstStyle/>
          <a:p>
            <a:pPr algn="l" indent="0" marL="0">
              <a:buNone/>
            </a:pPr>
            <a:r>
              <a:rPr lang="en-US" sz="3900" dirty="0">
                <a:solidFill>
                  <a:srgbClr val="A03E43"/>
                </a:solidFill>
                <a:latin typeface="Georgia" pitchFamily="34" charset="0"/>
                <a:ea typeface="Georgia" pitchFamily="34" charset="-122"/>
                <a:cs typeface="Georgia" pitchFamily="34" charset="-120"/>
              </a:rPr>
              <a:t>0.188</a:t>
            </a:r>
            <a:endParaRPr lang="en-US" sz="3900" dirty="0"/>
          </a:p>
        </p:txBody>
      </p:sp>
      <p:sp>
        <p:nvSpPr>
          <p:cNvPr id="16" name="Text 14"/>
          <p:cNvSpPr/>
          <p:nvPr/>
        </p:nvSpPr>
        <p:spPr>
          <a:xfrm>
            <a:off x="6553200" y="4258717"/>
            <a:ext cx="569976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6B6862"/>
                </a:solidFill>
                <a:latin typeface="Courier New" pitchFamily="34" charset="0"/>
                <a:ea typeface="Courier New" pitchFamily="34" charset="-122"/>
                <a:cs typeface="Courier New" pitchFamily="34" charset="-120"/>
              </a:rPr>
              <a:t>bert-base-classifier · identity FPR</a:t>
            </a:r>
            <a:endParaRPr lang="en-US" sz="1800" dirty="0"/>
          </a:p>
        </p:txBody>
      </p:sp>
      <p:sp>
        <p:nvSpPr>
          <p:cNvPr id="17" name="Text 15"/>
          <p:cNvSpPr/>
          <p:nvPr/>
        </p:nvSpPr>
        <p:spPr>
          <a:xfrm>
            <a:off x="6553200" y="4754017"/>
            <a:ext cx="5337048" cy="1529358"/>
          </a:xfrm>
          <a:prstGeom prst="rect">
            <a:avLst/>
          </a:prstGeom>
          <a:noFill/>
          <a:ln/>
        </p:spPr>
        <p:txBody>
          <a:bodyPr wrap="square" lIns="25400" tIns="25400" rIns="25400" bIns="25400" rtlCol="0" anchor="t">
            <a:normAutofit/>
          </a:bodyPr>
          <a:lstStyle/>
          <a:p>
            <a:pPr algn="l" indent="0" marL="0">
              <a:lnSpc>
                <a:spcPct val="126290"/>
              </a:lnSpc>
              <a:buNone/>
            </a:pPr>
            <a:r>
              <a:rPr lang="en-US" sz="2025" dirty="0">
                <a:solidFill>
                  <a:srgbClr val="4A4741"/>
                </a:solidFill>
                <a:latin typeface="Arial" pitchFamily="34" charset="0"/>
                <a:ea typeface="Arial" pitchFamily="34" charset="-122"/>
                <a:cs typeface="Arial" pitchFamily="34" charset="-120"/>
              </a:rPr>
              <a:t>Masking increases the rate. The likely mechanism is distribution shift: a literal [MASK] is essentially absent from E1's fine-tuning data.</a:t>
            </a:r>
            <a:endParaRPr lang="en-US" sz="2025" dirty="0"/>
          </a:p>
        </p:txBody>
      </p:sp>
      <p:sp>
        <p:nvSpPr>
          <p:cNvPr id="18" name="Shape 16"/>
          <p:cNvSpPr/>
          <p:nvPr/>
        </p:nvSpPr>
        <p:spPr>
          <a:xfrm>
            <a:off x="12153900" y="2525167"/>
            <a:ext cx="5181600" cy="28575"/>
          </a:xfrm>
          <a:prstGeom prst="rect">
            <a:avLst/>
          </a:prstGeom>
          <a:solidFill>
            <a:srgbClr val="1A1917"/>
          </a:solidFill>
          <a:ln/>
        </p:spPr>
      </p:sp>
      <p:sp>
        <p:nvSpPr>
          <p:cNvPr id="19" name="Text 17"/>
          <p:cNvSpPr/>
          <p:nvPr/>
        </p:nvSpPr>
        <p:spPr>
          <a:xfrm>
            <a:off x="12153900" y="2801392"/>
            <a:ext cx="5699760" cy="361950"/>
          </a:xfrm>
          <a:prstGeom prst="rect">
            <a:avLst/>
          </a:prstGeom>
          <a:noFill/>
          <a:ln/>
        </p:spPr>
        <p:txBody>
          <a:bodyPr wrap="square" lIns="25400" tIns="25400" rIns="25400" bIns="25400" rtlCol="0" anchor="t">
            <a:normAutofit/>
          </a:bodyPr>
          <a:lstStyle/>
          <a:p>
            <a:pPr algn="l" indent="0" marL="0">
              <a:buNone/>
            </a:pPr>
            <a:r>
              <a:rPr lang="en-US" sz="2250" b="1" dirty="0">
                <a:solidFill>
                  <a:srgbClr val="1A1917"/>
                </a:solidFill>
                <a:latin typeface="Arial" pitchFamily="34" charset="0"/>
                <a:ea typeface="Arial" pitchFamily="34" charset="-122"/>
                <a:cs typeface="Arial" pitchFamily="34" charset="-120"/>
              </a:rPr>
              <a:t>Training-time masking backfires</a:t>
            </a:r>
            <a:endParaRPr lang="en-US" sz="2250" dirty="0"/>
          </a:p>
        </p:txBody>
      </p:sp>
      <p:sp>
        <p:nvSpPr>
          <p:cNvPr id="20" name="Text 18"/>
          <p:cNvSpPr/>
          <p:nvPr/>
        </p:nvSpPr>
        <p:spPr>
          <a:xfrm>
            <a:off x="12153900" y="3315742"/>
            <a:ext cx="1190625" cy="790575"/>
          </a:xfrm>
          <a:prstGeom prst="rect">
            <a:avLst/>
          </a:prstGeom>
          <a:noFill/>
          <a:ln/>
        </p:spPr>
        <p:txBody>
          <a:bodyPr wrap="square" lIns="25400" tIns="25400" rIns="25400" bIns="25400" rtlCol="0" anchor="t">
            <a:normAutofit/>
          </a:bodyPr>
          <a:lstStyle/>
          <a:p>
            <a:pPr algn="l" indent="0" marL="0">
              <a:buNone/>
            </a:pPr>
            <a:r>
              <a:rPr lang="en-US" sz="3900" dirty="0">
                <a:solidFill>
                  <a:srgbClr val="1A1917"/>
                </a:solidFill>
                <a:latin typeface="Georgia" pitchFamily="34" charset="0"/>
                <a:ea typeface="Georgia" pitchFamily="34" charset="-122"/>
                <a:cs typeface="Georgia" pitchFamily="34" charset="-120"/>
              </a:rPr>
              <a:t>0.781</a:t>
            </a:r>
            <a:endParaRPr lang="en-US" sz="3900" dirty="0"/>
          </a:p>
        </p:txBody>
      </p:sp>
      <p:sp>
        <p:nvSpPr>
          <p:cNvPr id="21" name="Text 19"/>
          <p:cNvSpPr/>
          <p:nvPr/>
        </p:nvSpPr>
        <p:spPr>
          <a:xfrm>
            <a:off x="13420725" y="3496717"/>
            <a:ext cx="400050" cy="533400"/>
          </a:xfrm>
          <a:prstGeom prst="rect">
            <a:avLst/>
          </a:prstGeom>
          <a:noFill/>
          <a:ln/>
        </p:spPr>
        <p:txBody>
          <a:bodyPr wrap="square" lIns="25400" tIns="25400" rIns="25400" bIns="25400" rtlCol="0" anchor="t">
            <a:normAutofit/>
          </a:bodyPr>
          <a:lstStyle/>
          <a:p>
            <a:pPr algn="l" indent="0" marL="0">
              <a:buNone/>
            </a:pPr>
            <a:r>
              <a:rPr lang="en-US" sz="2550" dirty="0">
                <a:solidFill>
                  <a:srgbClr val="8A857C"/>
                </a:solidFill>
                <a:latin typeface="Georgia" pitchFamily="34" charset="0"/>
                <a:ea typeface="Georgia" pitchFamily="34" charset="-122"/>
                <a:cs typeface="Georgia" pitchFamily="34" charset="-120"/>
              </a:rPr>
              <a:t>→</a:t>
            </a:r>
            <a:endParaRPr lang="en-US" sz="2550" dirty="0"/>
          </a:p>
        </p:txBody>
      </p:sp>
      <p:sp>
        <p:nvSpPr>
          <p:cNvPr id="22" name="Text 20"/>
          <p:cNvSpPr/>
          <p:nvPr/>
        </p:nvSpPr>
        <p:spPr>
          <a:xfrm>
            <a:off x="13896975" y="3315742"/>
            <a:ext cx="1190625" cy="790575"/>
          </a:xfrm>
          <a:prstGeom prst="rect">
            <a:avLst/>
          </a:prstGeom>
          <a:noFill/>
          <a:ln/>
        </p:spPr>
        <p:txBody>
          <a:bodyPr wrap="square" lIns="25400" tIns="25400" rIns="25400" bIns="25400" rtlCol="0" anchor="t">
            <a:normAutofit/>
          </a:bodyPr>
          <a:lstStyle/>
          <a:p>
            <a:pPr algn="l" indent="0" marL="0">
              <a:buNone/>
            </a:pPr>
            <a:r>
              <a:rPr lang="en-US" sz="3900" dirty="0">
                <a:solidFill>
                  <a:srgbClr val="A03E43"/>
                </a:solidFill>
                <a:latin typeface="Georgia" pitchFamily="34" charset="0"/>
                <a:ea typeface="Georgia" pitchFamily="34" charset="-122"/>
                <a:cs typeface="Georgia" pitchFamily="34" charset="-120"/>
              </a:rPr>
              <a:t>0.676</a:t>
            </a:r>
            <a:endParaRPr lang="en-US" sz="3900" dirty="0"/>
          </a:p>
        </p:txBody>
      </p:sp>
      <p:sp>
        <p:nvSpPr>
          <p:cNvPr id="23" name="Text 21"/>
          <p:cNvSpPr/>
          <p:nvPr/>
        </p:nvSpPr>
        <p:spPr>
          <a:xfrm>
            <a:off x="12153900" y="4258717"/>
            <a:ext cx="569976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6B6862"/>
                </a:solidFill>
                <a:latin typeface="Courier New" pitchFamily="34" charset="0"/>
                <a:ea typeface="Courier New" pitchFamily="34" charset="-122"/>
                <a:cs typeface="Courier New" pitchFamily="34" charset="-120"/>
              </a:rPr>
              <a:t>tfidf-svm · identity_hate recall</a:t>
            </a:r>
            <a:endParaRPr lang="en-US" sz="1800" dirty="0"/>
          </a:p>
        </p:txBody>
      </p:sp>
      <p:sp>
        <p:nvSpPr>
          <p:cNvPr id="24" name="Text 22"/>
          <p:cNvSpPr/>
          <p:nvPr/>
        </p:nvSpPr>
        <p:spPr>
          <a:xfrm>
            <a:off x="12153900" y="4754017"/>
            <a:ext cx="5337048" cy="1156543"/>
          </a:xfrm>
          <a:prstGeom prst="rect">
            <a:avLst/>
          </a:prstGeom>
          <a:noFill/>
          <a:ln/>
        </p:spPr>
        <p:txBody>
          <a:bodyPr wrap="square" lIns="25400" tIns="25400" rIns="25400" bIns="25400" rtlCol="0" anchor="t">
            <a:normAutofit/>
          </a:bodyPr>
          <a:lstStyle/>
          <a:p>
            <a:pPr algn="l" indent="0" marL="0">
              <a:lnSpc>
                <a:spcPct val="126290"/>
              </a:lnSpc>
              <a:buNone/>
            </a:pPr>
            <a:r>
              <a:rPr lang="en-US" sz="2025" dirty="0">
                <a:solidFill>
                  <a:srgbClr val="4A4741"/>
                </a:solidFill>
                <a:latin typeface="Arial" pitchFamily="34" charset="0"/>
                <a:ea typeface="Arial" pitchFamily="34" charset="-122"/>
                <a:cs typeface="Arial" pitchFamily="34" charset="-120"/>
              </a:rPr>
              <a:t>Identity FPR does not fall (0.049 → 0.063) while recall on attacks against those identities drops sharply.</a:t>
            </a:r>
            <a:endParaRPr lang="en-US" sz="2025" dirty="0"/>
          </a:p>
        </p:txBody>
      </p:sp>
      <p:sp>
        <p:nvSpPr>
          <p:cNvPr id="25" name="Shape 23"/>
          <p:cNvSpPr/>
          <p:nvPr/>
        </p:nvSpPr>
        <p:spPr>
          <a:xfrm>
            <a:off x="952500" y="8244929"/>
            <a:ext cx="47625" cy="1280071"/>
          </a:xfrm>
          <a:prstGeom prst="rect">
            <a:avLst/>
          </a:prstGeom>
          <a:solidFill>
            <a:srgbClr val="00939A"/>
          </a:solidFill>
          <a:ln/>
        </p:spPr>
      </p:sp>
      <p:sp>
        <p:nvSpPr>
          <p:cNvPr id="26" name="Text 24"/>
          <p:cNvSpPr/>
          <p:nvPr/>
        </p:nvSpPr>
        <p:spPr>
          <a:xfrm>
            <a:off x="1285875" y="8244929"/>
            <a:ext cx="14726126" cy="1318171"/>
          </a:xfrm>
          <a:prstGeom prst="rect">
            <a:avLst/>
          </a:prstGeom>
          <a:noFill/>
          <a:ln/>
        </p:spPr>
        <p:txBody>
          <a:bodyPr wrap="square" lIns="25400" tIns="25400" rIns="25400" bIns="25400" rtlCol="0" anchor="t">
            <a:normAutofit/>
          </a:bodyPr>
          <a:lstStyle/>
          <a:p>
            <a:pPr algn="l" indent="0" marL="0">
              <a:lnSpc>
                <a:spcPct val="124444"/>
              </a:lnSpc>
              <a:buNone/>
            </a:pPr>
            <a:r>
              <a:rPr lang="en-US" sz="2400" dirty="0">
                <a:solidFill>
                  <a:srgbClr val="1A1917"/>
                </a:solidFill>
                <a:latin typeface="Georgia" pitchFamily="34" charset="0"/>
                <a:ea typeface="Georgia" pitchFamily="34" charset="-122"/>
                <a:cs typeface="Georgia" pitchFamily="34" charset="-120"/>
              </a:rPr>
              <a:t>Deleting the identity vocabulary removes the model's ability to recognise attacks on those identities without removing its tendency to over-flag them, so mitigation would have to act on the objective rather than on the vocabulary.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F0"/>
        </a:solidFill>
      </p:bgPr>
    </p:bg>
    <p:spTree>
      <p:nvGrpSpPr>
        <p:cNvPr id="1" name=""/>
        <p:cNvGrpSpPr/>
        <p:nvPr/>
      </p:nvGrpSpPr>
      <p:grpSpPr>
        <a:xfrm>
          <a:off x="0" y="0"/>
          <a:ext cx="0" cy="0"/>
          <a:chOff x="0" y="0"/>
          <a:chExt cx="0" cy="0"/>
        </a:xfrm>
      </p:grpSpPr>
      <p:sp>
        <p:nvSpPr>
          <p:cNvPr id="2" name="Text 0"/>
          <p:cNvSpPr/>
          <p:nvPr/>
        </p:nvSpPr>
        <p:spPr>
          <a:xfrm>
            <a:off x="952500" y="857250"/>
            <a:ext cx="18021300" cy="304800"/>
          </a:xfrm>
          <a:prstGeom prst="rect">
            <a:avLst/>
          </a:prstGeom>
          <a:noFill/>
          <a:ln/>
        </p:spPr>
        <p:txBody>
          <a:bodyPr wrap="square" lIns="25400" tIns="25400" rIns="25400" bIns="25400" rtlCol="0" anchor="t">
            <a:normAutofit/>
          </a:bodyPr>
          <a:lstStyle/>
          <a:p>
            <a:pPr algn="l" indent="0" marL="0">
              <a:buNone/>
            </a:pPr>
            <a:r>
              <a:rPr lang="en-US" sz="1800" b="1" spc="288" kern="0" dirty="0">
                <a:solidFill>
                  <a:srgbClr val="8A857C"/>
                </a:solidFill>
                <a:latin typeface="Arial" pitchFamily="34" charset="0"/>
                <a:ea typeface="Arial" pitchFamily="34" charset="-122"/>
                <a:cs typeface="Arial" pitchFamily="34" charset="-120"/>
              </a:rPr>
              <a:t>RESULTS · COLAB PASSES (n = 500 / 200) AND OUR EARLY-STOPPED RE-RUNS (n = 800)</a:t>
            </a:r>
            <a:endParaRPr lang="en-US" sz="1800" dirty="0"/>
          </a:p>
        </p:txBody>
      </p:sp>
      <p:sp>
        <p:nvSpPr>
          <p:cNvPr id="3" name="Text 1"/>
          <p:cNvSpPr/>
          <p:nvPr/>
        </p:nvSpPr>
        <p:spPr>
          <a:xfrm>
            <a:off x="952500" y="1333500"/>
            <a:ext cx="18021300" cy="696367"/>
          </a:xfrm>
          <a:prstGeom prst="rect">
            <a:avLst/>
          </a:prstGeom>
          <a:noFill/>
          <a:ln/>
        </p:spPr>
        <p:txBody>
          <a:bodyPr wrap="square" lIns="25400" tIns="25400" rIns="25400" bIns="25400" rtlCol="0" anchor="t">
            <a:normAutofit/>
          </a:bodyPr>
          <a:lstStyle/>
          <a:p>
            <a:pPr algn="l" indent="0" marL="0">
              <a:lnSpc>
                <a:spcPct val="94685"/>
              </a:lnSpc>
              <a:buNone/>
            </a:pPr>
            <a:r>
              <a:rPr lang="en-US" sz="4800" dirty="0">
                <a:solidFill>
                  <a:srgbClr val="1A1917"/>
                </a:solidFill>
                <a:latin typeface="Georgia" pitchFamily="34" charset="0"/>
                <a:ea typeface="Georgia" pitchFamily="34" charset="-122"/>
                <a:cs typeface="Georgia" pitchFamily="34" charset="-120"/>
              </a:rPr>
              <a:t>Distillation and decoder fine-tuning</a:t>
            </a:r>
            <a:endParaRPr lang="en-US" sz="4800" dirty="0"/>
          </a:p>
        </p:txBody>
      </p:sp>
      <p:sp>
        <p:nvSpPr>
          <p:cNvPr id="4" name="Shape 2"/>
          <p:cNvSpPr/>
          <p:nvPr/>
        </p:nvSpPr>
        <p:spPr>
          <a:xfrm>
            <a:off x="952500" y="2853779"/>
            <a:ext cx="7524750" cy="28575"/>
          </a:xfrm>
          <a:prstGeom prst="rect">
            <a:avLst/>
          </a:prstGeom>
          <a:solidFill>
            <a:srgbClr val="1A1917"/>
          </a:solidFill>
          <a:ln/>
        </p:spPr>
      </p:sp>
      <p:sp>
        <p:nvSpPr>
          <p:cNvPr id="5" name="Text 3"/>
          <p:cNvSpPr/>
          <p:nvPr/>
        </p:nvSpPr>
        <p:spPr>
          <a:xfrm>
            <a:off x="952500" y="2429917"/>
            <a:ext cx="7559992" cy="328613"/>
          </a:xfrm>
          <a:prstGeom prst="rect">
            <a:avLst/>
          </a:prstGeom>
          <a:noFill/>
          <a:ln/>
        </p:spPr>
        <p:txBody>
          <a:bodyPr wrap="square" lIns="25400" tIns="25400" rIns="25400" bIns="25400" rtlCol="0" anchor="ctr">
            <a:normAutofit/>
          </a:bodyPr>
          <a:lstStyle/>
          <a:p>
            <a:pPr algn="l" indent="0" marL="0">
              <a:buNone/>
            </a:pPr>
            <a:r>
              <a:rPr lang="en-US" sz="2100" b="1" dirty="0">
                <a:solidFill>
                  <a:srgbClr val="6B6862"/>
                </a:solidFill>
                <a:latin typeface="Arial" pitchFamily="34" charset="0"/>
                <a:ea typeface="Arial" pitchFamily="34" charset="-122"/>
                <a:cs typeface="Arial" pitchFamily="34" charset="-120"/>
              </a:rPr>
              <a:t>Model</a:t>
            </a:r>
            <a:endParaRPr lang="en-US" sz="2100" dirty="0"/>
          </a:p>
        </p:txBody>
      </p:sp>
      <p:sp>
        <p:nvSpPr>
          <p:cNvPr id="6" name="Shape 4"/>
          <p:cNvSpPr/>
          <p:nvPr/>
        </p:nvSpPr>
        <p:spPr>
          <a:xfrm>
            <a:off x="8477250" y="2853779"/>
            <a:ext cx="1905000" cy="28575"/>
          </a:xfrm>
          <a:prstGeom prst="rect">
            <a:avLst/>
          </a:prstGeom>
          <a:solidFill>
            <a:srgbClr val="1A1917"/>
          </a:solidFill>
          <a:ln/>
        </p:spPr>
      </p:sp>
      <p:sp>
        <p:nvSpPr>
          <p:cNvPr id="7" name="Text 5"/>
          <p:cNvSpPr/>
          <p:nvPr/>
        </p:nvSpPr>
        <p:spPr>
          <a:xfrm>
            <a:off x="8477250" y="2429917"/>
            <a:ext cx="1790700" cy="328613"/>
          </a:xfrm>
          <a:prstGeom prst="rect">
            <a:avLst/>
          </a:prstGeom>
          <a:noFill/>
          <a:ln/>
        </p:spPr>
        <p:txBody>
          <a:bodyPr wrap="square" lIns="25400" tIns="25400" rIns="25400" bIns="25400" rtlCol="0" anchor="ctr">
            <a:normAutofit/>
          </a:bodyPr>
          <a:lstStyle/>
          <a:p>
            <a:pPr algn="l" indent="0" marL="0">
              <a:buNone/>
            </a:pPr>
            <a:r>
              <a:rPr lang="en-US" sz="2100" b="1" dirty="0">
                <a:solidFill>
                  <a:srgbClr val="6B6862"/>
                </a:solidFill>
                <a:latin typeface="Arial" pitchFamily="34" charset="0"/>
                <a:ea typeface="Arial" pitchFamily="34" charset="-122"/>
                <a:cs typeface="Arial" pitchFamily="34" charset="-120"/>
              </a:rPr>
              <a:t>Params</a:t>
            </a:r>
            <a:endParaRPr lang="en-US" sz="2100" dirty="0"/>
          </a:p>
        </p:txBody>
      </p:sp>
      <p:sp>
        <p:nvSpPr>
          <p:cNvPr id="8" name="Shape 6"/>
          <p:cNvSpPr/>
          <p:nvPr/>
        </p:nvSpPr>
        <p:spPr>
          <a:xfrm>
            <a:off x="10382250" y="2853779"/>
            <a:ext cx="2381250" cy="28575"/>
          </a:xfrm>
          <a:prstGeom prst="rect">
            <a:avLst/>
          </a:prstGeom>
          <a:solidFill>
            <a:srgbClr val="1A1917"/>
          </a:solidFill>
          <a:ln/>
        </p:spPr>
      </p:sp>
      <p:sp>
        <p:nvSpPr>
          <p:cNvPr id="9" name="Text 7"/>
          <p:cNvSpPr/>
          <p:nvPr/>
        </p:nvSpPr>
        <p:spPr>
          <a:xfrm>
            <a:off x="10382250" y="2429917"/>
            <a:ext cx="2266950" cy="328613"/>
          </a:xfrm>
          <a:prstGeom prst="rect">
            <a:avLst/>
          </a:prstGeom>
          <a:noFill/>
          <a:ln/>
        </p:spPr>
        <p:txBody>
          <a:bodyPr wrap="square" lIns="25400" tIns="25400" rIns="25400" bIns="25400" rtlCol="0" anchor="ctr">
            <a:normAutofit/>
          </a:bodyPr>
          <a:lstStyle/>
          <a:p>
            <a:pPr algn="l" indent="0" marL="0">
              <a:buNone/>
            </a:pPr>
            <a:r>
              <a:rPr lang="en-US" sz="2100" b="1" dirty="0">
                <a:solidFill>
                  <a:srgbClr val="6B6862"/>
                </a:solidFill>
                <a:latin typeface="Arial" pitchFamily="34" charset="0"/>
                <a:ea typeface="Arial" pitchFamily="34" charset="-122"/>
                <a:cs typeface="Arial" pitchFamily="34" charset="-120"/>
              </a:rPr>
              <a:t>F1 (toxic)</a:t>
            </a:r>
            <a:endParaRPr lang="en-US" sz="2100" dirty="0"/>
          </a:p>
        </p:txBody>
      </p:sp>
      <p:sp>
        <p:nvSpPr>
          <p:cNvPr id="10" name="Shape 8"/>
          <p:cNvSpPr/>
          <p:nvPr/>
        </p:nvSpPr>
        <p:spPr>
          <a:xfrm>
            <a:off x="12763500" y="2853779"/>
            <a:ext cx="2667000" cy="28575"/>
          </a:xfrm>
          <a:prstGeom prst="rect">
            <a:avLst/>
          </a:prstGeom>
          <a:solidFill>
            <a:srgbClr val="1A1917"/>
          </a:solidFill>
          <a:ln/>
        </p:spPr>
      </p:sp>
      <p:sp>
        <p:nvSpPr>
          <p:cNvPr id="11" name="Text 9"/>
          <p:cNvSpPr/>
          <p:nvPr/>
        </p:nvSpPr>
        <p:spPr>
          <a:xfrm>
            <a:off x="12763500" y="2429917"/>
            <a:ext cx="2556510" cy="328613"/>
          </a:xfrm>
          <a:prstGeom prst="rect">
            <a:avLst/>
          </a:prstGeom>
          <a:noFill/>
          <a:ln/>
        </p:spPr>
        <p:txBody>
          <a:bodyPr wrap="square" lIns="25400" tIns="25400" rIns="25400" bIns="25400" rtlCol="0" anchor="ctr">
            <a:normAutofit/>
          </a:bodyPr>
          <a:lstStyle/>
          <a:p>
            <a:pPr algn="l" indent="0" marL="0">
              <a:buNone/>
            </a:pPr>
            <a:r>
              <a:rPr lang="en-US" sz="2100" b="1" dirty="0">
                <a:solidFill>
                  <a:srgbClr val="6B6862"/>
                </a:solidFill>
                <a:latin typeface="Arial" pitchFamily="34" charset="0"/>
                <a:ea typeface="Arial" pitchFamily="34" charset="-122"/>
                <a:cs typeface="Arial" pitchFamily="34" charset="-120"/>
              </a:rPr>
              <a:t>Identity FPR</a:t>
            </a:r>
            <a:endParaRPr lang="en-US" sz="2100" dirty="0"/>
          </a:p>
        </p:txBody>
      </p:sp>
      <p:sp>
        <p:nvSpPr>
          <p:cNvPr id="12" name="Shape 10"/>
          <p:cNvSpPr/>
          <p:nvPr/>
        </p:nvSpPr>
        <p:spPr>
          <a:xfrm>
            <a:off x="15430500" y="2853779"/>
            <a:ext cx="1905000" cy="28575"/>
          </a:xfrm>
          <a:prstGeom prst="rect">
            <a:avLst/>
          </a:prstGeom>
          <a:solidFill>
            <a:srgbClr val="1A1917"/>
          </a:solidFill>
          <a:ln/>
        </p:spPr>
      </p:sp>
      <p:sp>
        <p:nvSpPr>
          <p:cNvPr id="13" name="Text 11"/>
          <p:cNvSpPr/>
          <p:nvPr/>
        </p:nvSpPr>
        <p:spPr>
          <a:xfrm>
            <a:off x="15430500" y="2429917"/>
            <a:ext cx="1981200" cy="328613"/>
          </a:xfrm>
          <a:prstGeom prst="rect">
            <a:avLst/>
          </a:prstGeom>
          <a:noFill/>
          <a:ln/>
        </p:spPr>
        <p:txBody>
          <a:bodyPr wrap="square" lIns="25400" tIns="25400" rIns="25400" bIns="25400" rtlCol="0" anchor="ctr">
            <a:normAutofit/>
          </a:bodyPr>
          <a:lstStyle/>
          <a:p>
            <a:pPr algn="l" indent="0" marL="0">
              <a:buNone/>
            </a:pPr>
            <a:r>
              <a:rPr lang="en-US" sz="2100" b="1" dirty="0">
                <a:solidFill>
                  <a:srgbClr val="6B6862"/>
                </a:solidFill>
                <a:latin typeface="Arial" pitchFamily="34" charset="0"/>
                <a:ea typeface="Arial" pitchFamily="34" charset="-122"/>
                <a:cs typeface="Arial" pitchFamily="34" charset="-120"/>
              </a:rPr>
              <a:t>ms/comment</a:t>
            </a:r>
            <a:endParaRPr lang="en-US" sz="2100" dirty="0"/>
          </a:p>
        </p:txBody>
      </p:sp>
      <p:sp>
        <p:nvSpPr>
          <p:cNvPr id="14" name="Shape 12"/>
          <p:cNvSpPr/>
          <p:nvPr/>
        </p:nvSpPr>
        <p:spPr>
          <a:xfrm>
            <a:off x="952500" y="3606254"/>
            <a:ext cx="7524750" cy="9525"/>
          </a:xfrm>
          <a:prstGeom prst="rect">
            <a:avLst/>
          </a:prstGeom>
          <a:solidFill>
            <a:srgbClr val="D8D4CD"/>
          </a:solidFill>
          <a:ln/>
        </p:spPr>
      </p:sp>
      <p:sp>
        <p:nvSpPr>
          <p:cNvPr id="15" name="Text 13"/>
          <p:cNvSpPr/>
          <p:nvPr/>
        </p:nvSpPr>
        <p:spPr>
          <a:xfrm>
            <a:off x="952500" y="3063329"/>
            <a:ext cx="7559992" cy="400050"/>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Courier New" pitchFamily="34" charset="0"/>
                <a:ea typeface="Courier New" pitchFamily="34" charset="-122"/>
                <a:cs typeface="Courier New" pitchFamily="34" charset="-120"/>
              </a:rPr>
              <a:t>toxic-bert (teacher)</a:t>
            </a:r>
            <a:endParaRPr lang="en-US" sz="2100" dirty="0"/>
          </a:p>
        </p:txBody>
      </p:sp>
      <p:sp>
        <p:nvSpPr>
          <p:cNvPr id="16" name="Shape 14"/>
          <p:cNvSpPr/>
          <p:nvPr/>
        </p:nvSpPr>
        <p:spPr>
          <a:xfrm>
            <a:off x="8477250" y="3606254"/>
            <a:ext cx="1905000" cy="9525"/>
          </a:xfrm>
          <a:prstGeom prst="rect">
            <a:avLst/>
          </a:prstGeom>
          <a:solidFill>
            <a:srgbClr val="D8D4CD"/>
          </a:solidFill>
          <a:ln/>
        </p:spPr>
      </p:sp>
      <p:sp>
        <p:nvSpPr>
          <p:cNvPr id="17" name="Text 15"/>
          <p:cNvSpPr/>
          <p:nvPr/>
        </p:nvSpPr>
        <p:spPr>
          <a:xfrm>
            <a:off x="8477250" y="3063329"/>
            <a:ext cx="1790700" cy="400050"/>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109M</a:t>
            </a:r>
            <a:endParaRPr lang="en-US" sz="2100" dirty="0"/>
          </a:p>
        </p:txBody>
      </p:sp>
      <p:sp>
        <p:nvSpPr>
          <p:cNvPr id="18" name="Shape 16"/>
          <p:cNvSpPr/>
          <p:nvPr/>
        </p:nvSpPr>
        <p:spPr>
          <a:xfrm>
            <a:off x="10382250" y="3606254"/>
            <a:ext cx="2381250" cy="9525"/>
          </a:xfrm>
          <a:prstGeom prst="rect">
            <a:avLst/>
          </a:prstGeom>
          <a:solidFill>
            <a:srgbClr val="D8D4CD"/>
          </a:solidFill>
          <a:ln/>
        </p:spPr>
      </p:sp>
      <p:sp>
        <p:nvSpPr>
          <p:cNvPr id="19" name="Text 17"/>
          <p:cNvSpPr/>
          <p:nvPr/>
        </p:nvSpPr>
        <p:spPr>
          <a:xfrm>
            <a:off x="10382250" y="3063329"/>
            <a:ext cx="2266950" cy="400050"/>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0.770</a:t>
            </a:r>
            <a:endParaRPr lang="en-US" sz="2100" dirty="0"/>
          </a:p>
        </p:txBody>
      </p:sp>
      <p:sp>
        <p:nvSpPr>
          <p:cNvPr id="20" name="Shape 18"/>
          <p:cNvSpPr/>
          <p:nvPr/>
        </p:nvSpPr>
        <p:spPr>
          <a:xfrm>
            <a:off x="12763500" y="3606254"/>
            <a:ext cx="2667000" cy="9525"/>
          </a:xfrm>
          <a:prstGeom prst="rect">
            <a:avLst/>
          </a:prstGeom>
          <a:solidFill>
            <a:srgbClr val="D8D4CD"/>
          </a:solidFill>
          <a:ln/>
        </p:spPr>
      </p:sp>
      <p:sp>
        <p:nvSpPr>
          <p:cNvPr id="21" name="Text 19"/>
          <p:cNvSpPr/>
          <p:nvPr/>
        </p:nvSpPr>
        <p:spPr>
          <a:xfrm>
            <a:off x="12763500" y="3063329"/>
            <a:ext cx="2556510" cy="400050"/>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0.152</a:t>
            </a:r>
            <a:endParaRPr lang="en-US" sz="2100" dirty="0"/>
          </a:p>
        </p:txBody>
      </p:sp>
      <p:sp>
        <p:nvSpPr>
          <p:cNvPr id="22" name="Shape 20"/>
          <p:cNvSpPr/>
          <p:nvPr/>
        </p:nvSpPr>
        <p:spPr>
          <a:xfrm>
            <a:off x="15430500" y="3606254"/>
            <a:ext cx="1905000" cy="9525"/>
          </a:xfrm>
          <a:prstGeom prst="rect">
            <a:avLst/>
          </a:prstGeom>
          <a:solidFill>
            <a:srgbClr val="D8D4CD"/>
          </a:solidFill>
          <a:ln/>
        </p:spPr>
      </p:sp>
      <p:sp>
        <p:nvSpPr>
          <p:cNvPr id="23" name="Text 21"/>
          <p:cNvSpPr/>
          <p:nvPr/>
        </p:nvSpPr>
        <p:spPr>
          <a:xfrm>
            <a:off x="15430500" y="3063329"/>
            <a:ext cx="1981200" cy="400050"/>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274</a:t>
            </a:r>
            <a:endParaRPr lang="en-US" sz="2100" dirty="0"/>
          </a:p>
        </p:txBody>
      </p:sp>
      <p:sp>
        <p:nvSpPr>
          <p:cNvPr id="24" name="Shape 22"/>
          <p:cNvSpPr/>
          <p:nvPr/>
        </p:nvSpPr>
        <p:spPr>
          <a:xfrm>
            <a:off x="952500" y="4330154"/>
            <a:ext cx="7524750" cy="9525"/>
          </a:xfrm>
          <a:prstGeom prst="rect">
            <a:avLst/>
          </a:prstGeom>
          <a:solidFill>
            <a:srgbClr val="D8D4CD"/>
          </a:solidFill>
          <a:ln/>
        </p:spPr>
      </p:sp>
      <p:sp>
        <p:nvSpPr>
          <p:cNvPr id="25" name="Text 23"/>
          <p:cNvSpPr/>
          <p:nvPr/>
        </p:nvSpPr>
        <p:spPr>
          <a:xfrm>
            <a:off x="952500" y="3796754"/>
            <a:ext cx="7559992"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Courier New" pitchFamily="34" charset="0"/>
                <a:ea typeface="Courier New" pitchFamily="34" charset="-122"/>
                <a:cs typeface="Courier New" pitchFamily="34" charset="-120"/>
              </a:rPr>
              <a:t>distilbert-student (S1)</a:t>
            </a:r>
            <a:endParaRPr lang="en-US" sz="2100" dirty="0"/>
          </a:p>
        </p:txBody>
      </p:sp>
      <p:sp>
        <p:nvSpPr>
          <p:cNvPr id="26" name="Shape 24"/>
          <p:cNvSpPr/>
          <p:nvPr/>
        </p:nvSpPr>
        <p:spPr>
          <a:xfrm>
            <a:off x="8477250" y="4330154"/>
            <a:ext cx="1905000" cy="9525"/>
          </a:xfrm>
          <a:prstGeom prst="rect">
            <a:avLst/>
          </a:prstGeom>
          <a:solidFill>
            <a:srgbClr val="D8D4CD"/>
          </a:solidFill>
          <a:ln/>
        </p:spPr>
      </p:sp>
      <p:sp>
        <p:nvSpPr>
          <p:cNvPr id="27" name="Text 25"/>
          <p:cNvSpPr/>
          <p:nvPr/>
        </p:nvSpPr>
        <p:spPr>
          <a:xfrm>
            <a:off x="8477250" y="3796754"/>
            <a:ext cx="1790700"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67M</a:t>
            </a:r>
            <a:endParaRPr lang="en-US" sz="2100" dirty="0"/>
          </a:p>
        </p:txBody>
      </p:sp>
      <p:sp>
        <p:nvSpPr>
          <p:cNvPr id="28" name="Shape 26"/>
          <p:cNvSpPr/>
          <p:nvPr/>
        </p:nvSpPr>
        <p:spPr>
          <a:xfrm>
            <a:off x="10382250" y="4330154"/>
            <a:ext cx="2381250" cy="9525"/>
          </a:xfrm>
          <a:prstGeom prst="rect">
            <a:avLst/>
          </a:prstGeom>
          <a:solidFill>
            <a:srgbClr val="D8D4CD"/>
          </a:solidFill>
          <a:ln/>
        </p:spPr>
      </p:sp>
      <p:sp>
        <p:nvSpPr>
          <p:cNvPr id="29" name="Text 27"/>
          <p:cNvSpPr/>
          <p:nvPr/>
        </p:nvSpPr>
        <p:spPr>
          <a:xfrm>
            <a:off x="10382250" y="3796754"/>
            <a:ext cx="2266950" cy="390525"/>
          </a:xfrm>
          <a:prstGeom prst="rect">
            <a:avLst/>
          </a:prstGeom>
          <a:noFill/>
          <a:ln/>
        </p:spPr>
        <p:txBody>
          <a:bodyPr wrap="square" lIns="25400" tIns="25400" rIns="25400" bIns="25400" rtlCol="0" anchor="ctr">
            <a:normAutofit/>
          </a:bodyPr>
          <a:lstStyle/>
          <a:p>
            <a:pPr algn="l" indent="0" marL="0">
              <a:buNone/>
            </a:pPr>
            <a:r>
              <a:rPr lang="en-US" sz="2100" b="1" dirty="0">
                <a:solidFill>
                  <a:srgbClr val="1A1917"/>
                </a:solidFill>
                <a:latin typeface="Arial" pitchFamily="34" charset="0"/>
                <a:ea typeface="Arial" pitchFamily="34" charset="-122"/>
                <a:cs typeface="Arial" pitchFamily="34" charset="-120"/>
              </a:rPr>
              <a:t>0.772</a:t>
            </a:r>
            <a:endParaRPr lang="en-US" sz="2100" dirty="0"/>
          </a:p>
        </p:txBody>
      </p:sp>
      <p:sp>
        <p:nvSpPr>
          <p:cNvPr id="30" name="Shape 28"/>
          <p:cNvSpPr/>
          <p:nvPr/>
        </p:nvSpPr>
        <p:spPr>
          <a:xfrm>
            <a:off x="12763500" y="4330154"/>
            <a:ext cx="2667000" cy="9525"/>
          </a:xfrm>
          <a:prstGeom prst="rect">
            <a:avLst/>
          </a:prstGeom>
          <a:solidFill>
            <a:srgbClr val="D8D4CD"/>
          </a:solidFill>
          <a:ln/>
        </p:spPr>
      </p:sp>
      <p:sp>
        <p:nvSpPr>
          <p:cNvPr id="31" name="Text 29"/>
          <p:cNvSpPr/>
          <p:nvPr/>
        </p:nvSpPr>
        <p:spPr>
          <a:xfrm>
            <a:off x="12763500" y="3796754"/>
            <a:ext cx="2556510" cy="390525"/>
          </a:xfrm>
          <a:prstGeom prst="rect">
            <a:avLst/>
          </a:prstGeom>
          <a:noFill/>
          <a:ln/>
        </p:spPr>
        <p:txBody>
          <a:bodyPr wrap="square" lIns="25400" tIns="25400" rIns="25400" bIns="25400" rtlCol="0" anchor="ctr">
            <a:normAutofit/>
          </a:bodyPr>
          <a:lstStyle/>
          <a:p>
            <a:pPr algn="l" indent="0" marL="0">
              <a:buNone/>
            </a:pPr>
            <a:r>
              <a:rPr lang="en-US" sz="2100" b="1" dirty="0">
                <a:solidFill>
                  <a:srgbClr val="006871"/>
                </a:solidFill>
                <a:latin typeface="Arial" pitchFamily="34" charset="0"/>
                <a:ea typeface="Arial" pitchFamily="34" charset="-122"/>
                <a:cs typeface="Arial" pitchFamily="34" charset="-120"/>
              </a:rPr>
              <a:t>0.062</a:t>
            </a:r>
            <a:endParaRPr lang="en-US" sz="2100" dirty="0"/>
          </a:p>
        </p:txBody>
      </p:sp>
      <p:sp>
        <p:nvSpPr>
          <p:cNvPr id="32" name="Shape 30"/>
          <p:cNvSpPr/>
          <p:nvPr/>
        </p:nvSpPr>
        <p:spPr>
          <a:xfrm>
            <a:off x="15430500" y="4330154"/>
            <a:ext cx="1905000" cy="9525"/>
          </a:xfrm>
          <a:prstGeom prst="rect">
            <a:avLst/>
          </a:prstGeom>
          <a:solidFill>
            <a:srgbClr val="D8D4CD"/>
          </a:solidFill>
          <a:ln/>
        </p:spPr>
      </p:sp>
      <p:sp>
        <p:nvSpPr>
          <p:cNvPr id="33" name="Text 31"/>
          <p:cNvSpPr/>
          <p:nvPr/>
        </p:nvSpPr>
        <p:spPr>
          <a:xfrm>
            <a:off x="15430500" y="3796754"/>
            <a:ext cx="1981200"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159</a:t>
            </a:r>
            <a:endParaRPr lang="en-US" sz="2100" dirty="0"/>
          </a:p>
        </p:txBody>
      </p:sp>
      <p:sp>
        <p:nvSpPr>
          <p:cNvPr id="34" name="Shape 32"/>
          <p:cNvSpPr/>
          <p:nvPr/>
        </p:nvSpPr>
        <p:spPr>
          <a:xfrm>
            <a:off x="952500" y="5054054"/>
            <a:ext cx="7524750" cy="9525"/>
          </a:xfrm>
          <a:prstGeom prst="rect">
            <a:avLst/>
          </a:prstGeom>
          <a:solidFill>
            <a:srgbClr val="D8D4CD"/>
          </a:solidFill>
          <a:ln/>
        </p:spPr>
      </p:sp>
      <p:sp>
        <p:nvSpPr>
          <p:cNvPr id="35" name="Text 33"/>
          <p:cNvSpPr/>
          <p:nvPr/>
        </p:nvSpPr>
        <p:spPr>
          <a:xfrm>
            <a:off x="952500" y="4520654"/>
            <a:ext cx="7559992"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Courier New" pitchFamily="34" charset="0"/>
                <a:ea typeface="Courier New" pitchFamily="34" charset="-122"/>
                <a:cs typeface="Courier New" pitchFamily="34" charset="-120"/>
              </a:rPr>
              <a:t>distilgpt2-d1 (0-shot)</a:t>
            </a:r>
            <a:endParaRPr lang="en-US" sz="2100" dirty="0"/>
          </a:p>
        </p:txBody>
      </p:sp>
      <p:sp>
        <p:nvSpPr>
          <p:cNvPr id="36" name="Shape 34"/>
          <p:cNvSpPr/>
          <p:nvPr/>
        </p:nvSpPr>
        <p:spPr>
          <a:xfrm>
            <a:off x="8477250" y="5054054"/>
            <a:ext cx="1905000" cy="9525"/>
          </a:xfrm>
          <a:prstGeom prst="rect">
            <a:avLst/>
          </a:prstGeom>
          <a:solidFill>
            <a:srgbClr val="D8D4CD"/>
          </a:solidFill>
          <a:ln/>
        </p:spPr>
      </p:sp>
      <p:sp>
        <p:nvSpPr>
          <p:cNvPr id="37" name="Text 35"/>
          <p:cNvSpPr/>
          <p:nvPr/>
        </p:nvSpPr>
        <p:spPr>
          <a:xfrm>
            <a:off x="8477250" y="4520654"/>
            <a:ext cx="1790700"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82M</a:t>
            </a:r>
            <a:endParaRPr lang="en-US" sz="2100" dirty="0"/>
          </a:p>
        </p:txBody>
      </p:sp>
      <p:sp>
        <p:nvSpPr>
          <p:cNvPr id="38" name="Shape 36"/>
          <p:cNvSpPr/>
          <p:nvPr/>
        </p:nvSpPr>
        <p:spPr>
          <a:xfrm>
            <a:off x="10382250" y="5054054"/>
            <a:ext cx="2381250" cy="9525"/>
          </a:xfrm>
          <a:prstGeom prst="rect">
            <a:avLst/>
          </a:prstGeom>
          <a:solidFill>
            <a:srgbClr val="D8D4CD"/>
          </a:solidFill>
          <a:ln/>
        </p:spPr>
      </p:sp>
      <p:sp>
        <p:nvSpPr>
          <p:cNvPr id="39" name="Text 37"/>
          <p:cNvSpPr/>
          <p:nvPr/>
        </p:nvSpPr>
        <p:spPr>
          <a:xfrm>
            <a:off x="10382250" y="4520654"/>
            <a:ext cx="2266950"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0.189</a:t>
            </a:r>
            <a:endParaRPr lang="en-US" sz="2100" dirty="0"/>
          </a:p>
        </p:txBody>
      </p:sp>
      <p:sp>
        <p:nvSpPr>
          <p:cNvPr id="40" name="Shape 38"/>
          <p:cNvSpPr/>
          <p:nvPr/>
        </p:nvSpPr>
        <p:spPr>
          <a:xfrm>
            <a:off x="12763500" y="5054054"/>
            <a:ext cx="2667000" cy="9525"/>
          </a:xfrm>
          <a:prstGeom prst="rect">
            <a:avLst/>
          </a:prstGeom>
          <a:solidFill>
            <a:srgbClr val="D8D4CD"/>
          </a:solidFill>
          <a:ln/>
        </p:spPr>
      </p:sp>
      <p:sp>
        <p:nvSpPr>
          <p:cNvPr id="41" name="Text 39"/>
          <p:cNvSpPr/>
          <p:nvPr/>
        </p:nvSpPr>
        <p:spPr>
          <a:xfrm>
            <a:off x="12763500" y="4520654"/>
            <a:ext cx="2556510"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0.867</a:t>
            </a:r>
            <a:endParaRPr lang="en-US" sz="2100" dirty="0"/>
          </a:p>
        </p:txBody>
      </p:sp>
      <p:sp>
        <p:nvSpPr>
          <p:cNvPr id="42" name="Shape 40"/>
          <p:cNvSpPr/>
          <p:nvPr/>
        </p:nvSpPr>
        <p:spPr>
          <a:xfrm>
            <a:off x="15430500" y="5054054"/>
            <a:ext cx="1905000" cy="9525"/>
          </a:xfrm>
          <a:prstGeom prst="rect">
            <a:avLst/>
          </a:prstGeom>
          <a:solidFill>
            <a:srgbClr val="D8D4CD"/>
          </a:solidFill>
          <a:ln/>
        </p:spPr>
      </p:sp>
      <p:sp>
        <p:nvSpPr>
          <p:cNvPr id="43" name="Text 41"/>
          <p:cNvSpPr/>
          <p:nvPr/>
        </p:nvSpPr>
        <p:spPr>
          <a:xfrm>
            <a:off x="15430500" y="4520654"/>
            <a:ext cx="1981200"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8A857C"/>
                </a:solidFill>
                <a:latin typeface="Arial" pitchFamily="34" charset="0"/>
                <a:ea typeface="Arial" pitchFamily="34" charset="-122"/>
                <a:cs typeface="Arial" pitchFamily="34" charset="-120"/>
              </a:rPr>
              <a:t>—</a:t>
            </a:r>
            <a:endParaRPr lang="en-US" sz="2100" dirty="0"/>
          </a:p>
        </p:txBody>
      </p:sp>
      <p:sp>
        <p:nvSpPr>
          <p:cNvPr id="44" name="Shape 42"/>
          <p:cNvSpPr/>
          <p:nvPr/>
        </p:nvSpPr>
        <p:spPr>
          <a:xfrm>
            <a:off x="952500" y="5777954"/>
            <a:ext cx="7524750" cy="9525"/>
          </a:xfrm>
          <a:prstGeom prst="rect">
            <a:avLst/>
          </a:prstGeom>
          <a:solidFill>
            <a:srgbClr val="D8D4CD"/>
          </a:solidFill>
          <a:ln/>
        </p:spPr>
      </p:sp>
      <p:sp>
        <p:nvSpPr>
          <p:cNvPr id="45" name="Text 43"/>
          <p:cNvSpPr/>
          <p:nvPr/>
        </p:nvSpPr>
        <p:spPr>
          <a:xfrm>
            <a:off x="952500" y="5244554"/>
            <a:ext cx="7559992"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Courier New" pitchFamily="34" charset="0"/>
                <a:ea typeface="Courier New" pitchFamily="34" charset="-122"/>
                <a:cs typeface="Courier New" pitchFamily="34" charset="-120"/>
              </a:rPr>
              <a:t>distilgpt2-d1-ft</a:t>
            </a:r>
            <a:endParaRPr lang="en-US" sz="2100" dirty="0"/>
          </a:p>
        </p:txBody>
      </p:sp>
      <p:sp>
        <p:nvSpPr>
          <p:cNvPr id="46" name="Shape 44"/>
          <p:cNvSpPr/>
          <p:nvPr/>
        </p:nvSpPr>
        <p:spPr>
          <a:xfrm>
            <a:off x="8477250" y="5777954"/>
            <a:ext cx="1905000" cy="9525"/>
          </a:xfrm>
          <a:prstGeom prst="rect">
            <a:avLst/>
          </a:prstGeom>
          <a:solidFill>
            <a:srgbClr val="D8D4CD"/>
          </a:solidFill>
          <a:ln/>
        </p:spPr>
      </p:sp>
      <p:sp>
        <p:nvSpPr>
          <p:cNvPr id="47" name="Text 45"/>
          <p:cNvSpPr/>
          <p:nvPr/>
        </p:nvSpPr>
        <p:spPr>
          <a:xfrm>
            <a:off x="8477250" y="5244554"/>
            <a:ext cx="1790700"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82M</a:t>
            </a:r>
            <a:endParaRPr lang="en-US" sz="2100" dirty="0"/>
          </a:p>
        </p:txBody>
      </p:sp>
      <p:sp>
        <p:nvSpPr>
          <p:cNvPr id="48" name="Shape 46"/>
          <p:cNvSpPr/>
          <p:nvPr/>
        </p:nvSpPr>
        <p:spPr>
          <a:xfrm>
            <a:off x="10382250" y="5777954"/>
            <a:ext cx="2381250" cy="9525"/>
          </a:xfrm>
          <a:prstGeom prst="rect">
            <a:avLst/>
          </a:prstGeom>
          <a:solidFill>
            <a:srgbClr val="D8D4CD"/>
          </a:solidFill>
          <a:ln/>
        </p:spPr>
      </p:sp>
      <p:sp>
        <p:nvSpPr>
          <p:cNvPr id="49" name="Text 47"/>
          <p:cNvSpPr/>
          <p:nvPr/>
        </p:nvSpPr>
        <p:spPr>
          <a:xfrm>
            <a:off x="10382250" y="5244554"/>
            <a:ext cx="2266950"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0.590</a:t>
            </a:r>
            <a:endParaRPr lang="en-US" sz="2100" dirty="0"/>
          </a:p>
        </p:txBody>
      </p:sp>
      <p:sp>
        <p:nvSpPr>
          <p:cNvPr id="50" name="Shape 48"/>
          <p:cNvSpPr/>
          <p:nvPr/>
        </p:nvSpPr>
        <p:spPr>
          <a:xfrm>
            <a:off x="12763500" y="5777954"/>
            <a:ext cx="2667000" cy="9525"/>
          </a:xfrm>
          <a:prstGeom prst="rect">
            <a:avLst/>
          </a:prstGeom>
          <a:solidFill>
            <a:srgbClr val="D8D4CD"/>
          </a:solidFill>
          <a:ln/>
        </p:spPr>
      </p:sp>
      <p:sp>
        <p:nvSpPr>
          <p:cNvPr id="51" name="Text 49"/>
          <p:cNvSpPr/>
          <p:nvPr/>
        </p:nvSpPr>
        <p:spPr>
          <a:xfrm>
            <a:off x="12763500" y="5244554"/>
            <a:ext cx="2556510"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1A1917"/>
                </a:solidFill>
                <a:latin typeface="Arial" pitchFamily="34" charset="0"/>
                <a:ea typeface="Arial" pitchFamily="34" charset="-122"/>
                <a:cs typeface="Arial" pitchFamily="34" charset="-120"/>
              </a:rPr>
              <a:t>0.505</a:t>
            </a:r>
            <a:endParaRPr lang="en-US" sz="2100" dirty="0"/>
          </a:p>
        </p:txBody>
      </p:sp>
      <p:sp>
        <p:nvSpPr>
          <p:cNvPr id="52" name="Shape 50"/>
          <p:cNvSpPr/>
          <p:nvPr/>
        </p:nvSpPr>
        <p:spPr>
          <a:xfrm>
            <a:off x="15430500" y="5777954"/>
            <a:ext cx="1905000" cy="9525"/>
          </a:xfrm>
          <a:prstGeom prst="rect">
            <a:avLst/>
          </a:prstGeom>
          <a:solidFill>
            <a:srgbClr val="D8D4CD"/>
          </a:solidFill>
          <a:ln/>
        </p:spPr>
      </p:sp>
      <p:sp>
        <p:nvSpPr>
          <p:cNvPr id="53" name="Text 51"/>
          <p:cNvSpPr/>
          <p:nvPr/>
        </p:nvSpPr>
        <p:spPr>
          <a:xfrm>
            <a:off x="15430500" y="5244554"/>
            <a:ext cx="1981200" cy="390525"/>
          </a:xfrm>
          <a:prstGeom prst="rect">
            <a:avLst/>
          </a:prstGeom>
          <a:noFill/>
          <a:ln/>
        </p:spPr>
        <p:txBody>
          <a:bodyPr wrap="square" lIns="25400" tIns="25400" rIns="25400" bIns="25400" rtlCol="0" anchor="ctr">
            <a:normAutofit/>
          </a:bodyPr>
          <a:lstStyle/>
          <a:p>
            <a:pPr algn="l" indent="0" marL="0">
              <a:buNone/>
            </a:pPr>
            <a:r>
              <a:rPr lang="en-US" sz="2100" dirty="0">
                <a:solidFill>
                  <a:srgbClr val="8A857C"/>
                </a:solidFill>
                <a:latin typeface="Arial" pitchFamily="34" charset="0"/>
                <a:ea typeface="Arial" pitchFamily="34" charset="-122"/>
                <a:cs typeface="Arial" pitchFamily="34" charset="-120"/>
              </a:rPr>
              <a:t>—</a:t>
            </a:r>
            <a:endParaRPr lang="en-US" sz="2100" dirty="0"/>
          </a:p>
        </p:txBody>
      </p:sp>
      <p:sp>
        <p:nvSpPr>
          <p:cNvPr id="54" name="Text 52"/>
          <p:cNvSpPr/>
          <p:nvPr/>
        </p:nvSpPr>
        <p:spPr>
          <a:xfrm>
            <a:off x="952500" y="7521178"/>
            <a:ext cx="8717280" cy="361950"/>
          </a:xfrm>
          <a:prstGeom prst="rect">
            <a:avLst/>
          </a:prstGeom>
          <a:noFill/>
          <a:ln/>
        </p:spPr>
        <p:txBody>
          <a:bodyPr wrap="square" lIns="25400" tIns="25400" rIns="25400" bIns="25400" rtlCol="0" anchor="t">
            <a:normAutofit/>
          </a:bodyPr>
          <a:lstStyle/>
          <a:p>
            <a:pPr algn="l" indent="0" marL="0">
              <a:buNone/>
            </a:pPr>
            <a:r>
              <a:rPr lang="en-US" sz="2250" b="1" dirty="0">
                <a:solidFill>
                  <a:srgbClr val="1A1917"/>
                </a:solidFill>
                <a:latin typeface="Arial" pitchFamily="34" charset="0"/>
                <a:ea typeface="Arial" pitchFamily="34" charset="-122"/>
                <a:cs typeface="Arial" pitchFamily="34" charset="-120"/>
              </a:rPr>
              <a:t>Compression preserved fairness — but cost robustness</a:t>
            </a:r>
            <a:endParaRPr lang="en-US" sz="2250" dirty="0"/>
          </a:p>
        </p:txBody>
      </p:sp>
      <p:sp>
        <p:nvSpPr>
          <p:cNvPr id="55" name="Text 53"/>
          <p:cNvSpPr/>
          <p:nvPr/>
        </p:nvSpPr>
        <p:spPr>
          <a:xfrm>
            <a:off x="952500" y="7978378"/>
            <a:ext cx="8162544" cy="1584722"/>
          </a:xfrm>
          <a:prstGeom prst="rect">
            <a:avLst/>
          </a:prstGeom>
          <a:noFill/>
          <a:ln/>
        </p:spPr>
        <p:txBody>
          <a:bodyPr wrap="square" lIns="25400" tIns="25400" rIns="25400" bIns="25400" rtlCol="0" anchor="t">
            <a:normAutofit/>
          </a:bodyPr>
          <a:lstStyle/>
          <a:p>
            <a:pPr algn="l" indent="0" marL="0">
              <a:lnSpc>
                <a:spcPct val="126875"/>
              </a:lnSpc>
              <a:buNone/>
            </a:pPr>
            <a:r>
              <a:rPr lang="en-US" sz="2100" dirty="0">
                <a:solidFill>
                  <a:srgbClr val="4A4741"/>
                </a:solidFill>
                <a:latin typeface="Arial" pitchFamily="34" charset="0"/>
                <a:ea typeface="Arial" pitchFamily="34" charset="-122"/>
                <a:cs typeface="Arial" pitchFamily="34" charset="-120"/>
              </a:rPr>
              <a:t>Our own early-stopped student (4k rows x 2 ep., CPU) reaches F1 0.695 vs. the teacher's 0.752 — it does not match the teacher at this budget — but its identity FPR is 0.008, an order of magnitude BELOW the teacher's 0.087 and the lowest of any model here. H2 is rejected on fairness even at a tenth of the intended data. The cost appears elsewhere: leetspeak evasion 0.280 → 0.634.</a:t>
            </a:r>
            <a:endParaRPr lang="en-US" sz="2100" dirty="0"/>
          </a:p>
        </p:txBody>
      </p:sp>
      <p:sp>
        <p:nvSpPr>
          <p:cNvPr id="56" name="Text 54"/>
          <p:cNvSpPr/>
          <p:nvPr/>
        </p:nvSpPr>
        <p:spPr>
          <a:xfrm>
            <a:off x="9410700" y="7521178"/>
            <a:ext cx="8162544" cy="685800"/>
          </a:xfrm>
          <a:prstGeom prst="rect">
            <a:avLst/>
          </a:prstGeom>
          <a:noFill/>
          <a:ln/>
        </p:spPr>
        <p:txBody>
          <a:bodyPr wrap="square" lIns="25400" tIns="25400" rIns="25400" bIns="25400" rtlCol="0" anchor="t">
            <a:normAutofit/>
          </a:bodyPr>
          <a:lstStyle/>
          <a:p>
            <a:pPr algn="l" indent="0" marL="0">
              <a:buNone/>
            </a:pPr>
            <a:r>
              <a:rPr lang="en-US" sz="2250" b="1" dirty="0">
                <a:solidFill>
                  <a:srgbClr val="1A1917"/>
                </a:solidFill>
                <a:latin typeface="Arial" pitchFamily="34" charset="0"/>
                <a:ea typeface="Arial" pitchFamily="34" charset="-122"/>
                <a:cs typeface="Arial" pitchFamily="34" charset="-120"/>
              </a:rPr>
              <a:t>Zero-shot failure was missing supervision, not an architectural ceiling</a:t>
            </a:r>
            <a:endParaRPr lang="en-US" sz="2250" dirty="0"/>
          </a:p>
        </p:txBody>
      </p:sp>
      <p:sp>
        <p:nvSpPr>
          <p:cNvPr id="57" name="Text 55"/>
          <p:cNvSpPr/>
          <p:nvPr/>
        </p:nvSpPr>
        <p:spPr>
          <a:xfrm>
            <a:off x="9410700" y="8302228"/>
            <a:ext cx="8162544" cy="1198066"/>
          </a:xfrm>
          <a:prstGeom prst="rect">
            <a:avLst/>
          </a:prstGeom>
          <a:noFill/>
          <a:ln/>
        </p:spPr>
        <p:txBody>
          <a:bodyPr wrap="square" lIns="25400" tIns="25400" rIns="25400" bIns="25400" rtlCol="0" anchor="t">
            <a:normAutofit/>
          </a:bodyPr>
          <a:lstStyle/>
          <a:p>
            <a:pPr algn="l" indent="0" marL="0">
              <a:lnSpc>
                <a:spcPct val="126875"/>
              </a:lnSpc>
              <a:buNone/>
            </a:pPr>
            <a:r>
              <a:rPr lang="en-US" sz="2100" dirty="0">
                <a:solidFill>
                  <a:srgbClr val="4A4741"/>
                </a:solidFill>
                <a:latin typeface="Arial" pitchFamily="34" charset="0"/>
                <a:ea typeface="Arial" pitchFamily="34" charset="-122"/>
                <a:cs typeface="Arial" pitchFamily="34" charset="-120"/>
              </a:rPr>
              <a:t>Fine-tuning lifts ROC-AUC from 0.389 to 0.961 with no architectural change, and drags control FPR from 1.000 to 0.000. Our re-run needed only 800 training rows (0.6% of the data) to do it — but the result stays fragile: leetspeak evasion 0.680, punct-noise 0.840.</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2211D"/>
        </a:solidFill>
      </p:bgPr>
    </p:bg>
    <p:spTree>
      <p:nvGrpSpPr>
        <p:cNvPr id="1" name=""/>
        <p:cNvGrpSpPr/>
        <p:nvPr/>
      </p:nvGrpSpPr>
      <p:grpSpPr>
        <a:xfrm>
          <a:off x="0" y="0"/>
          <a:ext cx="0" cy="0"/>
          <a:chOff x="0" y="0"/>
          <a:chExt cx="0" cy="0"/>
        </a:xfrm>
      </p:grpSpPr>
      <p:sp>
        <p:nvSpPr>
          <p:cNvPr id="2" name="Text 0"/>
          <p:cNvSpPr/>
          <p:nvPr/>
        </p:nvSpPr>
        <p:spPr>
          <a:xfrm>
            <a:off x="952500" y="857250"/>
            <a:ext cx="18021300" cy="304800"/>
          </a:xfrm>
          <a:prstGeom prst="rect">
            <a:avLst/>
          </a:prstGeom>
          <a:noFill/>
          <a:ln/>
        </p:spPr>
        <p:txBody>
          <a:bodyPr wrap="square" lIns="25400" tIns="25400" rIns="25400" bIns="25400" rtlCol="0" anchor="t">
            <a:normAutofit/>
          </a:bodyPr>
          <a:lstStyle/>
          <a:p>
            <a:pPr algn="l" indent="0" marL="0">
              <a:buNone/>
            </a:pPr>
            <a:r>
              <a:rPr lang="en-US" sz="1800" b="1" spc="288" kern="0" dirty="0">
                <a:solidFill>
                  <a:srgbClr val="6AC9CE"/>
                </a:solidFill>
                <a:latin typeface="Arial" pitchFamily="34" charset="0"/>
                <a:ea typeface="Arial" pitchFamily="34" charset="-122"/>
                <a:cs typeface="Arial" pitchFamily="34" charset="-120"/>
              </a:rPr>
              <a:t>CONCLUSIONS</a:t>
            </a:r>
            <a:endParaRPr lang="en-US" sz="1800" dirty="0"/>
          </a:p>
        </p:txBody>
      </p:sp>
      <p:sp>
        <p:nvSpPr>
          <p:cNvPr id="3" name="Text 1"/>
          <p:cNvSpPr/>
          <p:nvPr/>
        </p:nvSpPr>
        <p:spPr>
          <a:xfrm>
            <a:off x="952500" y="1333500"/>
            <a:ext cx="18021300" cy="696367"/>
          </a:xfrm>
          <a:prstGeom prst="rect">
            <a:avLst/>
          </a:prstGeom>
          <a:noFill/>
          <a:ln/>
        </p:spPr>
        <p:txBody>
          <a:bodyPr wrap="square" lIns="25400" tIns="25400" rIns="25400" bIns="25400" rtlCol="0" anchor="t">
            <a:normAutofit/>
          </a:bodyPr>
          <a:lstStyle/>
          <a:p>
            <a:pPr algn="l" indent="0" marL="0">
              <a:lnSpc>
                <a:spcPct val="94685"/>
              </a:lnSpc>
              <a:buNone/>
            </a:pPr>
            <a:r>
              <a:rPr lang="en-US" sz="4800" dirty="0">
                <a:solidFill>
                  <a:srgbClr val="F5F3F0"/>
                </a:solidFill>
                <a:latin typeface="Georgia" pitchFamily="34" charset="0"/>
                <a:ea typeface="Georgia" pitchFamily="34" charset="-122"/>
                <a:cs typeface="Georgia" pitchFamily="34" charset="-120"/>
              </a:rPr>
              <a:t>What the audit found</a:t>
            </a:r>
            <a:endParaRPr lang="en-US" sz="4800" dirty="0"/>
          </a:p>
        </p:txBody>
      </p:sp>
      <p:sp>
        <p:nvSpPr>
          <p:cNvPr id="4" name="Text 2"/>
          <p:cNvSpPr/>
          <p:nvPr/>
        </p:nvSpPr>
        <p:spPr>
          <a:xfrm>
            <a:off x="952500" y="2468017"/>
            <a:ext cx="266700" cy="1198066"/>
          </a:xfrm>
          <a:prstGeom prst="rect">
            <a:avLst/>
          </a:prstGeom>
          <a:noFill/>
          <a:ln/>
        </p:spPr>
        <p:txBody>
          <a:bodyPr wrap="square" lIns="25400" tIns="25400" rIns="25400" bIns="25400" rtlCol="0" anchor="t">
            <a:normAutofit/>
          </a:bodyPr>
          <a:lstStyle/>
          <a:p>
            <a:pPr algn="l" indent="0" marL="0">
              <a:buNone/>
            </a:pPr>
            <a:r>
              <a:rPr lang="en-US" sz="3000" dirty="0">
                <a:solidFill>
                  <a:srgbClr val="6AC9CE"/>
                </a:solidFill>
                <a:latin typeface="Georgia" pitchFamily="34" charset="0"/>
                <a:ea typeface="Georgia" pitchFamily="34" charset="-122"/>
                <a:cs typeface="Georgia" pitchFamily="34" charset="-120"/>
              </a:rPr>
              <a:t>1</a:t>
            </a:r>
            <a:endParaRPr lang="en-US" sz="3000" dirty="0"/>
          </a:p>
        </p:txBody>
      </p:sp>
      <p:sp>
        <p:nvSpPr>
          <p:cNvPr id="5" name="Text 3"/>
          <p:cNvSpPr/>
          <p:nvPr/>
        </p:nvSpPr>
        <p:spPr>
          <a:xfrm>
            <a:off x="1371600" y="2468017"/>
            <a:ext cx="7711250" cy="1198066"/>
          </a:xfrm>
          <a:prstGeom prst="rect">
            <a:avLst/>
          </a:prstGeom>
          <a:noFill/>
          <a:ln/>
        </p:spPr>
        <p:txBody>
          <a:bodyPr wrap="square" lIns="25400" tIns="25400" rIns="25400" bIns="25400" rtlCol="0" anchor="t">
            <a:normAutofit/>
          </a:bodyPr>
          <a:lstStyle/>
          <a:p>
            <a:pPr algn="l" indent="0" marL="0">
              <a:lnSpc>
                <a:spcPct val="123030"/>
              </a:lnSpc>
              <a:buNone/>
            </a:pPr>
            <a:r>
              <a:rPr lang="en-US" sz="2175" dirty="0">
                <a:solidFill>
                  <a:srgbClr val="F5F3F0"/>
                </a:solidFill>
                <a:latin typeface="Arial" pitchFamily="34" charset="0"/>
                <a:ea typeface="Arial" pitchFamily="34" charset="-122"/>
                <a:cs typeface="Arial" pitchFamily="34" charset="-120"/>
              </a:rPr>
              <a:t>Toxicity detection is substantially lexical, but not purely so. A 50k-feature linear model reaches ~93% of a 109M encoder's F1 at ~1750× lower latency.</a:t>
            </a:r>
            <a:endParaRPr lang="en-US" sz="2175" dirty="0"/>
          </a:p>
        </p:txBody>
      </p:sp>
      <p:sp>
        <p:nvSpPr>
          <p:cNvPr id="6" name="Text 4"/>
          <p:cNvSpPr/>
          <p:nvPr/>
        </p:nvSpPr>
        <p:spPr>
          <a:xfrm>
            <a:off x="9429750" y="2468017"/>
            <a:ext cx="266700" cy="1198066"/>
          </a:xfrm>
          <a:prstGeom prst="rect">
            <a:avLst/>
          </a:prstGeom>
          <a:noFill/>
          <a:ln/>
        </p:spPr>
        <p:txBody>
          <a:bodyPr wrap="square" lIns="25400" tIns="25400" rIns="25400" bIns="25400" rtlCol="0" anchor="t">
            <a:normAutofit/>
          </a:bodyPr>
          <a:lstStyle/>
          <a:p>
            <a:pPr algn="l" indent="0" marL="0">
              <a:buNone/>
            </a:pPr>
            <a:r>
              <a:rPr lang="en-US" sz="3000" dirty="0">
                <a:solidFill>
                  <a:srgbClr val="6AC9CE"/>
                </a:solidFill>
                <a:latin typeface="Georgia" pitchFamily="34" charset="0"/>
                <a:ea typeface="Georgia" pitchFamily="34" charset="-122"/>
                <a:cs typeface="Georgia" pitchFamily="34" charset="-120"/>
              </a:rPr>
              <a:t>2</a:t>
            </a:r>
            <a:endParaRPr lang="en-US" sz="3000" dirty="0"/>
          </a:p>
        </p:txBody>
      </p:sp>
      <p:sp>
        <p:nvSpPr>
          <p:cNvPr id="7" name="Text 5"/>
          <p:cNvSpPr/>
          <p:nvPr/>
        </p:nvSpPr>
        <p:spPr>
          <a:xfrm>
            <a:off x="9848850" y="2468017"/>
            <a:ext cx="7711250" cy="1198066"/>
          </a:xfrm>
          <a:prstGeom prst="rect">
            <a:avLst/>
          </a:prstGeom>
          <a:noFill/>
          <a:ln/>
        </p:spPr>
        <p:txBody>
          <a:bodyPr wrap="square" lIns="25400" tIns="25400" rIns="25400" bIns="25400" rtlCol="0" anchor="t">
            <a:normAutofit/>
          </a:bodyPr>
          <a:lstStyle/>
          <a:p>
            <a:pPr algn="l" indent="0" marL="0">
              <a:lnSpc>
                <a:spcPct val="123030"/>
              </a:lnSpc>
              <a:buNone/>
            </a:pPr>
            <a:r>
              <a:rPr lang="en-US" sz="2175" dirty="0">
                <a:solidFill>
                  <a:srgbClr val="F5F3F0"/>
                </a:solidFill>
                <a:latin typeface="Arial" pitchFamily="34" charset="0"/>
                <a:ea typeface="Arial" pitchFamily="34" charset="-122"/>
                <a:cs typeface="Arial" pitchFamily="34" charset="-120"/>
              </a:rPr>
              <a:t>The encoder's real value is robustness, and it is earned rather than architectural. Both its advantages point at toxic-bert's training scale.</a:t>
            </a:r>
            <a:endParaRPr lang="en-US" sz="2175" dirty="0"/>
          </a:p>
        </p:txBody>
      </p:sp>
      <p:sp>
        <p:nvSpPr>
          <p:cNvPr id="8" name="Text 6"/>
          <p:cNvSpPr/>
          <p:nvPr/>
        </p:nvSpPr>
        <p:spPr>
          <a:xfrm>
            <a:off x="952500" y="3970883"/>
            <a:ext cx="266700" cy="1198066"/>
          </a:xfrm>
          <a:prstGeom prst="rect">
            <a:avLst/>
          </a:prstGeom>
          <a:noFill/>
          <a:ln/>
        </p:spPr>
        <p:txBody>
          <a:bodyPr wrap="square" lIns="25400" tIns="25400" rIns="25400" bIns="25400" rtlCol="0" anchor="t">
            <a:normAutofit/>
          </a:bodyPr>
          <a:lstStyle/>
          <a:p>
            <a:pPr algn="l" indent="0" marL="0">
              <a:buNone/>
            </a:pPr>
            <a:r>
              <a:rPr lang="en-US" sz="3000" dirty="0">
                <a:solidFill>
                  <a:srgbClr val="6AC9CE"/>
                </a:solidFill>
                <a:latin typeface="Georgia" pitchFamily="34" charset="0"/>
                <a:ea typeface="Georgia" pitchFamily="34" charset="-122"/>
                <a:cs typeface="Georgia" pitchFamily="34" charset="-120"/>
              </a:rPr>
              <a:t>3</a:t>
            </a:r>
            <a:endParaRPr lang="en-US" sz="3000" dirty="0"/>
          </a:p>
        </p:txBody>
      </p:sp>
      <p:sp>
        <p:nvSpPr>
          <p:cNvPr id="9" name="Text 7"/>
          <p:cNvSpPr/>
          <p:nvPr/>
        </p:nvSpPr>
        <p:spPr>
          <a:xfrm>
            <a:off x="1371600" y="3970883"/>
            <a:ext cx="7711250" cy="1198066"/>
          </a:xfrm>
          <a:prstGeom prst="rect">
            <a:avLst/>
          </a:prstGeom>
          <a:noFill/>
          <a:ln/>
        </p:spPr>
        <p:txBody>
          <a:bodyPr wrap="square" lIns="25400" tIns="25400" rIns="25400" bIns="25400" rtlCol="0" anchor="t">
            <a:normAutofit/>
          </a:bodyPr>
          <a:lstStyle/>
          <a:p>
            <a:pPr algn="l" indent="0" marL="0">
              <a:lnSpc>
                <a:spcPct val="123030"/>
              </a:lnSpc>
              <a:buNone/>
            </a:pPr>
            <a:r>
              <a:rPr lang="en-US" sz="2175" dirty="0">
                <a:solidFill>
                  <a:srgbClr val="F5F3F0"/>
                </a:solidFill>
                <a:latin typeface="Arial" pitchFamily="34" charset="0"/>
                <a:ea typeface="Arial" pitchFamily="34" charset="-122"/>
                <a:cs typeface="Arial" pitchFamily="34" charset="-120"/>
              </a:rPr>
              <a:t>A discriminative head beats prompting, most cleanly on a single checkpoint — yet BERT's zero-shot prompt still ranks far better than GPT-2's.</a:t>
            </a:r>
            <a:endParaRPr lang="en-US" sz="2175" dirty="0"/>
          </a:p>
        </p:txBody>
      </p:sp>
      <p:sp>
        <p:nvSpPr>
          <p:cNvPr id="10" name="Text 8"/>
          <p:cNvSpPr/>
          <p:nvPr/>
        </p:nvSpPr>
        <p:spPr>
          <a:xfrm>
            <a:off x="9429750" y="3970883"/>
            <a:ext cx="266700" cy="1198066"/>
          </a:xfrm>
          <a:prstGeom prst="rect">
            <a:avLst/>
          </a:prstGeom>
          <a:noFill/>
          <a:ln/>
        </p:spPr>
        <p:txBody>
          <a:bodyPr wrap="square" lIns="25400" tIns="25400" rIns="25400" bIns="25400" rtlCol="0" anchor="t">
            <a:normAutofit/>
          </a:bodyPr>
          <a:lstStyle/>
          <a:p>
            <a:pPr algn="l" indent="0" marL="0">
              <a:buNone/>
            </a:pPr>
            <a:r>
              <a:rPr lang="en-US" sz="3000" dirty="0">
                <a:solidFill>
                  <a:srgbClr val="6AC9CE"/>
                </a:solidFill>
                <a:latin typeface="Georgia" pitchFamily="34" charset="0"/>
                <a:ea typeface="Georgia" pitchFamily="34" charset="-122"/>
                <a:cs typeface="Georgia" pitchFamily="34" charset="-120"/>
              </a:rPr>
              <a:t>4</a:t>
            </a:r>
            <a:endParaRPr lang="en-US" sz="3000" dirty="0"/>
          </a:p>
        </p:txBody>
      </p:sp>
      <p:sp>
        <p:nvSpPr>
          <p:cNvPr id="11" name="Text 9"/>
          <p:cNvSpPr/>
          <p:nvPr/>
        </p:nvSpPr>
        <p:spPr>
          <a:xfrm>
            <a:off x="9848850" y="3970883"/>
            <a:ext cx="7711250" cy="1198066"/>
          </a:xfrm>
          <a:prstGeom prst="rect">
            <a:avLst/>
          </a:prstGeom>
          <a:noFill/>
          <a:ln/>
        </p:spPr>
        <p:txBody>
          <a:bodyPr wrap="square" lIns="25400" tIns="25400" rIns="25400" bIns="25400" rtlCol="0" anchor="t">
            <a:normAutofit/>
          </a:bodyPr>
          <a:lstStyle/>
          <a:p>
            <a:pPr algn="l" indent="0" marL="0">
              <a:lnSpc>
                <a:spcPct val="123030"/>
              </a:lnSpc>
              <a:buNone/>
            </a:pPr>
            <a:r>
              <a:rPr lang="en-US" sz="2175" dirty="0">
                <a:solidFill>
                  <a:srgbClr val="F5F3F0"/>
                </a:solidFill>
                <a:latin typeface="Arial" pitchFamily="34" charset="0"/>
                <a:ea typeface="Arial" pitchFamily="34" charset="-122"/>
                <a:cs typeface="Arial" pitchFamily="34" charset="-120"/>
              </a:rPr>
              <a:t>Identity bias is data-driven but not uniform in mechanism, so a mitigation validated on one model cannot be assumed to transfer to another.</a:t>
            </a:r>
            <a:endParaRPr lang="en-US" sz="2175" dirty="0"/>
          </a:p>
        </p:txBody>
      </p:sp>
      <p:sp>
        <p:nvSpPr>
          <p:cNvPr id="12" name="Text 10"/>
          <p:cNvSpPr/>
          <p:nvPr/>
        </p:nvSpPr>
        <p:spPr>
          <a:xfrm>
            <a:off x="952500" y="5473750"/>
            <a:ext cx="266700" cy="2386608"/>
          </a:xfrm>
          <a:prstGeom prst="rect">
            <a:avLst/>
          </a:prstGeom>
          <a:noFill/>
          <a:ln/>
        </p:spPr>
        <p:txBody>
          <a:bodyPr wrap="square" lIns="25400" tIns="25400" rIns="25400" bIns="25400" rtlCol="0" anchor="t">
            <a:normAutofit/>
          </a:bodyPr>
          <a:lstStyle/>
          <a:p>
            <a:pPr algn="l" indent="0" marL="0">
              <a:buNone/>
            </a:pPr>
            <a:r>
              <a:rPr lang="en-US" sz="3000" dirty="0">
                <a:solidFill>
                  <a:srgbClr val="6AC9CE"/>
                </a:solidFill>
                <a:latin typeface="Georgia" pitchFamily="34" charset="0"/>
                <a:ea typeface="Georgia" pitchFamily="34" charset="-122"/>
                <a:cs typeface="Georgia" pitchFamily="34" charset="-120"/>
              </a:rPr>
              <a:t>5</a:t>
            </a:r>
            <a:endParaRPr lang="en-US" sz="3000" dirty="0"/>
          </a:p>
        </p:txBody>
      </p:sp>
      <p:sp>
        <p:nvSpPr>
          <p:cNvPr id="13" name="Text 11"/>
          <p:cNvSpPr/>
          <p:nvPr/>
        </p:nvSpPr>
        <p:spPr>
          <a:xfrm>
            <a:off x="1371600" y="5473750"/>
            <a:ext cx="7711250" cy="2386608"/>
          </a:xfrm>
          <a:prstGeom prst="rect">
            <a:avLst/>
          </a:prstGeom>
          <a:noFill/>
          <a:ln/>
        </p:spPr>
        <p:txBody>
          <a:bodyPr wrap="square" lIns="25400" tIns="25400" rIns="25400" bIns="25400" rtlCol="0" anchor="t">
            <a:normAutofit/>
          </a:bodyPr>
          <a:lstStyle/>
          <a:p>
            <a:pPr algn="l" indent="0" marL="0">
              <a:lnSpc>
                <a:spcPct val="123030"/>
              </a:lnSpc>
              <a:buNone/>
            </a:pPr>
            <a:r>
              <a:rPr lang="en-US" sz="2175" dirty="0">
                <a:solidFill>
                  <a:srgbClr val="F5F3F0"/>
                </a:solidFill>
                <a:latin typeface="Arial" pitchFamily="34" charset="0"/>
                <a:ea typeface="Arial" pitchFamily="34" charset="-122"/>
                <a:cs typeface="Arial" pitchFamily="34" charset="-120"/>
              </a:rPr>
              <a:t>Compression preserved fairness but cost robustness. The soft-KD student is the fairest model measured (identity FPR 0.008 vs. the teacher's 0.087), yet more than twice as easy to evade. And “robust” is not one property: toxic-bert is hardest to evade AND among the easiest to trick into false alarms.</a:t>
            </a:r>
            <a:endParaRPr lang="en-US" sz="2175" dirty="0"/>
          </a:p>
        </p:txBody>
      </p:sp>
      <p:sp>
        <p:nvSpPr>
          <p:cNvPr id="14" name="Shape 12"/>
          <p:cNvSpPr/>
          <p:nvPr/>
        </p:nvSpPr>
        <p:spPr>
          <a:xfrm>
            <a:off x="9429750" y="5473750"/>
            <a:ext cx="7905750" cy="2348508"/>
          </a:xfrm>
          <a:prstGeom prst="rect">
            <a:avLst/>
          </a:prstGeom>
          <a:solidFill>
            <a:srgbClr val="2E2C27"/>
          </a:solidFill>
          <a:ln/>
        </p:spPr>
      </p:sp>
      <p:sp>
        <p:nvSpPr>
          <p:cNvPr id="15" name="Text 13"/>
          <p:cNvSpPr/>
          <p:nvPr/>
        </p:nvSpPr>
        <p:spPr>
          <a:xfrm>
            <a:off x="9734550" y="5740450"/>
            <a:ext cx="8025765" cy="333375"/>
          </a:xfrm>
          <a:prstGeom prst="rect">
            <a:avLst/>
          </a:prstGeom>
          <a:noFill/>
          <a:ln/>
        </p:spPr>
        <p:txBody>
          <a:bodyPr wrap="square" lIns="25400" tIns="25400" rIns="25400" bIns="25400" rtlCol="0" anchor="t">
            <a:normAutofit/>
          </a:bodyPr>
          <a:lstStyle/>
          <a:p>
            <a:pPr algn="l" indent="0" marL="0">
              <a:buNone/>
            </a:pPr>
            <a:r>
              <a:rPr lang="en-US" sz="1950" b="1" spc="273" kern="0" dirty="0">
                <a:solidFill>
                  <a:srgbClr val="EB9191"/>
                </a:solidFill>
                <a:latin typeface="Arial" pitchFamily="34" charset="0"/>
                <a:ea typeface="Arial" pitchFamily="34" charset="-122"/>
                <a:cs typeface="Arial" pitchFamily="34" charset="-120"/>
              </a:rPr>
              <a:t>LIMITATIONS</a:t>
            </a:r>
            <a:endParaRPr lang="en-US" sz="1950" dirty="0"/>
          </a:p>
        </p:txBody>
      </p:sp>
      <p:sp>
        <p:nvSpPr>
          <p:cNvPr id="16" name="Text 14"/>
          <p:cNvSpPr/>
          <p:nvPr/>
        </p:nvSpPr>
        <p:spPr>
          <a:xfrm>
            <a:off x="9734550" y="6169075"/>
            <a:ext cx="7515035" cy="1424583"/>
          </a:xfrm>
          <a:prstGeom prst="rect">
            <a:avLst/>
          </a:prstGeom>
          <a:noFill/>
          <a:ln/>
        </p:spPr>
        <p:txBody>
          <a:bodyPr wrap="square" lIns="25400" tIns="25400" rIns="25400" bIns="25400" rtlCol="0" anchor="t">
            <a:normAutofit/>
          </a:bodyPr>
          <a:lstStyle/>
          <a:p>
            <a:pPr algn="l" indent="0" marL="0">
              <a:lnSpc>
                <a:spcPct val="117419"/>
              </a:lnSpc>
              <a:buNone/>
            </a:pPr>
            <a:r>
              <a:rPr lang="en-US" sz="1950" dirty="0">
                <a:solidFill>
                  <a:srgbClr val="CFCABF"/>
                </a:solidFill>
                <a:latin typeface="Arial" pitchFamily="34" charset="0"/>
                <a:ea typeface="Arial" pitchFamily="34" charset="-122"/>
                <a:cs typeface="Arial" pitchFamily="34" charset="-120"/>
              </a:rPr>
              <a:t>Headline numbers use an 800-comment subset without confidence intervals; S1 and D1-ft are early-stopped checkpoints (a full-scale run is ~25 h of CPU each); the perturbation suite is n=100, except D1-ft at n=25; the fairness probe is synthetic; evaluation is in-domain Wikipedia text; hateBERT was not run.</a:t>
            </a:r>
            <a:endParaRPr lang="en-US" sz="1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2026-09-09T15:27:20Z</dcterms:created>
  <dcterms:modified xsi:type="dcterms:W3CDTF">2026-09-09T15:27:20Z</dcterms:modified>
</cp:coreProperties>
</file>