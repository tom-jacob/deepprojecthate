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authors, course project. Frame: we audit rather than rank.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difficulties. Then the reframe: FN is safety, FP is fairness. Different probes, different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families, one interface returning P(toxic). Emphasize the control pair E1 / E1-p: same weights, only the read-out differs.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Differences are attributable to training stages, not to being a bigger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interface, one seeded subset, one machine. Accuracy is deliberately not 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 buys ~93% of the encoder's F1 at ~1750x lower latency. Both zero-shot decoders are at or below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FPR is exactly zero for every classifier. So the false positives are identity-driven, not length- or template-driven. The one unambiguous gap is the student S1: 3 flagged sentences against its teacher's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informative result is E1: same architecture as toxic-bert, nearly as brittle as the bag of words. Sub-word tokenisation alone does not confer robustness.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mechanisms. 109M params still route the decision through a single token. And a mitigation validated on one model does not transfer.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GPU passes, n=500 and n=200 - not the shared subset. Under the Colab protocol the student matches the teacher's F1 with lower bias; H2 is rejected on fairness.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conclusions, then the two main limitations: n=800 headline subset, and hateBERT was not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56B6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046211 DEEP LEARNING · FINAL PROJECT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52500" y="1400175"/>
            <a:ext cx="1714500" cy="38100"/>
          </a:xfrm>
          <a:prstGeom prst="rect">
            <a:avLst/>
          </a:prstGeom>
          <a:solidFill>
            <a:srgbClr val="B96365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33812"/>
            <a:ext cx="15192375" cy="1126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250"/>
              </a:lnSpc>
              <a:buNone/>
            </a:pPr>
            <a:r>
              <a:rPr lang="en-US" sz="8400" spc="-126" kern="0" dirty="0">
                <a:solidFill>
                  <a:srgbClr val="F5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 That Harm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952500" y="5245745"/>
            <a:ext cx="14225588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00"/>
              </a:lnSpc>
              <a:buNone/>
            </a:pPr>
            <a:r>
              <a:rPr lang="en-US" sz="3300" dirty="0">
                <a:solidFill>
                  <a:srgbClr val="CFCA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audit of eight toxicity classifiers, organized around which error a model makes rather than how many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8772525"/>
            <a:ext cx="54316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Omer Ramon · Tom Jacob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9220200"/>
            <a:ext cx="54316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github.com/Tom-Jacob/DeepProjectHate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20700" y="9220200"/>
            <a:ext cx="4526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Jigsaw Toxic Comment Challenge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46685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85"/>
              </a:lnSpc>
              <a:buNone/>
            </a:pPr>
            <a:r>
              <a:rPr lang="en-US" sz="48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single benchmark number misleads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25167"/>
            <a:ext cx="510540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63292"/>
            <a:ext cx="56159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3268117"/>
            <a:ext cx="525856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~10% of Jigsaw comments are toxic, so “never toxic” scores 90% accuracy while detecting nothing.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91300" y="2525167"/>
            <a:ext cx="510540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8" name="Text 6"/>
          <p:cNvSpPr/>
          <p:nvPr/>
        </p:nvSpPr>
        <p:spPr>
          <a:xfrm>
            <a:off x="6591300" y="2763292"/>
            <a:ext cx="56159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outside the input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91300" y="3268117"/>
            <a:ext cx="5258562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“Give it up.” closes a dispute from an administrator and drives off a newcomer from three regulars. The speaker and the history are not in the input.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230100" y="2525167"/>
            <a:ext cx="510540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11" name="Text 9"/>
          <p:cNvSpPr/>
          <p:nvPr/>
        </p:nvSpPr>
        <p:spPr>
          <a:xfrm>
            <a:off x="12230100" y="2763292"/>
            <a:ext cx="56159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users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230100" y="3268117"/>
            <a:ext cx="525856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Evaders write s7up1d or s t u p i d. Sub-word tokenization is only a partial defense.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2500" y="7515225"/>
            <a:ext cx="8001000" cy="2009775"/>
          </a:xfrm>
          <a:prstGeom prst="rect">
            <a:avLst/>
          </a:prstGeom>
          <a:solidFill>
            <a:srgbClr val="22211D"/>
          </a:solidFill>
          <a:ln/>
        </p:spPr>
      </p:sp>
      <p:sp>
        <p:nvSpPr>
          <p:cNvPr id="14" name="Text 12"/>
          <p:cNvSpPr/>
          <p:nvPr/>
        </p:nvSpPr>
        <p:spPr>
          <a:xfrm>
            <a:off x="1314450" y="7839075"/>
            <a:ext cx="80048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B9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 → SAFETY FAILURE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" y="8267700"/>
            <a:ext cx="800481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5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“Shut up you m0r0n” reaches its target.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0" y="7515225"/>
            <a:ext cx="8001000" cy="2009775"/>
          </a:xfrm>
          <a:prstGeom prst="rect">
            <a:avLst/>
          </a:prstGeom>
          <a:solidFill>
            <a:srgbClr val="22211D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7839075"/>
            <a:ext cx="80048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AC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 → FAIRNESS FAILURE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696450" y="8267700"/>
            <a:ext cx="7495413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5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am a gay man and I edited this page” is removed as abuse.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UNDER COMPARISON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85"/>
              </a:lnSpc>
              <a:buNone/>
            </a:pPr>
            <a:r>
              <a:rPr lang="en-US" sz="48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configurations across four families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844254"/>
            <a:ext cx="95250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429917"/>
            <a:ext cx="8382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905000" y="2844254"/>
            <a:ext cx="377830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7" name="Text 5"/>
          <p:cNvSpPr/>
          <p:nvPr/>
        </p:nvSpPr>
        <p:spPr>
          <a:xfrm>
            <a:off x="1905000" y="2429917"/>
            <a:ext cx="370114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683300" y="2844254"/>
            <a:ext cx="3203377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9" name="Text 7"/>
          <p:cNvSpPr/>
          <p:nvPr/>
        </p:nvSpPr>
        <p:spPr>
          <a:xfrm>
            <a:off x="5683300" y="2429917"/>
            <a:ext cx="310897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8886676" y="2844254"/>
            <a:ext cx="161925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11" name="Text 9"/>
          <p:cNvSpPr/>
          <p:nvPr/>
        </p:nvSpPr>
        <p:spPr>
          <a:xfrm>
            <a:off x="8886676" y="2429917"/>
            <a:ext cx="15049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505926" y="2844254"/>
            <a:ext cx="6829574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13" name="Text 11"/>
          <p:cNvSpPr/>
          <p:nvPr/>
        </p:nvSpPr>
        <p:spPr>
          <a:xfrm>
            <a:off x="10505926" y="2429917"/>
            <a:ext cx="703446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52500" y="3539579"/>
            <a:ext cx="9525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3034754"/>
            <a:ext cx="83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905000" y="3539579"/>
            <a:ext cx="37783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17" name="Text 15"/>
          <p:cNvSpPr/>
          <p:nvPr/>
        </p:nvSpPr>
        <p:spPr>
          <a:xfrm>
            <a:off x="1905000" y="3034754"/>
            <a:ext cx="37011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toxic-bert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5683300" y="3539579"/>
            <a:ext cx="32033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19" name="Text 17"/>
          <p:cNvSpPr/>
          <p:nvPr/>
        </p:nvSpPr>
        <p:spPr>
          <a:xfrm>
            <a:off x="5683300" y="3034754"/>
            <a:ext cx="31089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encoder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8886676" y="3539579"/>
            <a:ext cx="16192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1" name="Text 19"/>
          <p:cNvSpPr/>
          <p:nvPr/>
        </p:nvSpPr>
        <p:spPr>
          <a:xfrm>
            <a:off x="8886676" y="3034754"/>
            <a:ext cx="15049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109M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0505926" y="3539579"/>
            <a:ext cx="682957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3" name="Text 21"/>
          <p:cNvSpPr/>
          <p:nvPr/>
        </p:nvSpPr>
        <p:spPr>
          <a:xfrm>
            <a:off x="10505926" y="3034754"/>
            <a:ext cx="70344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Unitary, full Jigsaw · 6 sigmoid heads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52500" y="4206329"/>
            <a:ext cx="9525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3711029"/>
            <a:ext cx="838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905000" y="4206329"/>
            <a:ext cx="37783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7" name="Text 25"/>
          <p:cNvSpPr/>
          <p:nvPr/>
        </p:nvSpPr>
        <p:spPr>
          <a:xfrm>
            <a:off x="1905000" y="3711029"/>
            <a:ext cx="37011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bert-base-classifier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5683300" y="4206329"/>
            <a:ext cx="32033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9" name="Text 27"/>
          <p:cNvSpPr/>
          <p:nvPr/>
        </p:nvSpPr>
        <p:spPr>
          <a:xfrm>
            <a:off x="5683300" y="3711029"/>
            <a:ext cx="31089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encoder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8886676" y="4206329"/>
            <a:ext cx="16192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1" name="Text 29"/>
          <p:cNvSpPr/>
          <p:nvPr/>
        </p:nvSpPr>
        <p:spPr>
          <a:xfrm>
            <a:off x="8886676" y="3711029"/>
            <a:ext cx="15049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109M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0505926" y="4206329"/>
            <a:ext cx="682957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3" name="Text 31"/>
          <p:cNvSpPr/>
          <p:nvPr/>
        </p:nvSpPr>
        <p:spPr>
          <a:xfrm>
            <a:off x="10505926" y="3711029"/>
            <a:ext cx="70344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Ours: 12k rows, CPU · 1 sigmoid head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952500" y="4873079"/>
            <a:ext cx="9525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4377779"/>
            <a:ext cx="838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E1-p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1905000" y="4873079"/>
            <a:ext cx="37783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7" name="Text 35"/>
          <p:cNvSpPr/>
          <p:nvPr/>
        </p:nvSpPr>
        <p:spPr>
          <a:xfrm>
            <a:off x="1905000" y="4377779"/>
            <a:ext cx="37011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bert-base-mlm-prompt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5683300" y="4873079"/>
            <a:ext cx="32033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9" name="Text 37"/>
          <p:cNvSpPr/>
          <p:nvPr/>
        </p:nvSpPr>
        <p:spPr>
          <a:xfrm>
            <a:off x="5683300" y="4377779"/>
            <a:ext cx="31089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encoder, 0-shot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8886676" y="4873079"/>
            <a:ext cx="16192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1" name="Text 39"/>
          <p:cNvSpPr/>
          <p:nvPr/>
        </p:nvSpPr>
        <p:spPr>
          <a:xfrm>
            <a:off x="8886676" y="4377779"/>
            <a:ext cx="15049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109M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10505926" y="4873079"/>
            <a:ext cx="682957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3" name="Text 41"/>
          <p:cNvSpPr/>
          <p:nvPr/>
        </p:nvSpPr>
        <p:spPr>
          <a:xfrm>
            <a:off x="10505926" y="4377779"/>
            <a:ext cx="70344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MLM head, untrained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952500" y="5539829"/>
            <a:ext cx="9525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5" name="Text 43"/>
          <p:cNvSpPr/>
          <p:nvPr/>
        </p:nvSpPr>
        <p:spPr>
          <a:xfrm>
            <a:off x="952500" y="5044529"/>
            <a:ext cx="838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</a:t>
            </a:r>
            <a:endParaRPr lang="en-US" sz="2025" dirty="0"/>
          </a:p>
        </p:txBody>
      </p:sp>
      <p:sp>
        <p:nvSpPr>
          <p:cNvPr id="46" name="Shape 44"/>
          <p:cNvSpPr/>
          <p:nvPr/>
        </p:nvSpPr>
        <p:spPr>
          <a:xfrm>
            <a:off x="1905000" y="5539829"/>
            <a:ext cx="37783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7" name="Text 45"/>
          <p:cNvSpPr/>
          <p:nvPr/>
        </p:nvSpPr>
        <p:spPr>
          <a:xfrm>
            <a:off x="1905000" y="5044529"/>
            <a:ext cx="37011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tfidf-svm</a:t>
            </a:r>
            <a:endParaRPr lang="en-US" sz="2025" dirty="0"/>
          </a:p>
        </p:txBody>
      </p:sp>
      <p:sp>
        <p:nvSpPr>
          <p:cNvPr id="48" name="Shape 46"/>
          <p:cNvSpPr/>
          <p:nvPr/>
        </p:nvSpPr>
        <p:spPr>
          <a:xfrm>
            <a:off x="5683300" y="5539829"/>
            <a:ext cx="32033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9" name="Text 47"/>
          <p:cNvSpPr/>
          <p:nvPr/>
        </p:nvSpPr>
        <p:spPr>
          <a:xfrm>
            <a:off x="5683300" y="5044529"/>
            <a:ext cx="31089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Non-neural</a:t>
            </a:r>
            <a:endParaRPr lang="en-US" sz="2025" dirty="0"/>
          </a:p>
        </p:txBody>
      </p:sp>
      <p:sp>
        <p:nvSpPr>
          <p:cNvPr id="50" name="Shape 48"/>
          <p:cNvSpPr/>
          <p:nvPr/>
        </p:nvSpPr>
        <p:spPr>
          <a:xfrm>
            <a:off x="8886676" y="5539829"/>
            <a:ext cx="16192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1" name="Text 49"/>
          <p:cNvSpPr/>
          <p:nvPr/>
        </p:nvSpPr>
        <p:spPr>
          <a:xfrm>
            <a:off x="8886676" y="5044529"/>
            <a:ext cx="15049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2025" dirty="0"/>
          </a:p>
        </p:txBody>
      </p:sp>
      <p:sp>
        <p:nvSpPr>
          <p:cNvPr id="52" name="Shape 50"/>
          <p:cNvSpPr/>
          <p:nvPr/>
        </p:nvSpPr>
        <p:spPr>
          <a:xfrm>
            <a:off x="10505926" y="5539829"/>
            <a:ext cx="682957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3" name="Text 51"/>
          <p:cNvSpPr/>
          <p:nvPr/>
        </p:nvSpPr>
        <p:spPr>
          <a:xfrm>
            <a:off x="10505926" y="5044529"/>
            <a:ext cx="70344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calibrated LinearSVC</a:t>
            </a:r>
            <a:endParaRPr lang="en-US" sz="2025" dirty="0"/>
          </a:p>
        </p:txBody>
      </p:sp>
      <p:sp>
        <p:nvSpPr>
          <p:cNvPr id="54" name="Shape 52"/>
          <p:cNvSpPr/>
          <p:nvPr/>
        </p:nvSpPr>
        <p:spPr>
          <a:xfrm>
            <a:off x="952500" y="6539954"/>
            <a:ext cx="9525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5" name="Text 53"/>
          <p:cNvSpPr/>
          <p:nvPr/>
        </p:nvSpPr>
        <p:spPr>
          <a:xfrm>
            <a:off x="952500" y="5711279"/>
            <a:ext cx="838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/ D2</a:t>
            </a:r>
            <a:endParaRPr lang="en-US" sz="2025" dirty="0"/>
          </a:p>
        </p:txBody>
      </p:sp>
      <p:sp>
        <p:nvSpPr>
          <p:cNvPr id="56" name="Shape 54"/>
          <p:cNvSpPr/>
          <p:nvPr/>
        </p:nvSpPr>
        <p:spPr>
          <a:xfrm>
            <a:off x="1905000" y="6539954"/>
            <a:ext cx="37783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7" name="Text 55"/>
          <p:cNvSpPr/>
          <p:nvPr/>
        </p:nvSpPr>
        <p:spPr>
          <a:xfrm>
            <a:off x="1905000" y="5711279"/>
            <a:ext cx="370114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distilgpt2-d1, -d2</a:t>
            </a:r>
            <a:endParaRPr lang="en-US" sz="2025" dirty="0"/>
          </a:p>
        </p:txBody>
      </p:sp>
      <p:sp>
        <p:nvSpPr>
          <p:cNvPr id="58" name="Shape 56"/>
          <p:cNvSpPr/>
          <p:nvPr/>
        </p:nvSpPr>
        <p:spPr>
          <a:xfrm>
            <a:off x="5683300" y="6539954"/>
            <a:ext cx="32033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9" name="Text 57"/>
          <p:cNvSpPr/>
          <p:nvPr/>
        </p:nvSpPr>
        <p:spPr>
          <a:xfrm>
            <a:off x="5683300" y="5711279"/>
            <a:ext cx="31089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decoder, 0-shot</a:t>
            </a:r>
            <a:endParaRPr lang="en-US" sz="2025" dirty="0"/>
          </a:p>
        </p:txBody>
      </p:sp>
      <p:sp>
        <p:nvSpPr>
          <p:cNvPr id="60" name="Shape 58"/>
          <p:cNvSpPr/>
          <p:nvPr/>
        </p:nvSpPr>
        <p:spPr>
          <a:xfrm>
            <a:off x="8886676" y="6539954"/>
            <a:ext cx="16192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61" name="Text 59"/>
          <p:cNvSpPr/>
          <p:nvPr/>
        </p:nvSpPr>
        <p:spPr>
          <a:xfrm>
            <a:off x="8886676" y="5711279"/>
            <a:ext cx="1504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82M</a:t>
            </a:r>
            <a:endParaRPr lang="en-US" sz="2025" dirty="0"/>
          </a:p>
        </p:txBody>
      </p:sp>
      <p:sp>
        <p:nvSpPr>
          <p:cNvPr id="62" name="Shape 60"/>
          <p:cNvSpPr/>
          <p:nvPr/>
        </p:nvSpPr>
        <p:spPr>
          <a:xfrm>
            <a:off x="10505926" y="6539954"/>
            <a:ext cx="682957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63" name="Text 61"/>
          <p:cNvSpPr/>
          <p:nvPr/>
        </p:nvSpPr>
        <p:spPr>
          <a:xfrm>
            <a:off x="10505926" y="5711279"/>
            <a:ext cx="70344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Yes/no vs. fill-in-blank prompt · log-prob comparison</a:t>
            </a:r>
            <a:endParaRPr lang="en-US" sz="2025" dirty="0"/>
          </a:p>
        </p:txBody>
      </p:sp>
      <p:sp>
        <p:nvSpPr>
          <p:cNvPr id="64" name="Shape 62"/>
          <p:cNvSpPr/>
          <p:nvPr/>
        </p:nvSpPr>
        <p:spPr>
          <a:xfrm>
            <a:off x="952500" y="7540079"/>
            <a:ext cx="9525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65" name="Text 63"/>
          <p:cNvSpPr/>
          <p:nvPr/>
        </p:nvSpPr>
        <p:spPr>
          <a:xfrm>
            <a:off x="952500" y="6711404"/>
            <a:ext cx="838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D1-ft</a:t>
            </a:r>
            <a:endParaRPr lang="en-US" sz="2025" dirty="0"/>
          </a:p>
        </p:txBody>
      </p:sp>
      <p:sp>
        <p:nvSpPr>
          <p:cNvPr id="66" name="Shape 64"/>
          <p:cNvSpPr/>
          <p:nvPr/>
        </p:nvSpPr>
        <p:spPr>
          <a:xfrm>
            <a:off x="1905000" y="7540079"/>
            <a:ext cx="37783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67" name="Text 65"/>
          <p:cNvSpPr/>
          <p:nvPr/>
        </p:nvSpPr>
        <p:spPr>
          <a:xfrm>
            <a:off x="1905000" y="6711404"/>
            <a:ext cx="370114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distilgpt2-d1-ft</a:t>
            </a:r>
            <a:endParaRPr lang="en-US" sz="2025" dirty="0"/>
          </a:p>
        </p:txBody>
      </p:sp>
      <p:sp>
        <p:nvSpPr>
          <p:cNvPr id="68" name="Shape 66"/>
          <p:cNvSpPr/>
          <p:nvPr/>
        </p:nvSpPr>
        <p:spPr>
          <a:xfrm>
            <a:off x="5683300" y="7540079"/>
            <a:ext cx="32033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69" name="Text 67"/>
          <p:cNvSpPr/>
          <p:nvPr/>
        </p:nvSpPr>
        <p:spPr>
          <a:xfrm>
            <a:off x="5683300" y="6711404"/>
            <a:ext cx="310897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decoder</a:t>
            </a:r>
            <a:endParaRPr lang="en-US" sz="2025" dirty="0"/>
          </a:p>
        </p:txBody>
      </p:sp>
      <p:sp>
        <p:nvSpPr>
          <p:cNvPr id="70" name="Shape 68"/>
          <p:cNvSpPr/>
          <p:nvPr/>
        </p:nvSpPr>
        <p:spPr>
          <a:xfrm>
            <a:off x="8886676" y="7540079"/>
            <a:ext cx="16192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71" name="Text 69"/>
          <p:cNvSpPr/>
          <p:nvPr/>
        </p:nvSpPr>
        <p:spPr>
          <a:xfrm>
            <a:off x="8886676" y="6711404"/>
            <a:ext cx="1504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82M</a:t>
            </a:r>
            <a:endParaRPr lang="en-US" sz="2025" dirty="0"/>
          </a:p>
        </p:txBody>
      </p:sp>
      <p:sp>
        <p:nvSpPr>
          <p:cNvPr id="72" name="Shape 70"/>
          <p:cNvSpPr/>
          <p:nvPr/>
        </p:nvSpPr>
        <p:spPr>
          <a:xfrm>
            <a:off x="10505926" y="7540079"/>
            <a:ext cx="682957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73" name="Text 71"/>
          <p:cNvSpPr/>
          <p:nvPr/>
        </p:nvSpPr>
        <p:spPr>
          <a:xfrm>
            <a:off x="10505926" y="6711404"/>
            <a:ext cx="70344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fine-tuned on answer token · Colab 20k×4; local 800×2</a:t>
            </a:r>
            <a:endParaRPr lang="en-US" sz="2025" dirty="0"/>
          </a:p>
        </p:txBody>
      </p:sp>
      <p:sp>
        <p:nvSpPr>
          <p:cNvPr id="74" name="Shape 72"/>
          <p:cNvSpPr/>
          <p:nvPr/>
        </p:nvSpPr>
        <p:spPr>
          <a:xfrm>
            <a:off x="952500" y="8206829"/>
            <a:ext cx="9525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75" name="Text 73"/>
          <p:cNvSpPr/>
          <p:nvPr/>
        </p:nvSpPr>
        <p:spPr>
          <a:xfrm>
            <a:off x="952500" y="7711529"/>
            <a:ext cx="838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2025" dirty="0"/>
          </a:p>
        </p:txBody>
      </p:sp>
      <p:sp>
        <p:nvSpPr>
          <p:cNvPr id="76" name="Shape 74"/>
          <p:cNvSpPr/>
          <p:nvPr/>
        </p:nvSpPr>
        <p:spPr>
          <a:xfrm>
            <a:off x="1905000" y="8206829"/>
            <a:ext cx="37783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77" name="Text 75"/>
          <p:cNvSpPr/>
          <p:nvPr/>
        </p:nvSpPr>
        <p:spPr>
          <a:xfrm>
            <a:off x="1905000" y="7711529"/>
            <a:ext cx="37011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distilbert-student</a:t>
            </a:r>
            <a:endParaRPr lang="en-US" sz="2025" dirty="0"/>
          </a:p>
        </p:txBody>
      </p:sp>
      <p:sp>
        <p:nvSpPr>
          <p:cNvPr id="78" name="Shape 76"/>
          <p:cNvSpPr/>
          <p:nvPr/>
        </p:nvSpPr>
        <p:spPr>
          <a:xfrm>
            <a:off x="5683300" y="8206829"/>
            <a:ext cx="32033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79" name="Text 77"/>
          <p:cNvSpPr/>
          <p:nvPr/>
        </p:nvSpPr>
        <p:spPr>
          <a:xfrm>
            <a:off x="5683300" y="7711529"/>
            <a:ext cx="31089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</a:t>
            </a:r>
            <a:endParaRPr lang="en-US" sz="2025" dirty="0"/>
          </a:p>
        </p:txBody>
      </p:sp>
      <p:sp>
        <p:nvSpPr>
          <p:cNvPr id="80" name="Shape 78"/>
          <p:cNvSpPr/>
          <p:nvPr/>
        </p:nvSpPr>
        <p:spPr>
          <a:xfrm>
            <a:off x="8886676" y="8206829"/>
            <a:ext cx="16192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81" name="Text 79"/>
          <p:cNvSpPr/>
          <p:nvPr/>
        </p:nvSpPr>
        <p:spPr>
          <a:xfrm>
            <a:off x="8886676" y="7711529"/>
            <a:ext cx="15049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67M</a:t>
            </a:r>
            <a:endParaRPr lang="en-US" sz="2025" dirty="0"/>
          </a:p>
        </p:txBody>
      </p:sp>
      <p:sp>
        <p:nvSpPr>
          <p:cNvPr id="82" name="Shape 80"/>
          <p:cNvSpPr/>
          <p:nvPr/>
        </p:nvSpPr>
        <p:spPr>
          <a:xfrm>
            <a:off x="10505926" y="8206829"/>
            <a:ext cx="682957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83" name="Text 81"/>
          <p:cNvSpPr/>
          <p:nvPr/>
        </p:nvSpPr>
        <p:spPr>
          <a:xfrm>
            <a:off x="10505926" y="7711529"/>
            <a:ext cx="70344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from E2, T = 2, α = 0.7 · Colab 20k×4; local 4k×2</a:t>
            </a:r>
            <a:endParaRPr lang="en-US" sz="2025" dirty="0"/>
          </a:p>
        </p:txBody>
      </p:sp>
      <p:sp>
        <p:nvSpPr>
          <p:cNvPr id="84" name="Shape 82"/>
          <p:cNvSpPr/>
          <p:nvPr/>
        </p:nvSpPr>
        <p:spPr>
          <a:xfrm>
            <a:off x="952500" y="8751689"/>
            <a:ext cx="38100" cy="773311"/>
          </a:xfrm>
          <a:prstGeom prst="rect">
            <a:avLst/>
          </a:prstGeom>
          <a:solidFill>
            <a:srgbClr val="00939A"/>
          </a:solidFill>
          <a:ln/>
        </p:spPr>
      </p:sp>
      <p:sp>
        <p:nvSpPr>
          <p:cNvPr id="85" name="Text 83"/>
          <p:cNvSpPr/>
          <p:nvPr/>
        </p:nvSpPr>
        <p:spPr>
          <a:xfrm>
            <a:off x="1238250" y="8751689"/>
            <a:ext cx="14724697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and E1-p are the same pretrained checkpoint used two ways. They share every weight, so the read-out mechanism is the only variable a gap between them can be blamed on.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CONTROL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85"/>
              </a:lnSpc>
              <a:buNone/>
            </a:pPr>
            <a:r>
              <a:rPr lang="en-US" sz="48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checkpoint, three configurations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091309"/>
            <a:ext cx="4457700" cy="1769566"/>
          </a:xfrm>
          <a:prstGeom prst="rect">
            <a:avLst/>
          </a:prstGeom>
          <a:solidFill>
            <a:srgbClr val="22211D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3396109"/>
            <a:ext cx="419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C9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bert-base-uncased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76350" y="3862834"/>
            <a:ext cx="392430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layers, 109M params, ships with an MLM head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695950" y="3961805"/>
            <a:ext cx="571500" cy="28575"/>
          </a:xfrm>
          <a:prstGeom prst="rect">
            <a:avLst/>
          </a:prstGeom>
          <a:solidFill>
            <a:srgbClr val="B8B3AA"/>
          </a:solidFill>
          <a:ln/>
        </p:spPr>
      </p:sp>
      <p:sp>
        <p:nvSpPr>
          <p:cNvPr id="8" name="Shape 6"/>
          <p:cNvSpPr/>
          <p:nvPr/>
        </p:nvSpPr>
        <p:spPr>
          <a:xfrm>
            <a:off x="6553200" y="2487067"/>
            <a:ext cx="3429000" cy="2978200"/>
          </a:xfrm>
          <a:prstGeom prst="rect">
            <a:avLst/>
          </a:prstGeom>
          <a:solidFill>
            <a:srgbClr val="EAE6E0"/>
          </a:solidFill>
          <a:ln/>
        </p:spPr>
      </p:sp>
      <p:sp>
        <p:nvSpPr>
          <p:cNvPr id="9" name="Shape 7"/>
          <p:cNvSpPr/>
          <p:nvPr/>
        </p:nvSpPr>
        <p:spPr>
          <a:xfrm>
            <a:off x="6553200" y="2487067"/>
            <a:ext cx="3429000" cy="47625"/>
          </a:xfrm>
          <a:prstGeom prst="rect">
            <a:avLst/>
          </a:prstGeom>
          <a:solidFill>
            <a:srgbClr val="B8B3AA"/>
          </a:solidFill>
          <a:ln/>
        </p:spPr>
      </p:sp>
      <p:sp>
        <p:nvSpPr>
          <p:cNvPr id="10" name="Text 8"/>
          <p:cNvSpPr/>
          <p:nvPr/>
        </p:nvSpPr>
        <p:spPr>
          <a:xfrm>
            <a:off x="6838950" y="2820442"/>
            <a:ext cx="3143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E1-p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38950" y="3277642"/>
            <a:ext cx="294322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21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MLM head, train nothing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6838950" y="4101554"/>
            <a:ext cx="2943225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read-out over two vocabulary logits at a masked position.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229850" y="2487067"/>
            <a:ext cx="3429000" cy="2978200"/>
          </a:xfrm>
          <a:prstGeom prst="rect">
            <a:avLst/>
          </a:prstGeom>
          <a:solidFill>
            <a:srgbClr val="EAE6E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29850" y="2487067"/>
            <a:ext cx="3429000" cy="47625"/>
          </a:xfrm>
          <a:prstGeom prst="rect">
            <a:avLst/>
          </a:prstGeom>
          <a:solidFill>
            <a:srgbClr val="009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2820442"/>
            <a:ext cx="3143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515600" y="3277642"/>
            <a:ext cx="2943225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21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classification head, fine-tune all weights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0515600" y="4446836"/>
            <a:ext cx="294322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Ours: 12k rows on CPU, one sigmoid output.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3906500" y="2487067"/>
            <a:ext cx="3429000" cy="2978200"/>
          </a:xfrm>
          <a:prstGeom prst="rect">
            <a:avLst/>
          </a:prstGeom>
          <a:solidFill>
            <a:srgbClr val="EAE6E0"/>
          </a:solidFill>
          <a:ln/>
        </p:spPr>
      </p:sp>
      <p:sp>
        <p:nvSpPr>
          <p:cNvPr id="19" name="Shape 17"/>
          <p:cNvSpPr/>
          <p:nvPr/>
        </p:nvSpPr>
        <p:spPr>
          <a:xfrm>
            <a:off x="13906500" y="2487067"/>
            <a:ext cx="3429000" cy="47625"/>
          </a:xfrm>
          <a:prstGeom prst="rect">
            <a:avLst/>
          </a:prstGeom>
          <a:solidFill>
            <a:srgbClr val="B96365"/>
          </a:solidFill>
          <a:ln/>
        </p:spPr>
      </p:sp>
      <p:sp>
        <p:nvSpPr>
          <p:cNvPr id="20" name="Text 18"/>
          <p:cNvSpPr/>
          <p:nvPr/>
        </p:nvSpPr>
        <p:spPr>
          <a:xfrm>
            <a:off x="14192250" y="2820442"/>
            <a:ext cx="3143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4192250" y="3277642"/>
            <a:ext cx="294322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217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procedure at a different scale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14192250" y="4101554"/>
            <a:ext cx="294322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Unitary: 159k rows on GPU, six sigmoid outputs.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2500" y="8368903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52500" y="8778478"/>
            <a:ext cx="5258562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bias is learned from labeled task data.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591300" y="8368903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591300" y="8778478"/>
            <a:ext cx="5258562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Distillation preserves accuracy but amplifies the teacher's bias.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2230100" y="8368903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230100" y="8778478"/>
            <a:ext cx="5258562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trained discriminative head beats zero-shot prompting at this scale.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6AC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85"/>
              </a:lnSpc>
              <a:buNone/>
            </a:pPr>
            <a:r>
              <a:rPr lang="en-US" sz="4800" dirty="0">
                <a:solidFill>
                  <a:srgbClr val="F5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interface, one subset, three probes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525167"/>
            <a:ext cx="415956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6AC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159,571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3515767"/>
            <a:ext cx="415956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Jigsaw train rows, split 85 / 15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153025" y="2525167"/>
            <a:ext cx="415956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6AC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63,978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153025" y="3515767"/>
            <a:ext cx="415956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test rows available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353550" y="2525167"/>
            <a:ext cx="415956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6AC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9353550" y="3515767"/>
            <a:ext cx="3894868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headline subset, all models on CPU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554075" y="2525167"/>
            <a:ext cx="415956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6AC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368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3554075" y="3515767"/>
            <a:ext cx="3894868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probe sentences, 23 fillers × 16 templates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7022306"/>
            <a:ext cx="5206901" cy="2502694"/>
          </a:xfrm>
          <a:prstGeom prst="rect">
            <a:avLst/>
          </a:prstGeom>
          <a:solidFill>
            <a:srgbClr val="2E2C27"/>
          </a:solidFill>
          <a:ln/>
        </p:spPr>
      </p:sp>
      <p:sp>
        <p:nvSpPr>
          <p:cNvPr id="13" name="Text 11"/>
          <p:cNvSpPr/>
          <p:nvPr/>
        </p:nvSpPr>
        <p:spPr>
          <a:xfrm>
            <a:off x="1276350" y="7327106"/>
            <a:ext cx="50151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versus cost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76350" y="7784306"/>
            <a:ext cx="4695977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F1, PR-AUC and ROC-AUC reported alongside parameter count and ms/comment. Accuracy is not reported: at ~10% positives it rewards silence.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540401" y="7022306"/>
            <a:ext cx="5207050" cy="2502694"/>
          </a:xfrm>
          <a:prstGeom prst="rect">
            <a:avLst/>
          </a:prstGeom>
          <a:solidFill>
            <a:srgbClr val="2E2C27"/>
          </a:solidFill>
          <a:ln/>
        </p:spPr>
      </p:sp>
      <p:sp>
        <p:nvSpPr>
          <p:cNvPr id="16" name="Text 14"/>
          <p:cNvSpPr/>
          <p:nvPr/>
        </p:nvSpPr>
        <p:spPr>
          <a:xfrm>
            <a:off x="6864251" y="7327106"/>
            <a:ext cx="50152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fairness probe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864251" y="7784306"/>
            <a:ext cx="4696130" cy="147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templates filled with 21 identity terms, following Dixon et al. Nothing is toxic by construction, so every positive is a false positive.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128450" y="7022306"/>
            <a:ext cx="5207050" cy="2502694"/>
          </a:xfrm>
          <a:prstGeom prst="rect">
            <a:avLst/>
          </a:prstGeom>
          <a:solidFill>
            <a:srgbClr val="2E2C27"/>
          </a:solidFill>
          <a:ln/>
        </p:spPr>
      </p:sp>
      <p:sp>
        <p:nvSpPr>
          <p:cNvPr id="19" name="Text 17"/>
          <p:cNvSpPr/>
          <p:nvPr/>
        </p:nvSpPr>
        <p:spPr>
          <a:xfrm>
            <a:off x="12452300" y="7327106"/>
            <a:ext cx="50152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Perturbation suite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52300" y="7784306"/>
            <a:ext cx="4696130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human-readable obfuscations of already-detected comments. A comment evades when its score falls below 0.5.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SHARED N = 800 SUBSET, CPU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85"/>
              </a:lnSpc>
              <a:buNone/>
            </a:pPr>
            <a:r>
              <a:rPr lang="en-US" sz="48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versus efficiency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844254"/>
            <a:ext cx="4422577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429917"/>
            <a:ext cx="438380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5375077" y="2844254"/>
            <a:ext cx="933004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7" name="Text 5"/>
          <p:cNvSpPr/>
          <p:nvPr/>
        </p:nvSpPr>
        <p:spPr>
          <a:xfrm>
            <a:off x="5375077" y="2429917"/>
            <a:ext cx="83775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308080" y="2844254"/>
            <a:ext cx="1180058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9" name="Text 7"/>
          <p:cNvSpPr/>
          <p:nvPr/>
        </p:nvSpPr>
        <p:spPr>
          <a:xfrm>
            <a:off x="6308080" y="2429917"/>
            <a:ext cx="108480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7488138" y="2844254"/>
            <a:ext cx="1398389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11" name="Text 9"/>
          <p:cNvSpPr/>
          <p:nvPr/>
        </p:nvSpPr>
        <p:spPr>
          <a:xfrm>
            <a:off x="7488138" y="2429917"/>
            <a:ext cx="130313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8886527" y="2844254"/>
            <a:ext cx="472232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13" name="Text 11"/>
          <p:cNvSpPr/>
          <p:nvPr/>
        </p:nvSpPr>
        <p:spPr>
          <a:xfrm>
            <a:off x="8886527" y="2429917"/>
            <a:ext cx="5484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52500" y="3501479"/>
            <a:ext cx="44225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3015704"/>
            <a:ext cx="43838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toxic-bert (E2)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5375077" y="3501479"/>
            <a:ext cx="93300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17" name="Text 15"/>
          <p:cNvSpPr/>
          <p:nvPr/>
        </p:nvSpPr>
        <p:spPr>
          <a:xfrm>
            <a:off x="5375077" y="3015704"/>
            <a:ext cx="8377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0.752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6308080" y="3501479"/>
            <a:ext cx="1180058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19" name="Text 17"/>
          <p:cNvSpPr/>
          <p:nvPr/>
        </p:nvSpPr>
        <p:spPr>
          <a:xfrm>
            <a:off x="6308080" y="3015704"/>
            <a:ext cx="10848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0.835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7488138" y="3501479"/>
            <a:ext cx="1398389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138" y="3015704"/>
            <a:ext cx="13031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0.979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8886527" y="3501479"/>
            <a:ext cx="472232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3" name="Text 21"/>
          <p:cNvSpPr/>
          <p:nvPr/>
        </p:nvSpPr>
        <p:spPr>
          <a:xfrm>
            <a:off x="8886527" y="3015704"/>
            <a:ext cx="5484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52500" y="4130129"/>
            <a:ext cx="44225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3653879"/>
            <a:ext cx="43838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tfidf-svm (E0)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5375077" y="4130129"/>
            <a:ext cx="93300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7" name="Text 25"/>
          <p:cNvSpPr/>
          <p:nvPr/>
        </p:nvSpPr>
        <p:spPr>
          <a:xfrm>
            <a:off x="5375077" y="3653879"/>
            <a:ext cx="837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0.703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6308080" y="4130129"/>
            <a:ext cx="1180058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9" name="Text 27"/>
          <p:cNvSpPr/>
          <p:nvPr/>
        </p:nvSpPr>
        <p:spPr>
          <a:xfrm>
            <a:off x="6308080" y="3653879"/>
            <a:ext cx="10848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0.784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7488138" y="4130129"/>
            <a:ext cx="1398389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1" name="Text 29"/>
          <p:cNvSpPr/>
          <p:nvPr/>
        </p:nvSpPr>
        <p:spPr>
          <a:xfrm>
            <a:off x="7488138" y="3653879"/>
            <a:ext cx="13031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0.958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8886527" y="4130129"/>
            <a:ext cx="472232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3" name="Text 31"/>
          <p:cNvSpPr/>
          <p:nvPr/>
        </p:nvSpPr>
        <p:spPr>
          <a:xfrm>
            <a:off x="8886527" y="3653879"/>
            <a:ext cx="5484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68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952500" y="4758779"/>
            <a:ext cx="44225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4282529"/>
            <a:ext cx="43838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bert-base-classifier (E1)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5375077" y="4758779"/>
            <a:ext cx="93300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7" name="Text 35"/>
          <p:cNvSpPr/>
          <p:nvPr/>
        </p:nvSpPr>
        <p:spPr>
          <a:xfrm>
            <a:off x="5375077" y="4282529"/>
            <a:ext cx="837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0.675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6308080" y="4758779"/>
            <a:ext cx="1180058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9" name="Text 37"/>
          <p:cNvSpPr/>
          <p:nvPr/>
        </p:nvSpPr>
        <p:spPr>
          <a:xfrm>
            <a:off x="6308080" y="4282529"/>
            <a:ext cx="10848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0.791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7488138" y="4758779"/>
            <a:ext cx="1398389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1" name="Text 39"/>
          <p:cNvSpPr/>
          <p:nvPr/>
        </p:nvSpPr>
        <p:spPr>
          <a:xfrm>
            <a:off x="7488138" y="4282529"/>
            <a:ext cx="13031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0.961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8886527" y="4758779"/>
            <a:ext cx="472232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3" name="Text 41"/>
          <p:cNvSpPr/>
          <p:nvPr/>
        </p:nvSpPr>
        <p:spPr>
          <a:xfrm>
            <a:off x="8886527" y="4282529"/>
            <a:ext cx="5484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952500" y="5387429"/>
            <a:ext cx="44225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5" name="Text 43"/>
          <p:cNvSpPr/>
          <p:nvPr/>
        </p:nvSpPr>
        <p:spPr>
          <a:xfrm>
            <a:off x="952500" y="4911179"/>
            <a:ext cx="43838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bert-base-mlm-prompt (E1-p)</a:t>
            </a:r>
            <a:endParaRPr lang="en-US" sz="2025" dirty="0"/>
          </a:p>
        </p:txBody>
      </p:sp>
      <p:sp>
        <p:nvSpPr>
          <p:cNvPr id="46" name="Shape 44"/>
          <p:cNvSpPr/>
          <p:nvPr/>
        </p:nvSpPr>
        <p:spPr>
          <a:xfrm>
            <a:off x="5375077" y="5387429"/>
            <a:ext cx="93300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7" name="Text 45"/>
          <p:cNvSpPr/>
          <p:nvPr/>
        </p:nvSpPr>
        <p:spPr>
          <a:xfrm>
            <a:off x="5375077" y="4911179"/>
            <a:ext cx="837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0.000*</a:t>
            </a:r>
            <a:endParaRPr lang="en-US" sz="2025" dirty="0"/>
          </a:p>
        </p:txBody>
      </p:sp>
      <p:sp>
        <p:nvSpPr>
          <p:cNvPr id="48" name="Shape 46"/>
          <p:cNvSpPr/>
          <p:nvPr/>
        </p:nvSpPr>
        <p:spPr>
          <a:xfrm>
            <a:off x="6308080" y="5387429"/>
            <a:ext cx="1180058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9" name="Text 47"/>
          <p:cNvSpPr/>
          <p:nvPr/>
        </p:nvSpPr>
        <p:spPr>
          <a:xfrm>
            <a:off x="6308080" y="4911179"/>
            <a:ext cx="10848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0.227</a:t>
            </a:r>
            <a:endParaRPr lang="en-US" sz="2025" dirty="0"/>
          </a:p>
        </p:txBody>
      </p:sp>
      <p:sp>
        <p:nvSpPr>
          <p:cNvPr id="50" name="Shape 48"/>
          <p:cNvSpPr/>
          <p:nvPr/>
        </p:nvSpPr>
        <p:spPr>
          <a:xfrm>
            <a:off x="7488138" y="5387429"/>
            <a:ext cx="1398389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1" name="Text 49"/>
          <p:cNvSpPr/>
          <p:nvPr/>
        </p:nvSpPr>
        <p:spPr>
          <a:xfrm>
            <a:off x="7488138" y="4911179"/>
            <a:ext cx="13031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0.722</a:t>
            </a:r>
            <a:endParaRPr lang="en-US" sz="2025" dirty="0"/>
          </a:p>
        </p:txBody>
      </p:sp>
      <p:sp>
        <p:nvSpPr>
          <p:cNvPr id="52" name="Shape 50"/>
          <p:cNvSpPr/>
          <p:nvPr/>
        </p:nvSpPr>
        <p:spPr>
          <a:xfrm>
            <a:off x="8886527" y="5387429"/>
            <a:ext cx="472232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3" name="Text 51"/>
          <p:cNvSpPr/>
          <p:nvPr/>
        </p:nvSpPr>
        <p:spPr>
          <a:xfrm>
            <a:off x="8886527" y="4911179"/>
            <a:ext cx="5484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</a:t>
            </a:r>
            <a:endParaRPr lang="en-US" sz="2025" dirty="0"/>
          </a:p>
        </p:txBody>
      </p:sp>
      <p:sp>
        <p:nvSpPr>
          <p:cNvPr id="54" name="Shape 52"/>
          <p:cNvSpPr/>
          <p:nvPr/>
        </p:nvSpPr>
        <p:spPr>
          <a:xfrm>
            <a:off x="952500" y="6016079"/>
            <a:ext cx="44225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5" name="Text 53"/>
          <p:cNvSpPr/>
          <p:nvPr/>
        </p:nvSpPr>
        <p:spPr>
          <a:xfrm>
            <a:off x="952500" y="5539829"/>
            <a:ext cx="43838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distilgpt2-d2 (0-shot)</a:t>
            </a:r>
            <a:endParaRPr lang="en-US" sz="2025" dirty="0"/>
          </a:p>
        </p:txBody>
      </p:sp>
      <p:sp>
        <p:nvSpPr>
          <p:cNvPr id="56" name="Shape 54"/>
          <p:cNvSpPr/>
          <p:nvPr/>
        </p:nvSpPr>
        <p:spPr>
          <a:xfrm>
            <a:off x="5375077" y="6016079"/>
            <a:ext cx="93300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7" name="Text 55"/>
          <p:cNvSpPr/>
          <p:nvPr/>
        </p:nvSpPr>
        <p:spPr>
          <a:xfrm>
            <a:off x="5375077" y="5539829"/>
            <a:ext cx="837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0.202</a:t>
            </a:r>
            <a:endParaRPr lang="en-US" sz="2025" dirty="0"/>
          </a:p>
        </p:txBody>
      </p:sp>
      <p:sp>
        <p:nvSpPr>
          <p:cNvPr id="58" name="Shape 56"/>
          <p:cNvSpPr/>
          <p:nvPr/>
        </p:nvSpPr>
        <p:spPr>
          <a:xfrm>
            <a:off x="6308080" y="6016079"/>
            <a:ext cx="1180058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9" name="Text 57"/>
          <p:cNvSpPr/>
          <p:nvPr/>
        </p:nvSpPr>
        <p:spPr>
          <a:xfrm>
            <a:off x="6308080" y="5539829"/>
            <a:ext cx="10848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0.098</a:t>
            </a:r>
            <a:endParaRPr lang="en-US" sz="2025" dirty="0"/>
          </a:p>
        </p:txBody>
      </p:sp>
      <p:sp>
        <p:nvSpPr>
          <p:cNvPr id="60" name="Shape 58"/>
          <p:cNvSpPr/>
          <p:nvPr/>
        </p:nvSpPr>
        <p:spPr>
          <a:xfrm>
            <a:off x="7488138" y="6016079"/>
            <a:ext cx="1398389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61" name="Text 59"/>
          <p:cNvSpPr/>
          <p:nvPr/>
        </p:nvSpPr>
        <p:spPr>
          <a:xfrm>
            <a:off x="7488138" y="5539829"/>
            <a:ext cx="13031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0.457</a:t>
            </a:r>
            <a:endParaRPr lang="en-US" sz="2025" dirty="0"/>
          </a:p>
        </p:txBody>
      </p:sp>
      <p:sp>
        <p:nvSpPr>
          <p:cNvPr id="62" name="Shape 60"/>
          <p:cNvSpPr/>
          <p:nvPr/>
        </p:nvSpPr>
        <p:spPr>
          <a:xfrm>
            <a:off x="8886527" y="6016079"/>
            <a:ext cx="472232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63" name="Text 61"/>
          <p:cNvSpPr/>
          <p:nvPr/>
        </p:nvSpPr>
        <p:spPr>
          <a:xfrm>
            <a:off x="8886527" y="5539829"/>
            <a:ext cx="5484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645</a:t>
            </a:r>
            <a:endParaRPr lang="en-US" sz="2025" dirty="0"/>
          </a:p>
        </p:txBody>
      </p:sp>
      <p:sp>
        <p:nvSpPr>
          <p:cNvPr id="64" name="Shape 62"/>
          <p:cNvSpPr/>
          <p:nvPr/>
        </p:nvSpPr>
        <p:spPr>
          <a:xfrm>
            <a:off x="952500" y="6644729"/>
            <a:ext cx="44225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65" name="Text 63"/>
          <p:cNvSpPr/>
          <p:nvPr/>
        </p:nvSpPr>
        <p:spPr>
          <a:xfrm>
            <a:off x="952500" y="6168479"/>
            <a:ext cx="43838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distilgpt2-d1 (0-shot)</a:t>
            </a:r>
            <a:endParaRPr lang="en-US" sz="2025" dirty="0"/>
          </a:p>
        </p:txBody>
      </p:sp>
      <p:sp>
        <p:nvSpPr>
          <p:cNvPr id="66" name="Shape 64"/>
          <p:cNvSpPr/>
          <p:nvPr/>
        </p:nvSpPr>
        <p:spPr>
          <a:xfrm>
            <a:off x="5375077" y="6644729"/>
            <a:ext cx="93300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67" name="Text 65"/>
          <p:cNvSpPr/>
          <p:nvPr/>
        </p:nvSpPr>
        <p:spPr>
          <a:xfrm>
            <a:off x="5375077" y="6168479"/>
            <a:ext cx="837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0.163</a:t>
            </a:r>
            <a:endParaRPr lang="en-US" sz="2025" dirty="0"/>
          </a:p>
        </p:txBody>
      </p:sp>
      <p:sp>
        <p:nvSpPr>
          <p:cNvPr id="68" name="Shape 66"/>
          <p:cNvSpPr/>
          <p:nvPr/>
        </p:nvSpPr>
        <p:spPr>
          <a:xfrm>
            <a:off x="6308080" y="6644729"/>
            <a:ext cx="1180058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69" name="Text 67"/>
          <p:cNvSpPr/>
          <p:nvPr/>
        </p:nvSpPr>
        <p:spPr>
          <a:xfrm>
            <a:off x="6308080" y="6168479"/>
            <a:ext cx="10848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0.100</a:t>
            </a:r>
            <a:endParaRPr lang="en-US" sz="2025" dirty="0"/>
          </a:p>
        </p:txBody>
      </p:sp>
      <p:sp>
        <p:nvSpPr>
          <p:cNvPr id="70" name="Shape 68"/>
          <p:cNvSpPr/>
          <p:nvPr/>
        </p:nvSpPr>
        <p:spPr>
          <a:xfrm>
            <a:off x="7488138" y="6644729"/>
            <a:ext cx="1398389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71" name="Text 69"/>
          <p:cNvSpPr/>
          <p:nvPr/>
        </p:nvSpPr>
        <p:spPr>
          <a:xfrm>
            <a:off x="7488138" y="6168479"/>
            <a:ext cx="13031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0.389</a:t>
            </a:r>
            <a:endParaRPr lang="en-US" sz="2025" dirty="0"/>
          </a:p>
        </p:txBody>
      </p:sp>
      <p:sp>
        <p:nvSpPr>
          <p:cNvPr id="72" name="Shape 70"/>
          <p:cNvSpPr/>
          <p:nvPr/>
        </p:nvSpPr>
        <p:spPr>
          <a:xfrm>
            <a:off x="8886527" y="6644729"/>
            <a:ext cx="472232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73" name="Text 71"/>
          <p:cNvSpPr/>
          <p:nvPr/>
        </p:nvSpPr>
        <p:spPr>
          <a:xfrm>
            <a:off x="8886527" y="6168479"/>
            <a:ext cx="5484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649</a:t>
            </a:r>
            <a:endParaRPr lang="en-US" sz="2025" dirty="0"/>
          </a:p>
        </p:txBody>
      </p:sp>
      <p:sp>
        <p:nvSpPr>
          <p:cNvPr id="74" name="Shape 72"/>
          <p:cNvSpPr/>
          <p:nvPr/>
        </p:nvSpPr>
        <p:spPr>
          <a:xfrm>
            <a:off x="952500" y="7273379"/>
            <a:ext cx="44225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75" name="Text 73"/>
          <p:cNvSpPr/>
          <p:nvPr/>
        </p:nvSpPr>
        <p:spPr>
          <a:xfrm>
            <a:off x="952500" y="6797129"/>
            <a:ext cx="43838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distilbert-student (S1)</a:t>
            </a:r>
            <a:endParaRPr lang="en-US" sz="2025" dirty="0"/>
          </a:p>
        </p:txBody>
      </p:sp>
      <p:sp>
        <p:nvSpPr>
          <p:cNvPr id="76" name="Shape 74"/>
          <p:cNvSpPr/>
          <p:nvPr/>
        </p:nvSpPr>
        <p:spPr>
          <a:xfrm>
            <a:off x="5375077" y="6654254"/>
            <a:ext cx="933004" cy="6286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77" name="Shape 75"/>
          <p:cNvSpPr/>
          <p:nvPr/>
        </p:nvSpPr>
        <p:spPr>
          <a:xfrm>
            <a:off x="5375077" y="7273379"/>
            <a:ext cx="93300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78" name="Text 76"/>
          <p:cNvSpPr/>
          <p:nvPr/>
        </p:nvSpPr>
        <p:spPr>
          <a:xfrm>
            <a:off x="5375077" y="6797129"/>
            <a:ext cx="837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0.695</a:t>
            </a:r>
            <a:endParaRPr lang="en-US" sz="2025" dirty="0"/>
          </a:p>
        </p:txBody>
      </p:sp>
      <p:sp>
        <p:nvSpPr>
          <p:cNvPr id="79" name="Shape 77"/>
          <p:cNvSpPr/>
          <p:nvPr/>
        </p:nvSpPr>
        <p:spPr>
          <a:xfrm>
            <a:off x="6308080" y="6654254"/>
            <a:ext cx="1180058" cy="6286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80" name="Shape 78"/>
          <p:cNvSpPr/>
          <p:nvPr/>
        </p:nvSpPr>
        <p:spPr>
          <a:xfrm>
            <a:off x="6308080" y="7273379"/>
            <a:ext cx="1180058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81" name="Text 79"/>
          <p:cNvSpPr/>
          <p:nvPr/>
        </p:nvSpPr>
        <p:spPr>
          <a:xfrm>
            <a:off x="6308080" y="6797129"/>
            <a:ext cx="10848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0.786</a:t>
            </a:r>
            <a:endParaRPr lang="en-US" sz="2025" dirty="0"/>
          </a:p>
        </p:txBody>
      </p:sp>
      <p:sp>
        <p:nvSpPr>
          <p:cNvPr id="82" name="Shape 80"/>
          <p:cNvSpPr/>
          <p:nvPr/>
        </p:nvSpPr>
        <p:spPr>
          <a:xfrm>
            <a:off x="7488138" y="6654254"/>
            <a:ext cx="1398389" cy="6286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83" name="Shape 81"/>
          <p:cNvSpPr/>
          <p:nvPr/>
        </p:nvSpPr>
        <p:spPr>
          <a:xfrm>
            <a:off x="7488138" y="7273379"/>
            <a:ext cx="1398389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84" name="Text 82"/>
          <p:cNvSpPr/>
          <p:nvPr/>
        </p:nvSpPr>
        <p:spPr>
          <a:xfrm>
            <a:off x="7488138" y="6797129"/>
            <a:ext cx="13031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0.966</a:t>
            </a:r>
            <a:endParaRPr lang="en-US" sz="2025" dirty="0"/>
          </a:p>
        </p:txBody>
      </p:sp>
      <p:sp>
        <p:nvSpPr>
          <p:cNvPr id="85" name="Shape 83"/>
          <p:cNvSpPr/>
          <p:nvPr/>
        </p:nvSpPr>
        <p:spPr>
          <a:xfrm>
            <a:off x="8886527" y="6654254"/>
            <a:ext cx="472232" cy="6286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86" name="Shape 84"/>
          <p:cNvSpPr/>
          <p:nvPr/>
        </p:nvSpPr>
        <p:spPr>
          <a:xfrm>
            <a:off x="8886527" y="7273379"/>
            <a:ext cx="472232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87" name="Text 85"/>
          <p:cNvSpPr/>
          <p:nvPr/>
        </p:nvSpPr>
        <p:spPr>
          <a:xfrm>
            <a:off x="8886527" y="6797129"/>
            <a:ext cx="5484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263</a:t>
            </a:r>
            <a:endParaRPr lang="en-US" sz="2025" dirty="0"/>
          </a:p>
        </p:txBody>
      </p:sp>
      <p:sp>
        <p:nvSpPr>
          <p:cNvPr id="88" name="Shape 86"/>
          <p:cNvSpPr/>
          <p:nvPr/>
        </p:nvSpPr>
        <p:spPr>
          <a:xfrm>
            <a:off x="952500" y="7902029"/>
            <a:ext cx="4422577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89" name="Text 87"/>
          <p:cNvSpPr/>
          <p:nvPr/>
        </p:nvSpPr>
        <p:spPr>
          <a:xfrm>
            <a:off x="952500" y="7425779"/>
            <a:ext cx="43838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distilgpt2-d1-ft</a:t>
            </a:r>
            <a:endParaRPr lang="en-US" sz="2025" dirty="0"/>
          </a:p>
        </p:txBody>
      </p:sp>
      <p:sp>
        <p:nvSpPr>
          <p:cNvPr id="90" name="Shape 88"/>
          <p:cNvSpPr/>
          <p:nvPr/>
        </p:nvSpPr>
        <p:spPr>
          <a:xfrm>
            <a:off x="5375077" y="7282904"/>
            <a:ext cx="933004" cy="6286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91" name="Shape 89"/>
          <p:cNvSpPr/>
          <p:nvPr/>
        </p:nvSpPr>
        <p:spPr>
          <a:xfrm>
            <a:off x="5375077" y="7902029"/>
            <a:ext cx="933004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92" name="Text 90"/>
          <p:cNvSpPr/>
          <p:nvPr/>
        </p:nvSpPr>
        <p:spPr>
          <a:xfrm>
            <a:off x="5375077" y="7425779"/>
            <a:ext cx="8377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0.546</a:t>
            </a:r>
            <a:endParaRPr lang="en-US" sz="2025" dirty="0"/>
          </a:p>
        </p:txBody>
      </p:sp>
      <p:sp>
        <p:nvSpPr>
          <p:cNvPr id="93" name="Shape 91"/>
          <p:cNvSpPr/>
          <p:nvPr/>
        </p:nvSpPr>
        <p:spPr>
          <a:xfrm>
            <a:off x="6308080" y="7282904"/>
            <a:ext cx="1180058" cy="6286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94" name="Shape 92"/>
          <p:cNvSpPr/>
          <p:nvPr/>
        </p:nvSpPr>
        <p:spPr>
          <a:xfrm>
            <a:off x="6308080" y="7902029"/>
            <a:ext cx="1180058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95" name="Text 93"/>
          <p:cNvSpPr/>
          <p:nvPr/>
        </p:nvSpPr>
        <p:spPr>
          <a:xfrm>
            <a:off x="6308080" y="7425779"/>
            <a:ext cx="10848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0.732</a:t>
            </a:r>
            <a:endParaRPr lang="en-US" sz="2025" dirty="0"/>
          </a:p>
        </p:txBody>
      </p:sp>
      <p:sp>
        <p:nvSpPr>
          <p:cNvPr id="96" name="Shape 94"/>
          <p:cNvSpPr/>
          <p:nvPr/>
        </p:nvSpPr>
        <p:spPr>
          <a:xfrm>
            <a:off x="7488138" y="7282904"/>
            <a:ext cx="1398389" cy="6286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97" name="Shape 95"/>
          <p:cNvSpPr/>
          <p:nvPr/>
        </p:nvSpPr>
        <p:spPr>
          <a:xfrm>
            <a:off x="7488138" y="7902029"/>
            <a:ext cx="1398389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98" name="Text 96"/>
          <p:cNvSpPr/>
          <p:nvPr/>
        </p:nvSpPr>
        <p:spPr>
          <a:xfrm>
            <a:off x="7488138" y="7425779"/>
            <a:ext cx="13031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0.961</a:t>
            </a:r>
            <a:endParaRPr lang="en-US" sz="2025" dirty="0"/>
          </a:p>
        </p:txBody>
      </p:sp>
      <p:sp>
        <p:nvSpPr>
          <p:cNvPr id="99" name="Shape 97"/>
          <p:cNvSpPr/>
          <p:nvPr/>
        </p:nvSpPr>
        <p:spPr>
          <a:xfrm>
            <a:off x="8886527" y="7282904"/>
            <a:ext cx="472232" cy="6286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100" name="Shape 98"/>
          <p:cNvSpPr/>
          <p:nvPr/>
        </p:nvSpPr>
        <p:spPr>
          <a:xfrm>
            <a:off x="8886527" y="7902029"/>
            <a:ext cx="472232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101" name="Text 99"/>
          <p:cNvSpPr/>
          <p:nvPr/>
        </p:nvSpPr>
        <p:spPr>
          <a:xfrm>
            <a:off x="8886527" y="7425779"/>
            <a:ext cx="5484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025" dirty="0"/>
          </a:p>
        </p:txBody>
      </p:sp>
      <p:sp>
        <p:nvSpPr>
          <p:cNvPr id="102" name="Text 100"/>
          <p:cNvSpPr/>
          <p:nvPr/>
        </p:nvSpPr>
        <p:spPr>
          <a:xfrm>
            <a:off x="10025509" y="2429917"/>
            <a:ext cx="80408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BY CONFIGURATION</a:t>
            </a:r>
            <a:endParaRPr lang="en-US" sz="1950" dirty="0"/>
          </a:p>
        </p:txBody>
      </p:sp>
      <p:sp>
        <p:nvSpPr>
          <p:cNvPr id="103" name="Text 101"/>
          <p:cNvSpPr/>
          <p:nvPr/>
        </p:nvSpPr>
        <p:spPr>
          <a:xfrm>
            <a:off x="10025509" y="3010942"/>
            <a:ext cx="19907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endParaRPr lang="en-US" sz="1950" dirty="0"/>
          </a:p>
        </p:txBody>
      </p:sp>
      <p:sp>
        <p:nvSpPr>
          <p:cNvPr id="104" name="Shape 102"/>
          <p:cNvSpPr/>
          <p:nvPr/>
        </p:nvSpPr>
        <p:spPr>
          <a:xfrm>
            <a:off x="12006709" y="3010942"/>
            <a:ext cx="4299942" cy="3238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2006709" y="3010942"/>
            <a:ext cx="3233440" cy="323850"/>
          </a:xfrm>
          <a:prstGeom prst="rect">
            <a:avLst/>
          </a:prstGeom>
          <a:solidFill>
            <a:srgbClr val="22211D"/>
          </a:solidFill>
          <a:ln/>
        </p:spPr>
      </p:sp>
      <p:sp>
        <p:nvSpPr>
          <p:cNvPr id="106" name="Text 104"/>
          <p:cNvSpPr/>
          <p:nvPr/>
        </p:nvSpPr>
        <p:spPr>
          <a:xfrm>
            <a:off x="16401901" y="3025229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0.752</a:t>
            </a:r>
            <a:endParaRPr lang="en-US" sz="1950" dirty="0"/>
          </a:p>
        </p:txBody>
      </p:sp>
      <p:sp>
        <p:nvSpPr>
          <p:cNvPr id="107" name="Text 105"/>
          <p:cNvSpPr/>
          <p:nvPr/>
        </p:nvSpPr>
        <p:spPr>
          <a:xfrm>
            <a:off x="10025509" y="3525292"/>
            <a:ext cx="19907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</a:t>
            </a:r>
            <a:endParaRPr lang="en-US" sz="1950" dirty="0"/>
          </a:p>
        </p:txBody>
      </p:sp>
      <p:sp>
        <p:nvSpPr>
          <p:cNvPr id="108" name="Shape 106"/>
          <p:cNvSpPr/>
          <p:nvPr/>
        </p:nvSpPr>
        <p:spPr>
          <a:xfrm>
            <a:off x="12006709" y="3525292"/>
            <a:ext cx="4299942" cy="3238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2006709" y="3525292"/>
            <a:ext cx="3022848" cy="323850"/>
          </a:xfrm>
          <a:prstGeom prst="rect">
            <a:avLst/>
          </a:prstGeom>
          <a:solidFill>
            <a:srgbClr val="00939A"/>
          </a:solidFill>
          <a:ln/>
        </p:spPr>
      </p:sp>
      <p:sp>
        <p:nvSpPr>
          <p:cNvPr id="110" name="Text 108"/>
          <p:cNvSpPr/>
          <p:nvPr/>
        </p:nvSpPr>
        <p:spPr>
          <a:xfrm>
            <a:off x="16401901" y="3539579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0.703</a:t>
            </a:r>
            <a:endParaRPr lang="en-US" sz="1950" dirty="0"/>
          </a:p>
        </p:txBody>
      </p:sp>
      <p:sp>
        <p:nvSpPr>
          <p:cNvPr id="111" name="Text 109"/>
          <p:cNvSpPr/>
          <p:nvPr/>
        </p:nvSpPr>
        <p:spPr>
          <a:xfrm>
            <a:off x="10025509" y="4039642"/>
            <a:ext cx="19907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endParaRPr lang="en-US" sz="1950" dirty="0"/>
          </a:p>
        </p:txBody>
      </p:sp>
      <p:sp>
        <p:nvSpPr>
          <p:cNvPr id="112" name="Shape 110"/>
          <p:cNvSpPr/>
          <p:nvPr/>
        </p:nvSpPr>
        <p:spPr>
          <a:xfrm>
            <a:off x="12006709" y="4039642"/>
            <a:ext cx="4299942" cy="3238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2006709" y="4039642"/>
            <a:ext cx="2902446" cy="323850"/>
          </a:xfrm>
          <a:prstGeom prst="rect">
            <a:avLst/>
          </a:prstGeom>
          <a:solidFill>
            <a:srgbClr val="22211D"/>
          </a:solidFill>
          <a:ln/>
        </p:spPr>
      </p:sp>
      <p:sp>
        <p:nvSpPr>
          <p:cNvPr id="114" name="Text 112"/>
          <p:cNvSpPr/>
          <p:nvPr/>
        </p:nvSpPr>
        <p:spPr>
          <a:xfrm>
            <a:off x="16401901" y="4053929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0.675</a:t>
            </a:r>
            <a:endParaRPr lang="en-US" sz="1950" dirty="0"/>
          </a:p>
        </p:txBody>
      </p:sp>
      <p:sp>
        <p:nvSpPr>
          <p:cNvPr id="115" name="Text 113"/>
          <p:cNvSpPr/>
          <p:nvPr/>
        </p:nvSpPr>
        <p:spPr>
          <a:xfrm>
            <a:off x="10025509" y="4553992"/>
            <a:ext cx="19907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</a:t>
            </a:r>
            <a:endParaRPr lang="en-US" sz="1950" dirty="0"/>
          </a:p>
        </p:txBody>
      </p:sp>
      <p:sp>
        <p:nvSpPr>
          <p:cNvPr id="116" name="Shape 114"/>
          <p:cNvSpPr/>
          <p:nvPr/>
        </p:nvSpPr>
        <p:spPr>
          <a:xfrm>
            <a:off x="12006709" y="4553992"/>
            <a:ext cx="4299942" cy="3238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2006709" y="4553992"/>
            <a:ext cx="868561" cy="323850"/>
          </a:xfrm>
          <a:prstGeom prst="rect">
            <a:avLst/>
          </a:prstGeom>
          <a:solidFill>
            <a:srgbClr val="B96365"/>
          </a:solidFill>
          <a:ln/>
        </p:spPr>
      </p:sp>
      <p:sp>
        <p:nvSpPr>
          <p:cNvPr id="118" name="Text 116"/>
          <p:cNvSpPr/>
          <p:nvPr/>
        </p:nvSpPr>
        <p:spPr>
          <a:xfrm>
            <a:off x="16401901" y="4568279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0.202</a:t>
            </a:r>
            <a:endParaRPr lang="en-US" sz="1950" dirty="0"/>
          </a:p>
        </p:txBody>
      </p:sp>
      <p:sp>
        <p:nvSpPr>
          <p:cNvPr id="119" name="Text 117"/>
          <p:cNvSpPr/>
          <p:nvPr/>
        </p:nvSpPr>
        <p:spPr>
          <a:xfrm>
            <a:off x="10025509" y="5068342"/>
            <a:ext cx="19907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1950" dirty="0"/>
          </a:p>
        </p:txBody>
      </p:sp>
      <p:sp>
        <p:nvSpPr>
          <p:cNvPr id="120" name="Shape 118"/>
          <p:cNvSpPr/>
          <p:nvPr/>
        </p:nvSpPr>
        <p:spPr>
          <a:xfrm>
            <a:off x="12006709" y="5068342"/>
            <a:ext cx="4299942" cy="3238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2006709" y="5068342"/>
            <a:ext cx="700832" cy="323850"/>
          </a:xfrm>
          <a:prstGeom prst="rect">
            <a:avLst/>
          </a:prstGeom>
          <a:solidFill>
            <a:srgbClr val="B96365"/>
          </a:solidFill>
          <a:ln/>
        </p:spPr>
      </p:sp>
      <p:sp>
        <p:nvSpPr>
          <p:cNvPr id="122" name="Text 120"/>
          <p:cNvSpPr/>
          <p:nvPr/>
        </p:nvSpPr>
        <p:spPr>
          <a:xfrm>
            <a:off x="16401901" y="5082629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0.163</a:t>
            </a:r>
            <a:endParaRPr lang="en-US" sz="1950" dirty="0"/>
          </a:p>
        </p:txBody>
      </p:sp>
      <p:sp>
        <p:nvSpPr>
          <p:cNvPr id="123" name="Text 121"/>
          <p:cNvSpPr/>
          <p:nvPr/>
        </p:nvSpPr>
        <p:spPr>
          <a:xfrm>
            <a:off x="10025509" y="5582692"/>
            <a:ext cx="19907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E1-p</a:t>
            </a:r>
            <a:endParaRPr lang="en-US" sz="1950" dirty="0"/>
          </a:p>
        </p:txBody>
      </p:sp>
      <p:sp>
        <p:nvSpPr>
          <p:cNvPr id="124" name="Shape 122"/>
          <p:cNvSpPr/>
          <p:nvPr/>
        </p:nvSpPr>
        <p:spPr>
          <a:xfrm>
            <a:off x="12006709" y="5582692"/>
            <a:ext cx="4299942" cy="32385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2006709" y="5582692"/>
            <a:ext cx="21431" cy="323850"/>
          </a:xfrm>
          <a:prstGeom prst="rect">
            <a:avLst/>
          </a:prstGeom>
          <a:solidFill>
            <a:srgbClr val="B8B3AA"/>
          </a:solidFill>
          <a:ln/>
        </p:spPr>
      </p:sp>
      <p:sp>
        <p:nvSpPr>
          <p:cNvPr id="126" name="Text 124"/>
          <p:cNvSpPr/>
          <p:nvPr/>
        </p:nvSpPr>
        <p:spPr>
          <a:xfrm>
            <a:off x="16401901" y="5596979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0.000*</a:t>
            </a:r>
            <a:endParaRPr lang="en-US" sz="1950" dirty="0"/>
          </a:p>
        </p:txBody>
      </p:sp>
      <p:sp>
        <p:nvSpPr>
          <p:cNvPr id="127" name="Text 125"/>
          <p:cNvSpPr/>
          <p:nvPr/>
        </p:nvSpPr>
        <p:spPr>
          <a:xfrm>
            <a:off x="10025509" y="6192292"/>
            <a:ext cx="752913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 TF-IDF features buy ~93% of the encoder's F1 at ~1750× lower latency. Both zero-shot decoders rank at or below chance.</a:t>
            </a:r>
            <a:endParaRPr lang="en-US" sz="1950" dirty="0"/>
          </a:p>
        </p:txBody>
      </p:sp>
      <p:sp>
        <p:nvSpPr>
          <p:cNvPr id="128" name="Text 126"/>
          <p:cNvSpPr/>
          <p:nvPr/>
        </p:nvSpPr>
        <p:spPr>
          <a:xfrm>
            <a:off x="952500" y="9191625"/>
            <a:ext cx="18021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F1 = 0 at threshold 0.5 is a calibration artefact, not a discrimination failure. S1 and D1-ft are our own early-stopped checkpoints (4k×2ep / 800×2ep on CPU), not the full-scale Colab runs. D1-ft's latency is withheld — its timing window was corrupted by a machine suspend; expect ≈650 ms, as it shares D1's architecture and scoring path.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368-SENTENCE NEUTRAL PROBE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85"/>
              </a:lnSpc>
              <a:buNone/>
            </a:pPr>
            <a:r>
              <a:rPr lang="en-US" sz="48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Fairness: per-model false-positive rate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606129"/>
            <a:ext cx="2514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88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3409950" y="2606129"/>
            <a:ext cx="50637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88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FPR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8108603" y="2468017"/>
            <a:ext cx="1981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b="1" spc="188" kern="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FPR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52500" y="3230017"/>
            <a:ext cx="2514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tfidf-svm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3409950" y="3244304"/>
            <a:ext cx="3593753" cy="3048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9" name="Shape 7"/>
          <p:cNvSpPr/>
          <p:nvPr/>
        </p:nvSpPr>
        <p:spPr>
          <a:xfrm>
            <a:off x="3409950" y="3244304"/>
            <a:ext cx="176064" cy="304800"/>
          </a:xfrm>
          <a:prstGeom prst="rect">
            <a:avLst/>
          </a:prstGeom>
          <a:solidFill>
            <a:srgbClr val="00939A"/>
          </a:solidFill>
          <a:ln/>
        </p:spPr>
      </p:sp>
      <p:sp>
        <p:nvSpPr>
          <p:cNvPr id="10" name="Text 8"/>
          <p:cNvSpPr/>
          <p:nvPr/>
        </p:nvSpPr>
        <p:spPr>
          <a:xfrm>
            <a:off x="7156103" y="3249067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0.049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7994303" y="3249067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952500" y="3772942"/>
            <a:ext cx="2514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toxic-bert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3409950" y="3787229"/>
            <a:ext cx="3593753" cy="3048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14" name="Shape 12"/>
          <p:cNvSpPr/>
          <p:nvPr/>
        </p:nvSpPr>
        <p:spPr>
          <a:xfrm>
            <a:off x="3409950" y="3787229"/>
            <a:ext cx="312539" cy="304800"/>
          </a:xfrm>
          <a:prstGeom prst="rect">
            <a:avLst/>
          </a:prstGeom>
          <a:solidFill>
            <a:srgbClr val="22211D"/>
          </a:solidFill>
          <a:ln/>
        </p:spPr>
      </p:sp>
      <p:sp>
        <p:nvSpPr>
          <p:cNvPr id="15" name="Text 13"/>
          <p:cNvSpPr/>
          <p:nvPr/>
        </p:nvSpPr>
        <p:spPr>
          <a:xfrm>
            <a:off x="7156103" y="3791992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0.087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7994303" y="3791992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52500" y="4315867"/>
            <a:ext cx="236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bert-base-classifier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3409950" y="4496842"/>
            <a:ext cx="3593753" cy="3048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19" name="Shape 17"/>
          <p:cNvSpPr/>
          <p:nvPr/>
        </p:nvSpPr>
        <p:spPr>
          <a:xfrm>
            <a:off x="3409950" y="4496842"/>
            <a:ext cx="370136" cy="304800"/>
          </a:xfrm>
          <a:prstGeom prst="rect">
            <a:avLst/>
          </a:prstGeom>
          <a:solidFill>
            <a:srgbClr val="B96365"/>
          </a:solidFill>
          <a:ln/>
        </p:spPr>
      </p:sp>
      <p:sp>
        <p:nvSpPr>
          <p:cNvPr id="20" name="Text 18"/>
          <p:cNvSpPr/>
          <p:nvPr/>
        </p:nvSpPr>
        <p:spPr>
          <a:xfrm>
            <a:off x="7156103" y="4501604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0.103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7994303" y="4501604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52500" y="5192167"/>
            <a:ext cx="2514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distilgpt2-d1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3409950" y="5206454"/>
            <a:ext cx="3593753" cy="3048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24" name="Shape 22"/>
          <p:cNvSpPr/>
          <p:nvPr/>
        </p:nvSpPr>
        <p:spPr>
          <a:xfrm>
            <a:off x="3409950" y="5206454"/>
            <a:ext cx="3230761" cy="304800"/>
          </a:xfrm>
          <a:prstGeom prst="rect">
            <a:avLst/>
          </a:prstGeom>
          <a:solidFill>
            <a:srgbClr val="B8B3AA"/>
          </a:solidFill>
          <a:ln/>
        </p:spPr>
      </p:sp>
      <p:sp>
        <p:nvSpPr>
          <p:cNvPr id="25" name="Text 23"/>
          <p:cNvSpPr/>
          <p:nvPr/>
        </p:nvSpPr>
        <p:spPr>
          <a:xfrm>
            <a:off x="7156103" y="5211217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0.899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7994303" y="5211217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952500" y="5735092"/>
            <a:ext cx="2514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distilgpt2-d2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3409950" y="5749379"/>
            <a:ext cx="3593753" cy="3048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29" name="Shape 27"/>
          <p:cNvSpPr/>
          <p:nvPr/>
        </p:nvSpPr>
        <p:spPr>
          <a:xfrm>
            <a:off x="3409950" y="5749379"/>
            <a:ext cx="3593753" cy="304800"/>
          </a:xfrm>
          <a:prstGeom prst="rect">
            <a:avLst/>
          </a:prstGeom>
          <a:solidFill>
            <a:srgbClr val="B8B3AA"/>
          </a:solidFill>
          <a:ln/>
        </p:spPr>
      </p:sp>
      <p:sp>
        <p:nvSpPr>
          <p:cNvPr id="30" name="Text 28"/>
          <p:cNvSpPr/>
          <p:nvPr/>
        </p:nvSpPr>
        <p:spPr>
          <a:xfrm>
            <a:off x="7156103" y="5754142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7994303" y="5754142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952500" y="6278017"/>
            <a:ext cx="236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distilbert-student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3409950" y="6458992"/>
            <a:ext cx="3593753" cy="3048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44" name="Bar 0.008"/>
          <p:cNvSpPr/>
          <p:nvPr/>
        </p:nvSpPr>
        <p:spPr>
          <a:xfrm>
            <a:off x="3409950" y="6458992"/>
            <a:ext cx="30000" cy="304800"/>
          </a:xfrm>
          <a:prstGeom prst="rect">
            <a:avLst/>
          </a:prstGeom>
          <a:solidFill>
            <a:srgbClr val="00939A"/>
          </a:solidFill>
          <a:ln/>
        </p:spPr>
      </p:sp>
      <p:sp>
        <p:nvSpPr>
          <p:cNvPr id="45" name="Val 0.008"/>
          <p:cNvSpPr/>
          <p:nvPr/>
        </p:nvSpPr>
        <p:spPr>
          <a:xfrm>
            <a:off x="7156103" y="6463755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0.008</a:t>
            </a:r>
            <a:endParaRPr lang="en-US" sz="2025" dirty="0"/>
          </a:p>
        </p:txBody>
      </p:sp>
      <p:sp>
        <p:nvSpPr>
          <p:cNvPr id="46" name="Ctl 0.008"/>
          <p:cNvSpPr/>
          <p:nvPr/>
        </p:nvSpPr>
        <p:spPr>
          <a:xfrm>
            <a:off x="7994303" y="6463755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952500" y="7154317"/>
            <a:ext cx="236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distilgpt2-d1-ft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3409950" y="7335292"/>
            <a:ext cx="3593753" cy="3048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47" name="Bar 0.326"/>
          <p:cNvSpPr/>
          <p:nvPr/>
        </p:nvSpPr>
        <p:spPr>
          <a:xfrm>
            <a:off x="3409950" y="7335292"/>
            <a:ext cx="1171563" cy="304800"/>
          </a:xfrm>
          <a:prstGeom prst="rect">
            <a:avLst/>
          </a:prstGeom>
          <a:solidFill>
            <a:srgbClr val="B8B3AA"/>
          </a:solidFill>
          <a:ln/>
        </p:spPr>
      </p:sp>
      <p:sp>
        <p:nvSpPr>
          <p:cNvPr id="48" name="Val 0.326"/>
          <p:cNvSpPr/>
          <p:nvPr/>
        </p:nvSpPr>
        <p:spPr>
          <a:xfrm>
            <a:off x="7156103" y="7340055"/>
            <a:ext cx="93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0.326</a:t>
            </a:r>
            <a:endParaRPr lang="en-US" sz="2025" dirty="0"/>
          </a:p>
        </p:txBody>
      </p:sp>
      <p:sp>
        <p:nvSpPr>
          <p:cNvPr id="49" name="Ctl 0.326"/>
          <p:cNvSpPr/>
          <p:nvPr/>
        </p:nvSpPr>
        <p:spPr>
          <a:xfrm>
            <a:off x="7994303" y="7340055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10756553" y="2468017"/>
            <a:ext cx="47625" cy="1411337"/>
          </a:xfrm>
          <a:prstGeom prst="rect">
            <a:avLst/>
          </a:prstGeom>
          <a:solidFill>
            <a:srgbClr val="B96365"/>
          </a:solidFill>
          <a:ln/>
        </p:spPr>
      </p:sp>
      <p:sp>
        <p:nvSpPr>
          <p:cNvPr id="41" name="Text 39"/>
          <p:cNvSpPr/>
          <p:nvPr/>
        </p:nvSpPr>
        <p:spPr>
          <a:xfrm>
            <a:off x="11089928" y="2468017"/>
            <a:ext cx="6442941" cy="1449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84"/>
              </a:lnSpc>
              <a:buNone/>
            </a:pPr>
            <a:r>
              <a:rPr lang="en-US" sz="285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Sentences such as “I am gay” are flagged despite carrying no hostile content.</a:t>
            </a:r>
            <a:endParaRPr lang="en-US" sz="2850" dirty="0"/>
          </a:p>
        </p:txBody>
      </p:sp>
      <p:sp>
        <p:nvSpPr>
          <p:cNvPr id="42" name="Text 40"/>
          <p:cNvSpPr/>
          <p:nvPr/>
        </p:nvSpPr>
        <p:spPr>
          <a:xfrm>
            <a:off x="10756553" y="4165104"/>
            <a:ext cx="677631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FPR is exactly zero for every classifier, which localises the false positives: they are identity-driven, not length- or template-driven.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0756553" y="5610820"/>
            <a:ext cx="6776316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specialised encoder over-flags more than the linear baseline (0.087 vs. 0.049): the direction H1 predicts, but only marginally (p ≈ 0.06). Our generic E1 is no fairer (0.103, p ≈ 0.5), so specialisation alone does not explain the ordering.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PERTURBATION SUITE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85"/>
              </a:lnSpc>
              <a:buNone/>
            </a:pPr>
            <a:r>
              <a:rPr lang="en-US" sz="48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 to obfuscation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468017"/>
            <a:ext cx="96042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RATE — HIGHER IS MORE BRITTLE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3010942"/>
            <a:ext cx="31684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leetspeak · s7up1d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3477667"/>
            <a:ext cx="742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771650" y="3482429"/>
            <a:ext cx="6997601" cy="2667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8" name="Shape 6"/>
          <p:cNvSpPr/>
          <p:nvPr/>
        </p:nvSpPr>
        <p:spPr>
          <a:xfrm>
            <a:off x="1771650" y="3482429"/>
            <a:ext cx="1959322" cy="266700"/>
          </a:xfrm>
          <a:prstGeom prst="rect">
            <a:avLst/>
          </a:prstGeom>
          <a:solidFill>
            <a:srgbClr val="22211D"/>
          </a:solidFill>
          <a:ln/>
        </p:spPr>
      </p:sp>
      <p:sp>
        <p:nvSpPr>
          <p:cNvPr id="9" name="Text 7"/>
          <p:cNvSpPr/>
          <p:nvPr/>
        </p:nvSpPr>
        <p:spPr>
          <a:xfrm>
            <a:off x="8845451" y="3477667"/>
            <a:ext cx="838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0.280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52500" y="3868192"/>
            <a:ext cx="742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771650" y="3872954"/>
            <a:ext cx="6997601" cy="2667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71650" y="3872954"/>
            <a:ext cx="5031135" cy="266700"/>
          </a:xfrm>
          <a:prstGeom prst="rect">
            <a:avLst/>
          </a:prstGeom>
          <a:solidFill>
            <a:srgbClr val="B96365"/>
          </a:solidFill>
          <a:ln/>
        </p:spPr>
      </p:sp>
      <p:sp>
        <p:nvSpPr>
          <p:cNvPr id="13" name="Text 11"/>
          <p:cNvSpPr/>
          <p:nvPr/>
        </p:nvSpPr>
        <p:spPr>
          <a:xfrm>
            <a:off x="8845451" y="3868192"/>
            <a:ext cx="838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0.719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52500" y="4258717"/>
            <a:ext cx="742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771650" y="4263479"/>
            <a:ext cx="6997601" cy="2667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771650" y="4263479"/>
            <a:ext cx="4975175" cy="266700"/>
          </a:xfrm>
          <a:prstGeom prst="rect">
            <a:avLst/>
          </a:prstGeom>
          <a:solidFill>
            <a:srgbClr val="009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845451" y="4258717"/>
            <a:ext cx="838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0.711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52500" y="4763542"/>
            <a:ext cx="96042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space-out · s t u p i d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52500" y="5230267"/>
            <a:ext cx="742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771650" y="5235029"/>
            <a:ext cx="6997601" cy="2667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771650" y="5235029"/>
            <a:ext cx="377726" cy="266700"/>
          </a:xfrm>
          <a:prstGeom prst="rect">
            <a:avLst/>
          </a:prstGeom>
          <a:solidFill>
            <a:srgbClr val="22211D"/>
          </a:solidFill>
          <a:ln/>
        </p:spPr>
      </p:sp>
      <p:sp>
        <p:nvSpPr>
          <p:cNvPr id="22" name="Text 20"/>
          <p:cNvSpPr/>
          <p:nvPr/>
        </p:nvSpPr>
        <p:spPr>
          <a:xfrm>
            <a:off x="8845451" y="5230267"/>
            <a:ext cx="838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0.054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952500" y="5620792"/>
            <a:ext cx="742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771650" y="5625554"/>
            <a:ext cx="6997601" cy="2667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25" name="Shape 23"/>
          <p:cNvSpPr/>
          <p:nvPr/>
        </p:nvSpPr>
        <p:spPr>
          <a:xfrm>
            <a:off x="1771650" y="5625554"/>
            <a:ext cx="5248126" cy="266700"/>
          </a:xfrm>
          <a:prstGeom prst="rect">
            <a:avLst/>
          </a:prstGeom>
          <a:solidFill>
            <a:srgbClr val="009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845451" y="5620792"/>
            <a:ext cx="838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≈0.75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952500" y="6125617"/>
            <a:ext cx="96042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punct-noise · s.t.u.p.i.d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52500" y="6592342"/>
            <a:ext cx="742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771650" y="6597104"/>
            <a:ext cx="6997601" cy="2667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30" name="Shape 28"/>
          <p:cNvSpPr/>
          <p:nvPr/>
        </p:nvSpPr>
        <p:spPr>
          <a:xfrm>
            <a:off x="1771650" y="6597104"/>
            <a:ext cx="1056531" cy="266700"/>
          </a:xfrm>
          <a:prstGeom prst="rect">
            <a:avLst/>
          </a:prstGeom>
          <a:solidFill>
            <a:srgbClr val="22211D"/>
          </a:solidFill>
          <a:ln/>
        </p:spPr>
      </p:sp>
      <p:sp>
        <p:nvSpPr>
          <p:cNvPr id="31" name="Text 29"/>
          <p:cNvSpPr/>
          <p:nvPr/>
        </p:nvSpPr>
        <p:spPr>
          <a:xfrm>
            <a:off x="8845451" y="6592342"/>
            <a:ext cx="838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0.150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952500" y="6982867"/>
            <a:ext cx="742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771650" y="6987629"/>
            <a:ext cx="6997601" cy="266700"/>
          </a:xfrm>
          <a:prstGeom prst="rect">
            <a:avLst/>
          </a:prstGeom>
          <a:solidFill>
            <a:srgbClr val="E6E1D8"/>
          </a:solidFill>
          <a:ln/>
        </p:spPr>
      </p:sp>
      <p:sp>
        <p:nvSpPr>
          <p:cNvPr id="34" name="Shape 32"/>
          <p:cNvSpPr/>
          <p:nvPr/>
        </p:nvSpPr>
        <p:spPr>
          <a:xfrm>
            <a:off x="1771650" y="6987629"/>
            <a:ext cx="5248126" cy="266700"/>
          </a:xfrm>
          <a:prstGeom prst="rect">
            <a:avLst/>
          </a:prstGeom>
          <a:solidFill>
            <a:srgbClr val="00939A"/>
          </a:solidFill>
          <a:ln/>
        </p:spPr>
      </p:sp>
      <p:sp>
        <p:nvSpPr>
          <p:cNvPr id="35" name="Text 33"/>
          <p:cNvSpPr/>
          <p:nvPr/>
        </p:nvSpPr>
        <p:spPr>
          <a:xfrm>
            <a:off x="8845451" y="6982867"/>
            <a:ext cx="838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≈0.75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0350401" y="2468017"/>
            <a:ext cx="6985099" cy="2819400"/>
          </a:xfrm>
          <a:prstGeom prst="rect">
            <a:avLst/>
          </a:prstGeom>
          <a:solidFill>
            <a:srgbClr val="22211D"/>
          </a:solidFill>
          <a:ln/>
        </p:spPr>
      </p:sp>
      <p:sp>
        <p:nvSpPr>
          <p:cNvPr id="37" name="Text 35"/>
          <p:cNvSpPr/>
          <p:nvPr/>
        </p:nvSpPr>
        <p:spPr>
          <a:xfrm>
            <a:off x="10693301" y="2791867"/>
            <a:ext cx="648827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AC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DETECTION BEFORE PERTURBATION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693301" y="3534817"/>
            <a:ext cx="168376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5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 0.930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2604998" y="3534817"/>
            <a:ext cx="168376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5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 0.890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10693301" y="4325392"/>
            <a:ext cx="168376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CFCA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E0 0.760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2604998" y="4325392"/>
            <a:ext cx="1740411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CFCA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 0.580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10350401" y="5592217"/>
            <a:ext cx="719465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SVM is trivially defeated by every character-level perturbation, exactly as its feature space predicts: change the surface token and the feature disappears.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0350401" y="7056983"/>
            <a:ext cx="7194652" cy="1971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is the informative result — identical architecture, parameters and pretraining to toxic-bert, yet nearly as brittle as the bag of words. And the distilled student S1 is more than twice as easy to evade as its teacher (leetspeak 0.634 vs. 0.280): distillation transferred fairness but not robustness — plausibly because the KD loss only sees unperturbed text.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MASKING INTERVENTION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85"/>
              </a:lnSpc>
              <a:buNone/>
            </a:pPr>
            <a:r>
              <a:rPr lang="en-US" sz="48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bias, two mechanisms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525167"/>
            <a:ext cx="518160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801392"/>
            <a:ext cx="56997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shortcut collapses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3315742"/>
            <a:ext cx="119062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0.087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219325" y="3496717"/>
            <a:ext cx="4000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695575" y="3315742"/>
            <a:ext cx="32385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0077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52500" y="4258717"/>
            <a:ext cx="5699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toxic-bert · identity FPR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4754017"/>
            <a:ext cx="5337048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SVM behaves identically (0.049 → 0). 109M parameters of contextual encoding still route the decision through a single token.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6553200" y="2525167"/>
            <a:ext cx="518160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200" y="2801392"/>
            <a:ext cx="56997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breaks the pattern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553200" y="3315742"/>
            <a:ext cx="119062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0.103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7820025" y="3496717"/>
            <a:ext cx="4000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296275" y="3315742"/>
            <a:ext cx="119062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A03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0.188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6553200" y="4258717"/>
            <a:ext cx="5699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bert-base-classifier · identity FPR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53200" y="4754017"/>
            <a:ext cx="5337048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 increases the rate. The likely mechanism is distribution shift: a literal [MASK] is essentially absent from E1's fine-tuning data.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2153900" y="2525167"/>
            <a:ext cx="518160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19" name="Text 17"/>
          <p:cNvSpPr/>
          <p:nvPr/>
        </p:nvSpPr>
        <p:spPr>
          <a:xfrm>
            <a:off x="12153900" y="2801392"/>
            <a:ext cx="56997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Training-time masking backfires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153900" y="3315742"/>
            <a:ext cx="119062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0.781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13420725" y="3496717"/>
            <a:ext cx="4000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A85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3896975" y="3315742"/>
            <a:ext cx="119062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A03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0.676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12153900" y="4258717"/>
            <a:ext cx="5699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tfidf-svm · identity_hate recall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153900" y="4754017"/>
            <a:ext cx="5337048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FPR does not fall (0.049 → 0.063) while recall on attacks against those identities drops sharply.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52500" y="8244929"/>
            <a:ext cx="47625" cy="1280071"/>
          </a:xfrm>
          <a:prstGeom prst="rect">
            <a:avLst/>
          </a:prstGeom>
          <a:solidFill>
            <a:srgbClr val="00939A"/>
          </a:solidFill>
          <a:ln/>
        </p:spPr>
      </p:sp>
      <p:sp>
        <p:nvSpPr>
          <p:cNvPr id="26" name="Text 24"/>
          <p:cNvSpPr/>
          <p:nvPr/>
        </p:nvSpPr>
        <p:spPr>
          <a:xfrm>
            <a:off x="1285875" y="8244929"/>
            <a:ext cx="14726126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Deleting the identity vocabulary removes the model's ability to recognise attacks on those identities without removing its tendency to over-flag them, so mitigation would have to act on the objective rather than on the vocabulary.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COLAB PASSES (n = 500 / 200) AND OUR EARLY-STOPPED RE-RUNS (n = 800)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85"/>
              </a:lnSpc>
              <a:buNone/>
            </a:pPr>
            <a:r>
              <a:rPr lang="en-US" sz="4800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Distillation and decoder fine-tuning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853779"/>
            <a:ext cx="752475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429917"/>
            <a:ext cx="75599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477250" y="2853779"/>
            <a:ext cx="190500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7" name="Text 5"/>
          <p:cNvSpPr/>
          <p:nvPr/>
        </p:nvSpPr>
        <p:spPr>
          <a:xfrm>
            <a:off x="8477250" y="2429917"/>
            <a:ext cx="17907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382250" y="2853779"/>
            <a:ext cx="238125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9" name="Text 7"/>
          <p:cNvSpPr/>
          <p:nvPr/>
        </p:nvSpPr>
        <p:spPr>
          <a:xfrm>
            <a:off x="10382250" y="2429917"/>
            <a:ext cx="22669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(toxic)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763500" y="2853779"/>
            <a:ext cx="266700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0" y="2429917"/>
            <a:ext cx="2556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FPR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5430500" y="2853779"/>
            <a:ext cx="1905000" cy="28575"/>
          </a:xfrm>
          <a:prstGeom prst="rect">
            <a:avLst/>
          </a:prstGeom>
          <a:solidFill>
            <a:srgbClr val="1A1917"/>
          </a:solidFill>
          <a:ln/>
        </p:spPr>
      </p:sp>
      <p:sp>
        <p:nvSpPr>
          <p:cNvPr id="13" name="Text 11"/>
          <p:cNvSpPr/>
          <p:nvPr/>
        </p:nvSpPr>
        <p:spPr>
          <a:xfrm>
            <a:off x="15430500" y="2429917"/>
            <a:ext cx="19812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ms/comment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" y="3606254"/>
            <a:ext cx="75247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3063329"/>
            <a:ext cx="755999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toxic-bert (teacher)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477250" y="3606254"/>
            <a:ext cx="1905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17" name="Text 15"/>
          <p:cNvSpPr/>
          <p:nvPr/>
        </p:nvSpPr>
        <p:spPr>
          <a:xfrm>
            <a:off x="8477250" y="3063329"/>
            <a:ext cx="1790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109M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382250" y="3606254"/>
            <a:ext cx="23812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19" name="Text 17"/>
          <p:cNvSpPr/>
          <p:nvPr/>
        </p:nvSpPr>
        <p:spPr>
          <a:xfrm>
            <a:off x="10382250" y="3063329"/>
            <a:ext cx="2266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0.770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763500" y="3606254"/>
            <a:ext cx="2667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1" name="Text 19"/>
          <p:cNvSpPr/>
          <p:nvPr/>
        </p:nvSpPr>
        <p:spPr>
          <a:xfrm>
            <a:off x="12763500" y="3063329"/>
            <a:ext cx="255651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0.152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5430500" y="3606254"/>
            <a:ext cx="1905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3" name="Text 21"/>
          <p:cNvSpPr/>
          <p:nvPr/>
        </p:nvSpPr>
        <p:spPr>
          <a:xfrm>
            <a:off x="15430500" y="3063329"/>
            <a:ext cx="1981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274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52500" y="4330154"/>
            <a:ext cx="75247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3796754"/>
            <a:ext cx="75599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distilbert-student (S1)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8477250" y="4330154"/>
            <a:ext cx="1905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7" name="Text 25"/>
          <p:cNvSpPr/>
          <p:nvPr/>
        </p:nvSpPr>
        <p:spPr>
          <a:xfrm>
            <a:off x="8477250" y="3796754"/>
            <a:ext cx="1790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67M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0382250" y="4330154"/>
            <a:ext cx="23812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29" name="Text 27"/>
          <p:cNvSpPr/>
          <p:nvPr/>
        </p:nvSpPr>
        <p:spPr>
          <a:xfrm>
            <a:off x="10382250" y="3796754"/>
            <a:ext cx="2266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0.772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2763500" y="4330154"/>
            <a:ext cx="2667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1" name="Text 29"/>
          <p:cNvSpPr/>
          <p:nvPr/>
        </p:nvSpPr>
        <p:spPr>
          <a:xfrm>
            <a:off x="12763500" y="3796754"/>
            <a:ext cx="25565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68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0.062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5430500" y="4330154"/>
            <a:ext cx="1905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3" name="Text 31"/>
          <p:cNvSpPr/>
          <p:nvPr/>
        </p:nvSpPr>
        <p:spPr>
          <a:xfrm>
            <a:off x="15430500" y="3796754"/>
            <a:ext cx="1981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52500" y="5054054"/>
            <a:ext cx="75247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4520654"/>
            <a:ext cx="75599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distilgpt2-d1 (0-shot)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8477250" y="5054054"/>
            <a:ext cx="1905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7" name="Text 35"/>
          <p:cNvSpPr/>
          <p:nvPr/>
        </p:nvSpPr>
        <p:spPr>
          <a:xfrm>
            <a:off x="8477250" y="4520654"/>
            <a:ext cx="1790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82M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0382250" y="5054054"/>
            <a:ext cx="23812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39" name="Text 37"/>
          <p:cNvSpPr/>
          <p:nvPr/>
        </p:nvSpPr>
        <p:spPr>
          <a:xfrm>
            <a:off x="10382250" y="4520654"/>
            <a:ext cx="2266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0.189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12763500" y="5054054"/>
            <a:ext cx="2667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1" name="Text 39"/>
          <p:cNvSpPr/>
          <p:nvPr/>
        </p:nvSpPr>
        <p:spPr>
          <a:xfrm>
            <a:off x="12763500" y="4520654"/>
            <a:ext cx="25565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0.867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15430500" y="5054054"/>
            <a:ext cx="1905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3" name="Text 41"/>
          <p:cNvSpPr/>
          <p:nvPr/>
        </p:nvSpPr>
        <p:spPr>
          <a:xfrm>
            <a:off x="15430500" y="4520654"/>
            <a:ext cx="1981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952500" y="5777954"/>
            <a:ext cx="75247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5" name="Text 43"/>
          <p:cNvSpPr/>
          <p:nvPr/>
        </p:nvSpPr>
        <p:spPr>
          <a:xfrm>
            <a:off x="952500" y="5244554"/>
            <a:ext cx="75599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distilgpt2-d1-ft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8477250" y="5777954"/>
            <a:ext cx="1905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7" name="Text 45"/>
          <p:cNvSpPr/>
          <p:nvPr/>
        </p:nvSpPr>
        <p:spPr>
          <a:xfrm>
            <a:off x="8477250" y="5244554"/>
            <a:ext cx="1790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82M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10382250" y="5777954"/>
            <a:ext cx="238125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49" name="Text 47"/>
          <p:cNvSpPr/>
          <p:nvPr/>
        </p:nvSpPr>
        <p:spPr>
          <a:xfrm>
            <a:off x="10382250" y="5244554"/>
            <a:ext cx="2266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0.590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2763500" y="5777954"/>
            <a:ext cx="2667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1" name="Text 49"/>
          <p:cNvSpPr/>
          <p:nvPr/>
        </p:nvSpPr>
        <p:spPr>
          <a:xfrm>
            <a:off x="12763500" y="5244554"/>
            <a:ext cx="25565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0.505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15430500" y="5777954"/>
            <a:ext cx="1905000" cy="9525"/>
          </a:xfrm>
          <a:prstGeom prst="rect">
            <a:avLst/>
          </a:prstGeom>
          <a:solidFill>
            <a:srgbClr val="D8D4CD"/>
          </a:solidFill>
          <a:ln/>
        </p:spPr>
      </p:sp>
      <p:sp>
        <p:nvSpPr>
          <p:cNvPr id="53" name="Text 51"/>
          <p:cNvSpPr/>
          <p:nvPr/>
        </p:nvSpPr>
        <p:spPr>
          <a:xfrm>
            <a:off x="15430500" y="5244554"/>
            <a:ext cx="1981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A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952500" y="6121178"/>
            <a:ext cx="87172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preserved fairness — but cost robustness</a:t>
            </a:r>
            <a:endParaRPr lang="en-US" sz="2250" dirty="0"/>
          </a:p>
        </p:txBody>
      </p:sp>
      <p:sp>
        <p:nvSpPr>
          <p:cNvPr id="55" name="Text 53"/>
          <p:cNvSpPr/>
          <p:nvPr/>
        </p:nvSpPr>
        <p:spPr>
          <a:xfrm>
            <a:off x="952500" y="6578378"/>
            <a:ext cx="8162544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early-stopped student (4k rows x 2 ep., CPU) reaches F1 0.695 vs. the teacher's 0.752 — it does not match the teacher at this budget — but its identity FPR is 0.008, an order of magnitude BELOW the teacher's 0.087 and the lowest of any discriminating model. H2 is rejected on fairness even at a tenth of the intended data. The cost appears elsewhere: leetspeak evasion 0.280 → 0.634.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9410700" y="6121178"/>
            <a:ext cx="816254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failure was missing supervision, not an architectural ceiling</a:t>
            </a:r>
            <a:endParaRPr lang="en-US" sz="2250" dirty="0"/>
          </a:p>
        </p:txBody>
      </p:sp>
      <p:sp>
        <p:nvSpPr>
          <p:cNvPr id="57" name="Text 55"/>
          <p:cNvSpPr/>
          <p:nvPr/>
        </p:nvSpPr>
        <p:spPr>
          <a:xfrm>
            <a:off x="9410700" y="6902228"/>
            <a:ext cx="8162544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4A47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lifts ROC-AUC from 0.389 to 0.961 with no architectural change, and drags control FPR from 1.000 to 0.000. Our re-run needed only 800 training rows (0.6% of the data) to do it — but the result stays fragile: leetspeak evasion 0.680, punct-noise 0.840.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6AC9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8021300" cy="696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685"/>
              </a:lnSpc>
              <a:buNone/>
            </a:pPr>
            <a:r>
              <a:rPr lang="en-US" sz="4800" dirty="0">
                <a:solidFill>
                  <a:srgbClr val="F5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audit found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468017"/>
            <a:ext cx="26670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AC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468017"/>
            <a:ext cx="771125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detection is substantially lexical, but not purely so. A 50k-feature linear model reaches ~93% of a 109M encoder's F1 at ~1750× lower latency.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9429750" y="2468017"/>
            <a:ext cx="26670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AC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848850" y="2468017"/>
            <a:ext cx="771125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encoder's evasion robustness is earned, not architectural. The generic bert-base-classifier, identical to toxic-bert, is nearly as easy to evade as the SVM and no fairer; both gaps point at toxic-bert's training scale.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52500" y="4120883"/>
            <a:ext cx="26670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AC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71600" y="4120883"/>
            <a:ext cx="771125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discriminative head beats prompting, most cleanly on a single checkpoint — yet BERT's zero-shot prompt still ranks far better than GPT-2's.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429750" y="4120883"/>
            <a:ext cx="26670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AC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848850" y="4120883"/>
            <a:ext cx="771125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bias is data-driven but not uniform in mechanism, so a mitigation validated on one model cannot be assumed to transfer to another.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52500" y="5773750"/>
            <a:ext cx="266700" cy="13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AC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71600" y="5773750"/>
            <a:ext cx="7711250" cy="13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preserved fairness but cost robustness. The soft-KD student is the fairest discriminating model (identity FPR 0.008 vs. its teacher's 0.087), yet more than twice as easy to evade.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52500" y="7526616"/>
            <a:ext cx="266700" cy="13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AC9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71600" y="7526616"/>
            <a:ext cx="7711250" cy="13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F5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“Robust” is not one property. toxic-bert is the hardest model to evade and among the easiest to push into false alarms (65–91% vs. an 11% baseline); the SVM is the mirror image.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429750" y="5773750"/>
            <a:ext cx="7905750" cy="2700000"/>
          </a:xfrm>
          <a:prstGeom prst="rect">
            <a:avLst/>
          </a:prstGeom>
          <a:solidFill>
            <a:srgbClr val="2E2C27"/>
          </a:solidFill>
          <a:ln/>
        </p:spPr>
      </p:sp>
      <p:sp>
        <p:nvSpPr>
          <p:cNvPr id="15" name="Text 13"/>
          <p:cNvSpPr/>
          <p:nvPr/>
        </p:nvSpPr>
        <p:spPr>
          <a:xfrm>
            <a:off x="9734550" y="6040450"/>
            <a:ext cx="8025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B9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734550" y="6469075"/>
            <a:ext cx="7515035" cy="1424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CFC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numbers use an 800-comment subset, with confidence intervals only for the fairness probe; S1 and D1-ft are early-stopped checkpoints (a full-scale run is ~25 h of CPU each); the perturbation suite is n=100, except D1-ft at n=25; the fairness probe is synthetic; evaluation is in-domain Wikipedia text; hateBERT was not run.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2026-09-09T15:27:20Z</dcterms:created>
  <dcterms:modified xsi:type="dcterms:W3CDTF">2026-09-09T15:27:20Z</dcterms:modified>
</cp:coreProperties>
</file>