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Words That Harm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Architectures and Fairness in Toxic-Comment Detection</a:t>
            </a:r>
          </a:p>
          <a:p>
            <a:pPr>
              <a:defRPr sz="1800"/>
            </a:pPr>
            <a:r>
              <a:t>Omer Ramon · Tom Jacob · Technion EE046211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Moderation models hide/remove comments at scale</a:t>
            </a:r>
          </a:p>
          <a:p>
            <a:pPr>
              <a:spcAft>
                <a:spcPts val="800"/>
              </a:spcAft>
              <a:defRPr sz="2000"/>
            </a:pPr>
            <a:r>
              <a:t>F1 hides missed hate and over-flagging identity mentions</a:t>
            </a:r>
          </a:p>
          <a:p>
            <a:pPr>
              <a:spcAft>
                <a:spcPts val="800"/>
              </a:spcAft>
              <a:defRPr sz="2000"/>
            </a:pPr>
            <a:r>
              <a:t>We audit models — not ship a product classifier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H1: Specialized encoder trades fairness for accuracy</a:t>
            </a:r>
          </a:p>
          <a:p>
            <a:pPr>
              <a:spcAft>
                <a:spcPts val="800"/>
              </a:spcAft>
              <a:defRPr sz="2000"/>
            </a:pPr>
            <a:r>
              <a:t>H2: Distilled / smaller models lose accuracy and amplify bias</a:t>
            </a:r>
          </a:p>
          <a:p>
            <a:pPr>
              <a:spcAft>
                <a:spcPts val="800"/>
              </a:spcAft>
              <a:defRPr sz="2000"/>
            </a:pPr>
            <a:r>
              <a:t>H3: Decoder prompting weaker / format-sensitive vs discriminative heads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Fair comparison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toxic-bert (109M) — in-domain encoder</a:t>
            </a:r>
          </a:p>
          <a:p>
            <a:pPr>
              <a:spcAft>
                <a:spcPts val="800"/>
              </a:spcAft>
              <a:defRPr sz="2000"/>
            </a:pPr>
            <a:r>
              <a:t>TF-IDF + LinearSVM — non-neural floor</a:t>
            </a:r>
          </a:p>
          <a:p>
            <a:pPr>
              <a:spcAft>
                <a:spcPts val="800"/>
              </a:spcAft>
              <a:defRPr sz="2000"/>
            </a:pPr>
            <a:r>
              <a:t>DistilGPT-2 D1/D2 — zero-shot decoder</a:t>
            </a:r>
          </a:p>
          <a:p>
            <a:pPr>
              <a:spcAft>
                <a:spcPts val="800"/>
              </a:spcAft>
              <a:defRPr sz="2000"/>
            </a:pPr>
            <a:r>
              <a:t>DistilBERT student — soft KD from toxic-bert (6 labels)</a:t>
            </a:r>
          </a:p>
          <a:p>
            <a:pPr>
              <a:spcAft>
                <a:spcPts val="800"/>
              </a:spcAft>
              <a:defRPr sz="2000"/>
            </a:pPr>
            <a:r>
              <a:t>Unified interface: predict_toxic_proba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Accuracy vs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SVM close to toxic-bert F1; better PR-AUC; much faster</a:t>
            </a:r>
          </a:p>
          <a:p>
            <a:pPr>
              <a:spcAft>
                <a:spcPts val="800"/>
              </a:spcAft>
              <a:defRPr sz="2000"/>
            </a:pPr>
            <a:r>
              <a:t>DistilGPT-2 near chance</a:t>
            </a:r>
          </a:p>
          <a:p>
            <a:pPr>
              <a:spcAft>
                <a:spcPts val="800"/>
              </a:spcAft>
              <a:defRPr sz="2000"/>
            </a:pPr>
            <a:r>
              <a:t>Toxicity detection is largely lexical</a:t>
            </a:r>
          </a:p>
        </p:txBody>
      </p:sp>
      <p:pic>
        <p:nvPicPr>
          <p:cNvPr id="4" name="Picture 3" descr="model_comparison_bar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015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Fairness: identity FPR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Control FPR = 0 for classifiers</a:t>
            </a:r>
          </a:p>
          <a:p>
            <a:pPr>
              <a:spcAft>
                <a:spcPts val="800"/>
              </a:spcAft>
              <a:defRPr sz="2000"/>
            </a:pPr>
            <a:r>
              <a:t>toxic-bert FPR &gt; SVM (H1)</a:t>
            </a:r>
          </a:p>
          <a:p>
            <a:pPr>
              <a:spcAft>
                <a:spcPts val="800"/>
              </a:spcAft>
              <a:defRPr sz="2000"/>
            </a:pPr>
            <a:r>
              <a:t>Decoder control FPR ≈ 1.0</a:t>
            </a:r>
          </a:p>
        </p:txBody>
      </p:sp>
      <p:pic>
        <p:nvPicPr>
          <p:cNvPr id="4" name="Picture 3" descr="fairness_fp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760720" cy="7370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Robustness to 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Encoder hardest to evade</a:t>
            </a:r>
          </a:p>
          <a:p>
            <a:pPr>
              <a:spcAft>
                <a:spcPts val="800"/>
              </a:spcAft>
              <a:defRPr sz="2000"/>
            </a:pPr>
            <a:r>
              <a:t>SVM trivially evaded</a:t>
            </a:r>
          </a:p>
          <a:p>
            <a:pPr>
              <a:spcAft>
                <a:spcPts val="800"/>
              </a:spcAft>
              <a:defRPr sz="2000"/>
            </a:pPr>
            <a:r>
              <a:t>Encoder edge = robustness</a:t>
            </a:r>
          </a:p>
        </p:txBody>
      </p:sp>
      <p:pic>
        <p:nvPicPr>
          <p:cNvPr id="4" name="Picture 3" descr="robustness_eva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760720" cy="4149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Masking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Mask identity token → FPR → 0</a:t>
            </a:r>
          </a:p>
          <a:p>
            <a:pPr>
              <a:spcAft>
                <a:spcPts val="800"/>
              </a:spcAft>
              <a:defRPr sz="2000"/>
            </a:pPr>
            <a:r>
              <a:t>Lexical shortcut in encoder and SVM</a:t>
            </a:r>
          </a:p>
          <a:p>
            <a:pPr>
              <a:spcAft>
                <a:spcPts val="800"/>
              </a:spcAft>
              <a:defRPr sz="2000"/>
            </a:pPr>
            <a:r>
              <a:t>Train-time SVM masking hurts hate recall</a:t>
            </a:r>
          </a:p>
        </p:txBody>
      </p:sp>
      <p:pic>
        <p:nvPicPr>
          <p:cNvPr id="4" name="Picture 3" descr="masking_inferenc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534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Encoder vs 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Agreement ~0.19</a:t>
            </a:r>
          </a:p>
          <a:p>
            <a:pPr>
              <a:spcAft>
                <a:spcPts val="800"/>
              </a:spcAft>
              <a:defRPr sz="2000"/>
            </a:pPr>
            <a:r>
              <a:t>Decoder false positives dominate disagreements</a:t>
            </a:r>
          </a:p>
          <a:p>
            <a:pPr>
              <a:spcAft>
                <a:spcPts val="800"/>
              </a:spcAft>
              <a:defRPr sz="2000"/>
            </a:pPr>
            <a:r>
              <a:t>Discriminative ≫ generative prompting (H3)</a:t>
            </a:r>
          </a:p>
        </p:txBody>
      </p:sp>
      <p:pic>
        <p:nvPicPr>
          <p:cNvPr id="4" name="Picture 3" descr="enc_dec_gold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20892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Distillation (6-label soft KD)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Teacher toxic-bert → DistilBERT student (6 labels)</a:t>
            </a:r>
          </a:p>
          <a:p>
            <a:pPr>
              <a:spcAft>
                <a:spcPts val="800"/>
              </a:spcAft>
              <a:defRPr sz="2000"/>
            </a:pPr>
            <a:r>
              <a:t>Colab: notebooks/09_distillation_colab.ipynb</a:t>
            </a:r>
          </a:p>
          <a:p>
            <a:pPr>
              <a:spcAft>
                <a:spcPts val="800"/>
              </a:spcAft>
              <a:defRPr sz="2000"/>
            </a:pPr>
            <a:r>
              <a:t>Registry key: distilbert-student</a:t>
            </a:r>
          </a:p>
          <a:p>
            <a:pPr>
              <a:spcAft>
                <a:spcPts val="800"/>
              </a:spcAft>
              <a:defRPr sz="2000"/>
            </a:pPr>
            <a:r>
              <a:t>H2: measure accuracy–fairness–latency after train</a:t>
            </a:r>
          </a:p>
          <a:p>
            <a:pPr>
              <a:spcAft>
                <a:spcPts val="800"/>
              </a:spcAft>
              <a:defRPr sz="2000"/>
            </a:pPr>
            <a:r>
              <a:t>[Fill numbers after Colab]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Lexical floor is strong</a:t>
            </a:r>
          </a:p>
          <a:p>
            <a:pPr>
              <a:spcAft>
                <a:spcPts val="800"/>
              </a:spcAft>
              <a:defRPr sz="2000"/>
            </a:pPr>
            <a:r>
              <a:t>2. Encoder value = robustness</a:t>
            </a:r>
          </a:p>
          <a:p>
            <a:pPr>
              <a:spcAft>
                <a:spcPts val="800"/>
              </a:spcAft>
              <a:defRPr sz="2000"/>
            </a:pPr>
            <a:r>
              <a:t>3. Small LM prompting fails here</a:t>
            </a:r>
          </a:p>
          <a:p>
            <a:pPr>
              <a:spcAft>
                <a:spcPts val="800"/>
              </a:spcAft>
              <a:defRPr sz="2000"/>
            </a:pPr>
            <a:r>
              <a:t>4. Identity bias is data-driven</a:t>
            </a:r>
          </a:p>
          <a:p>
            <a:pPr>
              <a:spcAft>
                <a:spcPts val="800"/>
              </a:spcAft>
              <a:defRPr sz="2000"/>
            </a:pPr>
            <a:r>
              <a:t>5. Distillation tests compression vs fairness (H2)</a:t>
            </a:r>
          </a:p>
          <a:p>
            <a:pPr>
              <a:spcAft>
                <a:spcPts val="800"/>
              </a:spcAft>
              <a:defRPr sz="2000"/>
            </a:pPr>
            <a:r>
              <a:t>Ethics: human review for identity flags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